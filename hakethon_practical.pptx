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32"/>
  </p:notesMasterIdLst>
  <p:sldIdLst>
    <p:sldId id="343" r:id="rId5"/>
    <p:sldId id="351" r:id="rId6"/>
    <p:sldId id="333" r:id="rId7"/>
    <p:sldId id="332" r:id="rId8"/>
    <p:sldId id="331" r:id="rId9"/>
    <p:sldId id="336" r:id="rId10"/>
    <p:sldId id="330" r:id="rId11"/>
    <p:sldId id="334" r:id="rId12"/>
    <p:sldId id="335" r:id="rId13"/>
    <p:sldId id="337" r:id="rId14"/>
    <p:sldId id="352" r:id="rId15"/>
    <p:sldId id="312" r:id="rId16"/>
    <p:sldId id="329" r:id="rId17"/>
    <p:sldId id="338" r:id="rId18"/>
    <p:sldId id="339" r:id="rId19"/>
    <p:sldId id="342" r:id="rId20"/>
    <p:sldId id="346" r:id="rId21"/>
    <p:sldId id="344" r:id="rId22"/>
    <p:sldId id="345" r:id="rId23"/>
    <p:sldId id="355" r:id="rId24"/>
    <p:sldId id="353" r:id="rId25"/>
    <p:sldId id="354" r:id="rId26"/>
    <p:sldId id="347" r:id="rId27"/>
    <p:sldId id="348" r:id="rId28"/>
    <p:sldId id="349" r:id="rId29"/>
    <p:sldId id="316" r:id="rId30"/>
    <p:sldId id="35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2A1D"/>
    <a:srgbClr val="F2EBE9"/>
    <a:srgbClr val="8C7462"/>
    <a:srgbClr val="8E6248"/>
    <a:srgbClr val="763F02"/>
    <a:srgbClr val="720017"/>
    <a:srgbClr val="24150E"/>
    <a:srgbClr val="D9AC2A"/>
    <a:srgbClr val="D8D583"/>
    <a:srgbClr val="27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4F877E-C847-4092-BC0B-53DB2AAC7181}" type="datetimeFigureOut">
              <a:rPr lang="en-GB" smtClean="0"/>
              <a:t>28/02/2022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114A66-1174-48AB-8E65-85D78C231D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8598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06EBA-C6E7-4D9F-B401-9E682FD43138}" type="datetime1">
              <a:rPr lang="en-US" smtClean="0"/>
              <a:t>2/28/2022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28D9F-6B71-4DD1-9273-F2CB0C444F9B}" type="datetime1">
              <a:rPr lang="en-US" smtClean="0"/>
              <a:t>2/28/2022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15B0-7490-4D2C-8A74-37B7E4F4CCBF}" type="datetime1">
              <a:rPr lang="en-US" smtClean="0"/>
              <a:t>2/28/2022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22A9-09AA-4AEC-A764-612955D63D11}" type="datetime1">
              <a:rPr lang="en-US" smtClean="0"/>
              <a:t>2/28/2022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5566-D4CD-4FB2-AA0C-B56A26515B91}" type="datetime1">
              <a:rPr lang="en-US" smtClean="0"/>
              <a:t>2/28/2022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EFDD4-2E60-49BE-9719-2977E026C83E}" type="datetime1">
              <a:rPr lang="en-US" smtClean="0"/>
              <a:t>2/28/2022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291F8-270E-4C87-A952-820CE71706EE}" type="datetime1">
              <a:rPr lang="en-US" smtClean="0"/>
              <a:t>2/28/2022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F8755429-C609-4753-A997-FCA8921C3181}" type="datetime1">
              <a:rPr lang="en-US" smtClean="0"/>
              <a:t>2/28/2022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5CF9F22-1D62-4315-8363-D55E352D89EE}" type="datetime1">
              <a:rPr lang="en-US" smtClean="0"/>
              <a:t>2/28/2022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03C1B9A9-63C2-4730-A133-42921F623400}" type="datetime1">
              <a:rPr lang="en-US" smtClean="0"/>
              <a:t>2/28/2022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8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0" name="Straight Connector 20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Hot chocolate in a cafe facing window">
            <a:extLst>
              <a:ext uri="{FF2B5EF4-FFF2-40B4-BE49-F238E27FC236}">
                <a16:creationId xmlns:a16="http://schemas.microsoft.com/office/drawing/2014/main" id="{BDEBBFF6-F505-4EC4-8677-ABB89E4370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31" name="Rectangle 22">
            <a:extLst>
              <a:ext uri="{FF2B5EF4-FFF2-40B4-BE49-F238E27FC236}">
                <a16:creationId xmlns:a16="http://schemas.microsoft.com/office/drawing/2014/main" id="{A37E0400-E9ED-46D6-A946-A7B49DB41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>
                  <a:alpha val="35000"/>
                </a:schemeClr>
              </a:gs>
              <a:gs pos="33000">
                <a:schemeClr val="tx1">
                  <a:alpha val="2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4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56638D-BAFE-46A6-847F-7FAF7A9DEA24}"/>
              </a:ext>
            </a:extLst>
          </p:cNvPr>
          <p:cNvSpPr txBox="1"/>
          <p:nvPr/>
        </p:nvSpPr>
        <p:spPr>
          <a:xfrm>
            <a:off x="735791" y="3331444"/>
            <a:ext cx="6470692" cy="12293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spc="-5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Welcome</a:t>
            </a:r>
            <a:endParaRPr lang="en-US" sz="5400" spc="-5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32" name="Straight Connector 24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2429" y="4641183"/>
            <a:ext cx="6309360" cy="0"/>
          </a:xfrm>
          <a:prstGeom prst="line">
            <a:avLst/>
          </a:prstGeom>
          <a:ln w="19050">
            <a:solidFill>
              <a:schemeClr val="bg1">
                <a:alpha val="9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4755F2-B15A-4F88-8233-F17B6011D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8815" y="6446837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301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AB6E427-3F73-4C06-A5D5-AE52C388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C9BDAA-0390-4B39-9B5C-BC95E512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9919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04A321A-A039-4720-87B4-66A4210E0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1752" y="2638787"/>
            <a:ext cx="27432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DE88120-0A34-443B-B734-6C63B9333DB3}"/>
              </a:ext>
            </a:extLst>
          </p:cNvPr>
          <p:cNvSpPr txBox="1"/>
          <p:nvPr/>
        </p:nvSpPr>
        <p:spPr>
          <a:xfrm>
            <a:off x="571752" y="2799654"/>
            <a:ext cx="3005462" cy="318966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>
              <a:spcAft>
                <a:spcPts val="600"/>
              </a:spcAft>
              <a:buFont typeface="Calibri" panose="020F0502020204030204" pitchFamily="34" charset="0"/>
            </a:pPr>
            <a:r>
              <a:rPr lang="en-US" spc="-50" dirty="0">
                <a:solidFill>
                  <a:srgbClr val="FFFFFF"/>
                </a:solidFill>
              </a:rPr>
              <a:t>List of Content </a:t>
            </a:r>
          </a:p>
        </p:txBody>
      </p:sp>
      <p:pic>
        <p:nvPicPr>
          <p:cNvPr id="7" name="Graphic 6" descr="List">
            <a:extLst>
              <a:ext uri="{FF2B5EF4-FFF2-40B4-BE49-F238E27FC236}">
                <a16:creationId xmlns:a16="http://schemas.microsoft.com/office/drawing/2014/main" id="{E84F91A9-8424-407D-A112-B94295E363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2138" y="640080"/>
            <a:ext cx="5577840" cy="5577840"/>
          </a:xfrm>
          <a:prstGeom prst="rect">
            <a:avLst/>
          </a:prstGeom>
        </p:spPr>
      </p:pic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525D5F68-F88C-4C50-83EF-E4AF0F413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703053"/>
              </p:ext>
            </p:extLst>
          </p:nvPr>
        </p:nvGraphicFramePr>
        <p:xfrm>
          <a:off x="6096000" y="630295"/>
          <a:ext cx="4277360" cy="4319393"/>
        </p:xfrm>
        <a:graphic>
          <a:graphicData uri="http://schemas.openxmlformats.org/drawingml/2006/table">
            <a:tbl>
              <a:tblPr bandRow="1"/>
              <a:tblGrid>
                <a:gridCol w="4277360">
                  <a:extLst>
                    <a:ext uri="{9D8B030D-6E8A-4147-A177-3AD203B41FA5}">
                      <a16:colId xmlns:a16="http://schemas.microsoft.com/office/drawing/2014/main" val="3962662445"/>
                    </a:ext>
                  </a:extLst>
                </a:gridCol>
              </a:tblGrid>
              <a:tr h="5246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Python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Basics </a:t>
                      </a:r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2A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8457994"/>
                  </a:ext>
                </a:extLst>
              </a:tr>
              <a:tr h="5246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Working with Data</a:t>
                      </a:r>
                      <a:endParaRPr lang="en-GB" sz="180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3F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833163"/>
                  </a:ext>
                </a:extLst>
              </a:tr>
              <a:tr h="5246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Practice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6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191882"/>
                  </a:ext>
                </a:extLst>
              </a:tr>
              <a:tr h="5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Basic </a:t>
                      </a:r>
                      <a:r>
                        <a:rPr lang="en-US" sz="1800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Template for NLP 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Classification</a:t>
                      </a:r>
                      <a:endParaRPr lang="en-GB" sz="180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74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48663"/>
                  </a:ext>
                </a:extLst>
              </a:tr>
              <a:tr h="5159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Regular Expression</a:t>
                      </a:r>
                      <a:endParaRPr lang="en-GB" sz="18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668706"/>
                  </a:ext>
                </a:extLst>
              </a:tr>
              <a:tr h="5246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Natural Language Processing (NLP)</a:t>
                      </a:r>
                      <a:endParaRPr lang="en-GB" sz="180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2A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57266"/>
                  </a:ext>
                </a:extLst>
              </a:tr>
              <a:tr h="6011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Cross Validation</a:t>
                      </a:r>
                      <a:endParaRPr lang="en-GB" sz="180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3F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235833"/>
                  </a:ext>
                </a:extLst>
              </a:tr>
              <a:tr h="5246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Classification Project </a:t>
                      </a:r>
                      <a:endParaRPr lang="en-GB" sz="180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6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551717"/>
                  </a:ext>
                </a:extLst>
              </a:tr>
            </a:tbl>
          </a:graphicData>
        </a:graphic>
      </p:graphicFrame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40C946FF-F8E1-4EB7-BC09-39AC523DC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713674"/>
              </p:ext>
            </p:extLst>
          </p:nvPr>
        </p:nvGraphicFramePr>
        <p:xfrm>
          <a:off x="6096000" y="4957685"/>
          <a:ext cx="4277360" cy="189386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77360">
                  <a:extLst>
                    <a:ext uri="{9D8B030D-6E8A-4147-A177-3AD203B41FA5}">
                      <a16:colId xmlns:a16="http://schemas.microsoft.com/office/drawing/2014/main" val="3767398121"/>
                    </a:ext>
                  </a:extLst>
                </a:gridCol>
              </a:tblGrid>
              <a:tr h="417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Basics Template for Classification and Regression</a:t>
                      </a:r>
                      <a:endParaRPr lang="en-GB" sz="180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74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925162"/>
                  </a:ext>
                </a:extLst>
              </a:tr>
              <a:tr h="417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Taking Care Of Missing Data</a:t>
                      </a:r>
                      <a:endParaRPr lang="en-GB" sz="18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497086"/>
                  </a:ext>
                </a:extLst>
              </a:tr>
              <a:tr h="417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Categorical Data</a:t>
                      </a:r>
                      <a:endParaRPr lang="en-GB" sz="180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2A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71789"/>
                  </a:ext>
                </a:extLst>
              </a:tr>
              <a:tr h="417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Regression Project</a:t>
                      </a:r>
                      <a:endParaRPr lang="en-GB" sz="180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3F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51844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7D121D-F884-4D24-9772-905298B70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6305" y="6457364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z="1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643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EF7FDF-3902-48DA-BA5C-8AFDC1B3755A}"/>
              </a:ext>
            </a:extLst>
          </p:cNvPr>
          <p:cNvSpPr txBox="1"/>
          <p:nvPr/>
        </p:nvSpPr>
        <p:spPr>
          <a:xfrm>
            <a:off x="1227582" y="253699"/>
            <a:ext cx="6094476" cy="109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Python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Basics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Data Types</a:t>
            </a:r>
            <a:endParaRPr lang="en-GB" sz="2000" spc="-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6DBA411-7978-4E21-9E50-7168771562AF}"/>
              </a:ext>
            </a:extLst>
          </p:cNvPr>
          <p:cNvSpPr/>
          <p:nvPr/>
        </p:nvSpPr>
        <p:spPr>
          <a:xfrm>
            <a:off x="934974" y="1700784"/>
            <a:ext cx="5932170" cy="3456432"/>
          </a:xfrm>
          <a:prstGeom prst="roundRect">
            <a:avLst/>
          </a:prstGeom>
          <a:solidFill>
            <a:srgbClr val="F2EBE9">
              <a:alpha val="50000"/>
            </a:srgbClr>
          </a:solidFill>
          <a:ln w="28575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Boolean Type: bool.</a:t>
            </a:r>
          </a:p>
          <a:p>
            <a:pPr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 Types: set.</a:t>
            </a:r>
          </a:p>
          <a:p>
            <a:pPr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Mapping Type: dict.</a:t>
            </a:r>
          </a:p>
          <a:p>
            <a:pPr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Sequence Types: range, tuple, list.</a:t>
            </a:r>
          </a:p>
          <a:p>
            <a:pPr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Numeric Types: float, int.</a:t>
            </a:r>
          </a:p>
          <a:p>
            <a:pPr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Type: str.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92DA82-4226-4300-ACD7-BB16B9E2ED6F}"/>
              </a:ext>
            </a:extLst>
          </p:cNvPr>
          <p:cNvSpPr/>
          <p:nvPr/>
        </p:nvSpPr>
        <p:spPr>
          <a:xfrm>
            <a:off x="8464866" y="1901678"/>
            <a:ext cx="1722268" cy="58592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252000" bIns="0" rtlCol="0" anchor="ctr" anchorCtr="0"/>
          <a:lstStyle/>
          <a:p>
            <a:pPr algn="ctr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Boolean Type</a:t>
            </a:r>
            <a:endParaRPr lang="en-GB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ctr"/>
            <a:endParaRPr lang="en-GB" dirty="0">
              <a:solidFill>
                <a:srgbClr val="DCDCAA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97160E7D-4F6B-4515-A891-5594D800755D}"/>
              </a:ext>
            </a:extLst>
          </p:cNvPr>
          <p:cNvSpPr/>
          <p:nvPr/>
        </p:nvSpPr>
        <p:spPr>
          <a:xfrm>
            <a:off x="9158007" y="2490007"/>
            <a:ext cx="377072" cy="393569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659D79-5F5D-4025-ABB2-9F1D548EA285}"/>
              </a:ext>
            </a:extLst>
          </p:cNvPr>
          <p:cNvSpPr/>
          <p:nvPr/>
        </p:nvSpPr>
        <p:spPr>
          <a:xfrm>
            <a:off x="7979770" y="2881173"/>
            <a:ext cx="2723158" cy="11867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14400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bool =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True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bool =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False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bool =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bool =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0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endParaRPr lang="en-GB" sz="1500" b="1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194F0D-A340-45EF-AA8F-3D9A1C5B61F5}"/>
              </a:ext>
            </a:extLst>
          </p:cNvPr>
          <p:cNvSpPr/>
          <p:nvPr/>
        </p:nvSpPr>
        <p:spPr>
          <a:xfrm>
            <a:off x="8464866" y="1901678"/>
            <a:ext cx="1722268" cy="58592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252000" bIns="0" rtlCol="0" anchor="ctr" anchorCtr="0"/>
          <a:lstStyle/>
          <a:p>
            <a:pPr algn="ctr"/>
            <a:r>
              <a:rPr lang="en-GB" dirty="0">
                <a:solidFill>
                  <a:schemeClr val="bg1"/>
                </a:solidFill>
                <a:latin typeface="Consolas" panose="020B0609020204030204" pitchFamily="49" charset="0"/>
              </a:rPr>
              <a:t>Set</a:t>
            </a:r>
            <a:endParaRPr lang="en-GB" dirty="0">
              <a:solidFill>
                <a:schemeClr val="bg1"/>
              </a:solidFill>
            </a:endParaRPr>
          </a:p>
          <a:p>
            <a:pPr algn="ctr"/>
            <a:endParaRPr lang="en-GB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CC322353-11F3-4457-9BBF-3C8B017D5E9F}"/>
              </a:ext>
            </a:extLst>
          </p:cNvPr>
          <p:cNvSpPr/>
          <p:nvPr/>
        </p:nvSpPr>
        <p:spPr>
          <a:xfrm>
            <a:off x="9158007" y="2490007"/>
            <a:ext cx="377072" cy="393569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EB6181-7964-42DC-9DBD-F65C750812C8}"/>
              </a:ext>
            </a:extLst>
          </p:cNvPr>
          <p:cNvSpPr/>
          <p:nvPr/>
        </p:nvSpPr>
        <p:spPr>
          <a:xfrm>
            <a:off x="7107874" y="2878770"/>
            <a:ext cx="4466949" cy="92382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my_set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= {'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apple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banana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orange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'}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6D12CC-AF29-475D-A0A5-76F744B7C343}"/>
              </a:ext>
            </a:extLst>
          </p:cNvPr>
          <p:cNvSpPr/>
          <p:nvPr/>
        </p:nvSpPr>
        <p:spPr>
          <a:xfrm>
            <a:off x="3333284" y="4633342"/>
            <a:ext cx="2529280" cy="104774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==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True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80D96B-2B8A-4A86-B3D5-8AD3E12BD851}"/>
              </a:ext>
            </a:extLst>
          </p:cNvPr>
          <p:cNvSpPr/>
          <p:nvPr/>
        </p:nvSpPr>
        <p:spPr>
          <a:xfrm>
            <a:off x="6104794" y="4633342"/>
            <a:ext cx="2529280" cy="15022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a =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b = '</a:t>
            </a:r>
            <a:r>
              <a:rPr lang="en-GB" sz="1500" dirty="0">
                <a:solidFill>
                  <a:srgbClr val="889B4A"/>
                </a:solidFill>
                <a:latin typeface="Consolas" panose="020B0609020204030204" pitchFamily="49" charset="0"/>
              </a:rPr>
              <a:t>1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</a:p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Print(a == b)</a:t>
            </a:r>
          </a:p>
          <a:p>
            <a:b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False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949FAB-537B-42B9-A568-BAC10C00F087}"/>
              </a:ext>
            </a:extLst>
          </p:cNvPr>
          <p:cNvSpPr/>
          <p:nvPr/>
        </p:nvSpPr>
        <p:spPr>
          <a:xfrm>
            <a:off x="8990922" y="4633342"/>
            <a:ext cx="2713145" cy="165773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a =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b =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98676A"/>
                </a:solidFill>
                <a:latin typeface="Consolas" panose="020B0609020204030204" pitchFamily="49" charset="0"/>
              </a:rPr>
              <a:t>if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a == b: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   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Equal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')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Equal</a:t>
            </a:r>
          </a:p>
          <a:p>
            <a:endParaRPr lang="en-GB" sz="15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41B6E1-A52E-4CCD-9154-DE26913257B5}"/>
              </a:ext>
            </a:extLst>
          </p:cNvPr>
          <p:cNvSpPr/>
          <p:nvPr/>
        </p:nvSpPr>
        <p:spPr>
          <a:xfrm>
            <a:off x="8458383" y="1901678"/>
            <a:ext cx="1722268" cy="58592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252000" bIns="0" rtlCol="0" anchor="ctr" anchorCtr="0"/>
          <a:lstStyle/>
          <a:p>
            <a:pPr algn="ctr"/>
            <a:r>
              <a:rPr lang="en-GB" dirty="0">
                <a:solidFill>
                  <a:schemeClr val="bg1"/>
                </a:solidFill>
                <a:latin typeface="Consolas" panose="020B0609020204030204" pitchFamily="49" charset="0"/>
              </a:rPr>
              <a:t>Dictionary</a:t>
            </a:r>
            <a:endParaRPr lang="en-GB" dirty="0">
              <a:solidFill>
                <a:schemeClr val="bg1"/>
              </a:solidFill>
            </a:endParaRPr>
          </a:p>
          <a:p>
            <a:pPr algn="ctr"/>
            <a:endParaRPr lang="en-GB" dirty="0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513A23F2-E561-40E6-B00F-7A67A1ADA233}"/>
              </a:ext>
            </a:extLst>
          </p:cNvPr>
          <p:cNvSpPr/>
          <p:nvPr/>
        </p:nvSpPr>
        <p:spPr>
          <a:xfrm>
            <a:off x="9151524" y="2490007"/>
            <a:ext cx="377072" cy="393569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6A6949-89C7-4008-BB7C-949449AB354C}"/>
              </a:ext>
            </a:extLst>
          </p:cNvPr>
          <p:cNvSpPr/>
          <p:nvPr/>
        </p:nvSpPr>
        <p:spPr>
          <a:xfrm>
            <a:off x="6593155" y="2893592"/>
            <a:ext cx="5452724" cy="92382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my_dict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= {'</a:t>
            </a:r>
            <a:r>
              <a:rPr lang="en-GB" sz="1500" dirty="0" err="1">
                <a:solidFill>
                  <a:srgbClr val="889B4A"/>
                </a:solidFill>
                <a:latin typeface="Consolas" panose="020B0609020204030204" pitchFamily="49" charset="0"/>
              </a:rPr>
              <a:t>food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':'</a:t>
            </a:r>
            <a:r>
              <a:rPr lang="en-GB" sz="1500" dirty="0" err="1">
                <a:solidFill>
                  <a:srgbClr val="889B4A"/>
                </a:solidFill>
                <a:latin typeface="Consolas" panose="020B0609020204030204" pitchFamily="49" charset="0"/>
              </a:rPr>
              <a:t>Pizza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GB" sz="1500" dirty="0">
                <a:solidFill>
                  <a:srgbClr val="889B4A"/>
                </a:solidFill>
                <a:latin typeface="Consolas" panose="020B0609020204030204" pitchFamily="49" charset="0"/>
              </a:rPr>
              <a:t>drink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': '</a:t>
            </a:r>
            <a:r>
              <a:rPr lang="en-GB" sz="1500" dirty="0">
                <a:solidFill>
                  <a:srgbClr val="889B4A"/>
                </a:solidFill>
                <a:latin typeface="Consolas" panose="020B0609020204030204" pitchFamily="49" charset="0"/>
              </a:rPr>
              <a:t>diet coke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GB" sz="1500" dirty="0">
                <a:solidFill>
                  <a:srgbClr val="889B4A"/>
                </a:solidFill>
                <a:latin typeface="Consolas" panose="020B0609020204030204" pitchFamily="49" charset="0"/>
              </a:rPr>
              <a:t>price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':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12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589DA4-7F92-4193-85F4-F403486A50EA}"/>
              </a:ext>
            </a:extLst>
          </p:cNvPr>
          <p:cNvSpPr/>
          <p:nvPr/>
        </p:nvSpPr>
        <p:spPr>
          <a:xfrm>
            <a:off x="8464866" y="1916314"/>
            <a:ext cx="1722268" cy="58592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252000" bIns="0" rtlCol="0" anchor="ctr" anchorCtr="0"/>
          <a:lstStyle/>
          <a:p>
            <a:pPr algn="ctr"/>
            <a:r>
              <a:rPr lang="en-GB" dirty="0">
                <a:solidFill>
                  <a:schemeClr val="bg1"/>
                </a:solidFill>
                <a:latin typeface="Consolas" panose="020B0609020204030204" pitchFamily="49" charset="0"/>
              </a:rPr>
              <a:t>Tuple</a:t>
            </a:r>
            <a:endParaRPr lang="en-GB" dirty="0">
              <a:solidFill>
                <a:schemeClr val="bg1"/>
              </a:solidFill>
            </a:endParaRPr>
          </a:p>
          <a:p>
            <a:pPr algn="ctr"/>
            <a:endParaRPr lang="en-GB" dirty="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3CA8A7C3-D90B-4AF0-8238-C401DA89858A}"/>
              </a:ext>
            </a:extLst>
          </p:cNvPr>
          <p:cNvSpPr/>
          <p:nvPr/>
        </p:nvSpPr>
        <p:spPr>
          <a:xfrm>
            <a:off x="9137464" y="2502240"/>
            <a:ext cx="377072" cy="393569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1A4B58-5EC5-484D-9565-45B9585AD8A2}"/>
              </a:ext>
            </a:extLst>
          </p:cNvPr>
          <p:cNvSpPr/>
          <p:nvPr/>
        </p:nvSpPr>
        <p:spPr>
          <a:xfrm>
            <a:off x="7017304" y="2904476"/>
            <a:ext cx="4617392" cy="92382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my_tuple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= ('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apple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banana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orange’, 18, 19.5)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117130A-2D37-4B8F-A348-516D8B674304}"/>
              </a:ext>
            </a:extLst>
          </p:cNvPr>
          <p:cNvSpPr/>
          <p:nvPr/>
        </p:nvSpPr>
        <p:spPr>
          <a:xfrm>
            <a:off x="8464866" y="1916241"/>
            <a:ext cx="1722268" cy="58592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252000" bIns="0" rtlCol="0" anchor="ctr" anchorCtr="0"/>
          <a:lstStyle/>
          <a:p>
            <a:pPr algn="ctr"/>
            <a:r>
              <a:rPr lang="en-GB" dirty="0">
                <a:solidFill>
                  <a:schemeClr val="bg1"/>
                </a:solidFill>
                <a:latin typeface="Consolas" panose="020B0609020204030204" pitchFamily="49" charset="0"/>
              </a:rPr>
              <a:t>List</a:t>
            </a:r>
            <a:endParaRPr lang="en-GB" dirty="0">
              <a:solidFill>
                <a:schemeClr val="bg1"/>
              </a:solidFill>
            </a:endParaRPr>
          </a:p>
          <a:p>
            <a:pPr algn="ctr"/>
            <a:endParaRPr lang="en-GB" dirty="0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270C0EA7-B862-4B18-9F46-DE9E6E0E8403}"/>
              </a:ext>
            </a:extLst>
          </p:cNvPr>
          <p:cNvSpPr/>
          <p:nvPr/>
        </p:nvSpPr>
        <p:spPr>
          <a:xfrm>
            <a:off x="9077188" y="2514237"/>
            <a:ext cx="377072" cy="393569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63AE03-4BD4-41BC-A7DA-DF7A7A62B0AA}"/>
              </a:ext>
            </a:extLst>
          </p:cNvPr>
          <p:cNvSpPr/>
          <p:nvPr/>
        </p:nvSpPr>
        <p:spPr>
          <a:xfrm>
            <a:off x="7064182" y="2916473"/>
            <a:ext cx="4403084" cy="92382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my_list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= ['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apple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banana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orange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CA8DC42-72DE-45F8-ABFF-03669F687243}"/>
              </a:ext>
            </a:extLst>
          </p:cNvPr>
          <p:cNvSpPr/>
          <p:nvPr/>
        </p:nvSpPr>
        <p:spPr>
          <a:xfrm>
            <a:off x="8450137" y="1916241"/>
            <a:ext cx="1722268" cy="58592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252000" bIns="0" rtlCol="0" anchor="ctr" anchorCtr="0"/>
          <a:lstStyle/>
          <a:p>
            <a:pPr algn="ctr"/>
            <a:r>
              <a:rPr lang="en-GB" dirty="0">
                <a:solidFill>
                  <a:schemeClr val="bg1"/>
                </a:solidFill>
                <a:latin typeface="Consolas" panose="020B0609020204030204" pitchFamily="49" charset="0"/>
              </a:rPr>
              <a:t>Float and int</a:t>
            </a:r>
            <a:endParaRPr lang="en-GB" dirty="0">
              <a:solidFill>
                <a:schemeClr val="bg1"/>
              </a:solidFill>
            </a:endParaRPr>
          </a:p>
          <a:p>
            <a:pPr algn="ctr"/>
            <a:endParaRPr lang="en-GB" dirty="0"/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F8087037-ACC6-44B6-8E64-B1F432B4F45A}"/>
              </a:ext>
            </a:extLst>
          </p:cNvPr>
          <p:cNvSpPr/>
          <p:nvPr/>
        </p:nvSpPr>
        <p:spPr>
          <a:xfrm>
            <a:off x="9096295" y="2502167"/>
            <a:ext cx="377072" cy="393569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B8F464-C0CB-48C2-A2B4-246949910737}"/>
              </a:ext>
            </a:extLst>
          </p:cNvPr>
          <p:cNvSpPr/>
          <p:nvPr/>
        </p:nvSpPr>
        <p:spPr>
          <a:xfrm>
            <a:off x="7811424" y="2871137"/>
            <a:ext cx="2994621" cy="7901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float_number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18.65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int_number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5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E84347-6418-4938-B7B2-3F5CF2F64C24}"/>
              </a:ext>
            </a:extLst>
          </p:cNvPr>
          <p:cNvSpPr/>
          <p:nvPr/>
        </p:nvSpPr>
        <p:spPr>
          <a:xfrm>
            <a:off x="8471349" y="1896660"/>
            <a:ext cx="1722268" cy="58592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252000" bIns="0" rtlCol="0" anchor="ctr" anchorCtr="0"/>
          <a:lstStyle/>
          <a:p>
            <a:pPr algn="ctr"/>
            <a:r>
              <a:rPr lang="en-GB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endParaRPr lang="en-GB" dirty="0">
              <a:solidFill>
                <a:schemeClr val="bg1"/>
              </a:solidFill>
            </a:endParaRPr>
          </a:p>
          <a:p>
            <a:pPr algn="ctr"/>
            <a:endParaRPr lang="en-GB" dirty="0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D433F68C-4646-45C3-B7ED-F7457F251C99}"/>
              </a:ext>
            </a:extLst>
          </p:cNvPr>
          <p:cNvSpPr/>
          <p:nvPr/>
        </p:nvSpPr>
        <p:spPr>
          <a:xfrm>
            <a:off x="9117507" y="2482586"/>
            <a:ext cx="377072" cy="393569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822D3C2-C8B3-486B-A160-5CCC922F19C9}"/>
              </a:ext>
            </a:extLst>
          </p:cNvPr>
          <p:cNvSpPr/>
          <p:nvPr/>
        </p:nvSpPr>
        <p:spPr>
          <a:xfrm>
            <a:off x="7484642" y="2895499"/>
            <a:ext cx="3648183" cy="6283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my_string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=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I love coding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6E8F69-DE40-47BC-9E9F-CCEB547E4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76" y="6411327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513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0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4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6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0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1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4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BAD1BE2-CE4F-4598-948F-C1893DF7CCB6}"/>
              </a:ext>
            </a:extLst>
          </p:cNvPr>
          <p:cNvSpPr txBox="1">
            <a:spLocks/>
          </p:cNvSpPr>
          <p:nvPr/>
        </p:nvSpPr>
        <p:spPr>
          <a:xfrm>
            <a:off x="1097280" y="286604"/>
            <a:ext cx="9986356" cy="1052670"/>
          </a:xfrm>
          <a:prstGeom prst="rect">
            <a:avLst/>
          </a:prstGeom>
        </p:spPr>
        <p:txBody>
          <a:bodyPr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800" dirty="0">
                <a:latin typeface="Arial" panose="020B0604020202020204" pitchFamily="34" charset="0"/>
                <a:cs typeface="Arial" panose="020B0604020202020204" pitchFamily="34" charset="0"/>
              </a:rPr>
              <a:t>Python Basics</a:t>
            </a:r>
            <a:b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Print</a:t>
            </a:r>
            <a:endParaRPr lang="en-GB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C5A426-3446-4D14-9842-9796AEA97719}"/>
              </a:ext>
            </a:extLst>
          </p:cNvPr>
          <p:cNvSpPr txBox="1"/>
          <p:nvPr/>
        </p:nvSpPr>
        <p:spPr>
          <a:xfrm>
            <a:off x="1097280" y="1339274"/>
            <a:ext cx="4526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Python has a built-in help system: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B31CB9-A551-426F-A8DB-53D1DFBFD28D}"/>
              </a:ext>
            </a:extLst>
          </p:cNvPr>
          <p:cNvSpPr/>
          <p:nvPr/>
        </p:nvSpPr>
        <p:spPr>
          <a:xfrm>
            <a:off x="1218378" y="1806018"/>
            <a:ext cx="2695253" cy="58592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25200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help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pPr algn="ctr"/>
            <a:endParaRPr lang="en-GB" sz="15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3EB860-23AF-4B39-B5E8-5DAF8543B14E}"/>
              </a:ext>
            </a:extLst>
          </p:cNvPr>
          <p:cNvSpPr/>
          <p:nvPr/>
        </p:nvSpPr>
        <p:spPr>
          <a:xfrm>
            <a:off x="4561536" y="1806018"/>
            <a:ext cx="6522100" cy="401430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18000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Help on built-in function print in module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builtins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:</a:t>
            </a:r>
          </a:p>
          <a:p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print(...)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   print(value, ...,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sep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=' ', end='\n', file=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sys.stdout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flush=False)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   Prints the values to a stream, or to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sys.stdout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by default.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   Optional keyword arguments: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   file:  a file-like object (stream); defaults to the current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sys.stdout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.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sep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:   string inserted between values, default a space.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   end:   string appended after the last value, default a newline.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   flush: whether to forcibly flush the stream.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D62417-7BFF-4392-8468-7FF46DB908CB}"/>
              </a:ext>
            </a:extLst>
          </p:cNvPr>
          <p:cNvSpPr/>
          <p:nvPr/>
        </p:nvSpPr>
        <p:spPr>
          <a:xfrm>
            <a:off x="1218378" y="1775815"/>
            <a:ext cx="3169813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25200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Firstname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= '</a:t>
            </a:r>
            <a:r>
              <a:rPr lang="en-GB" sz="1500" dirty="0">
                <a:solidFill>
                  <a:srgbClr val="889B4A"/>
                </a:solidFill>
                <a:latin typeface="Consolas" panose="020B0609020204030204" pitchFamily="49" charset="0"/>
              </a:rPr>
              <a:t>Rob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' </a:t>
            </a:r>
          </a:p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lastname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= '</a:t>
            </a:r>
            <a:r>
              <a:rPr lang="en-GB" sz="1500" dirty="0">
                <a:solidFill>
                  <a:srgbClr val="889B4A"/>
                </a:solidFill>
                <a:latin typeface="Consolas" panose="020B0609020204030204" pitchFamily="49" charset="0"/>
              </a:rPr>
              <a:t>Green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</a:p>
          <a:p>
            <a:pPr algn="ctr"/>
            <a:endParaRPr lang="en-GB" sz="15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BB141D-1DD5-48C0-A7FB-D4BDF97C5FB8}"/>
              </a:ext>
            </a:extLst>
          </p:cNvPr>
          <p:cNvSpPr/>
          <p:nvPr/>
        </p:nvSpPr>
        <p:spPr>
          <a:xfrm>
            <a:off x="5260910" y="1769996"/>
            <a:ext cx="4373774" cy="72049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firstname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,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lastname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Rob Green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9AC774-3055-404D-AD6E-24A2802DB23F}"/>
              </a:ext>
            </a:extLst>
          </p:cNvPr>
          <p:cNvSpPr/>
          <p:nvPr/>
        </p:nvSpPr>
        <p:spPr>
          <a:xfrm>
            <a:off x="5260910" y="2813517"/>
            <a:ext cx="4373774" cy="79697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firstname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+ 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lastname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RobGreen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348A42-BBE4-4757-BCD9-6CEC540C715D}"/>
              </a:ext>
            </a:extLst>
          </p:cNvPr>
          <p:cNvSpPr/>
          <p:nvPr/>
        </p:nvSpPr>
        <p:spPr>
          <a:xfrm>
            <a:off x="4042848" y="3872669"/>
            <a:ext cx="7228292" cy="8427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('</a:t>
            </a:r>
            <a:r>
              <a:rPr lang="en-US" sz="1500" dirty="0" err="1">
                <a:solidFill>
                  <a:srgbClr val="889B4A"/>
                </a:solidFill>
                <a:latin typeface="Consolas" panose="020B0609020204030204" pitchFamily="49" charset="0"/>
              </a:rPr>
              <a:t>Fullname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 is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{}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'.format(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firstname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+'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'+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lastname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)) 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Rob Green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173E1D-4557-4037-9472-552799B2584A}"/>
              </a:ext>
            </a:extLst>
          </p:cNvPr>
          <p:cNvSpPr/>
          <p:nvPr/>
        </p:nvSpPr>
        <p:spPr>
          <a:xfrm>
            <a:off x="1218378" y="1806018"/>
            <a:ext cx="3169813" cy="58592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25200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num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=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19.8564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pPr algn="ctr"/>
            <a:endParaRPr lang="en-GB" sz="15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8C8090-1B21-4121-A982-4236DFE5C096}"/>
              </a:ext>
            </a:extLst>
          </p:cNvPr>
          <p:cNvSpPr/>
          <p:nvPr/>
        </p:nvSpPr>
        <p:spPr>
          <a:xfrm>
            <a:off x="5260910" y="1741899"/>
            <a:ext cx="5418046" cy="118723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The number is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', num)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The number is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19.8564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E7977B-6AAC-489D-BD96-CE60004B1E11}"/>
              </a:ext>
            </a:extLst>
          </p:cNvPr>
          <p:cNvSpPr/>
          <p:nvPr/>
        </p:nvSpPr>
        <p:spPr>
          <a:xfrm>
            <a:off x="1218377" y="1813635"/>
            <a:ext cx="3169813" cy="90781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25200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Hello World!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')</a:t>
            </a:r>
          </a:p>
          <a:p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Hello World!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pPr algn="ctr"/>
            <a:endParaRPr lang="en-GB" sz="15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C7BC81-895B-4BB1-B47B-207B09EE34A7}"/>
              </a:ext>
            </a:extLst>
          </p:cNvPr>
          <p:cNvSpPr/>
          <p:nvPr/>
        </p:nvSpPr>
        <p:spPr>
          <a:xfrm>
            <a:off x="1204219" y="2897655"/>
            <a:ext cx="6687053" cy="138135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252000" bIns="0" rtlCol="0" anchor="t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Hello World!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Welcome to Python Tutorial!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')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Hello World! Welcome to Python Tutorial!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D1C168D-3B8D-4235-AA54-EF93D895D6D5}"/>
              </a:ext>
            </a:extLst>
          </p:cNvPr>
          <p:cNvSpPr/>
          <p:nvPr/>
        </p:nvSpPr>
        <p:spPr>
          <a:xfrm>
            <a:off x="1204218" y="4503091"/>
            <a:ext cx="6687053" cy="138135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252000" bIns="0" rtlCol="0" anchor="t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Hello World!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\</a:t>
            </a:r>
            <a:r>
              <a:rPr lang="en-US" sz="1500" dirty="0" err="1">
                <a:solidFill>
                  <a:srgbClr val="7E602C"/>
                </a:solidFill>
                <a:latin typeface="Consolas" panose="020B0609020204030204" pitchFamily="49" charset="0"/>
              </a:rPr>
              <a:t>n</a:t>
            </a:r>
            <a:r>
              <a:rPr lang="en-US" sz="1500" dirty="0" err="1">
                <a:solidFill>
                  <a:srgbClr val="889B4A"/>
                </a:solidFill>
                <a:latin typeface="Consolas" panose="020B0609020204030204" pitchFamily="49" charset="0"/>
              </a:rPr>
              <a:t>Welcome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 to Python Tutorial!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')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Hello World!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Welcome to Python Tutorial!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A31C6D-5C24-4934-A3FA-6D6C611748FB}"/>
              </a:ext>
            </a:extLst>
          </p:cNvPr>
          <p:cNvSpPr/>
          <p:nvPr/>
        </p:nvSpPr>
        <p:spPr>
          <a:xfrm>
            <a:off x="5260910" y="3203812"/>
            <a:ext cx="5418046" cy="118723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The number is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{</a:t>
            </a:r>
            <a:r>
              <a:rPr lang="en-US" sz="1500" dirty="0">
                <a:solidFill>
                  <a:srgbClr val="98676A"/>
                </a:solidFill>
                <a:latin typeface="Consolas" panose="020B0609020204030204" pitchFamily="49" charset="0"/>
              </a:rPr>
              <a:t>:.2f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}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'.format(num))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The number is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19.85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C00C75-C9D7-44A4-A3CF-B970BC953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1990" y="6420205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710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 animBg="1"/>
      <p:bldP spid="6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4" grpId="0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31A93-DA91-42A5-9DC7-BF9D2AEFB5DE}"/>
              </a:ext>
            </a:extLst>
          </p:cNvPr>
          <p:cNvSpPr txBox="1">
            <a:spLocks/>
          </p:cNvSpPr>
          <p:nvPr/>
        </p:nvSpPr>
        <p:spPr>
          <a:xfrm>
            <a:off x="1097280" y="286604"/>
            <a:ext cx="9986356" cy="1052670"/>
          </a:xfrm>
          <a:prstGeom prst="rect">
            <a:avLst/>
          </a:prstGeom>
        </p:spPr>
        <p:txBody>
          <a:bodyPr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800" dirty="0">
                <a:latin typeface="Arial" panose="020B0604020202020204" pitchFamily="34" charset="0"/>
                <a:cs typeface="Arial" panose="020B0604020202020204" pitchFamily="34" charset="0"/>
              </a:rPr>
              <a:t>Python Basics</a:t>
            </a:r>
            <a:b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Type Conversion</a:t>
            </a:r>
            <a:endParaRPr lang="en-GB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4EBD64-771F-441C-850C-78EA371C4579}"/>
              </a:ext>
            </a:extLst>
          </p:cNvPr>
          <p:cNvSpPr/>
          <p:nvPr/>
        </p:nvSpPr>
        <p:spPr>
          <a:xfrm>
            <a:off x="1181150" y="1339274"/>
            <a:ext cx="3942614" cy="53153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25200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num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= '</a:t>
            </a:r>
            <a:r>
              <a:rPr lang="en-GB" sz="1500" dirty="0">
                <a:solidFill>
                  <a:srgbClr val="889B4A"/>
                </a:solidFill>
                <a:latin typeface="Consolas" panose="020B0609020204030204" pitchFamily="49" charset="0"/>
              </a:rPr>
              <a:t>12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</a:p>
          <a:p>
            <a:pPr algn="ctr"/>
            <a:endParaRPr lang="en-GB" sz="15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98A948-580B-4536-BF54-691733CAA5FE}"/>
              </a:ext>
            </a:extLst>
          </p:cNvPr>
          <p:cNvSpPr/>
          <p:nvPr/>
        </p:nvSpPr>
        <p:spPr>
          <a:xfrm>
            <a:off x="1181150" y="1969856"/>
            <a:ext cx="3931528" cy="90363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(type(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num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))</a:t>
            </a:r>
          </a:p>
          <a:p>
            <a:b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&lt;</a:t>
            </a:r>
            <a:r>
              <a:rPr lang="en-GB" sz="1500" dirty="0">
                <a:solidFill>
                  <a:srgbClr val="98676A"/>
                </a:solidFill>
                <a:latin typeface="Consolas" panose="020B0609020204030204" pitchFamily="49" charset="0"/>
              </a:rPr>
              <a:t>class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'</a:t>
            </a:r>
            <a:r>
              <a:rPr lang="en-GB" sz="1500" dirty="0">
                <a:solidFill>
                  <a:srgbClr val="889B4A"/>
                </a:solidFill>
                <a:latin typeface="Consolas" panose="020B0609020204030204" pitchFamily="49" charset="0"/>
              </a:rPr>
              <a:t>str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'&gt;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4256AB-19C1-4CF8-B4D0-5FFEA0583D28}"/>
              </a:ext>
            </a:extLst>
          </p:cNvPr>
          <p:cNvSpPr/>
          <p:nvPr/>
        </p:nvSpPr>
        <p:spPr>
          <a:xfrm>
            <a:off x="1186692" y="2985252"/>
            <a:ext cx="3942613" cy="88512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num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  <a:r>
              <a:rPr lang="en-GB" sz="1500" dirty="0">
                <a:solidFill>
                  <a:srgbClr val="889B4A"/>
                </a:solidFill>
                <a:latin typeface="Consolas" panose="020B0609020204030204" pitchFamily="49" charset="0"/>
              </a:rPr>
              <a:t>12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5B4AD1-74E5-4C5E-959C-DF5A9C178656}"/>
              </a:ext>
            </a:extLst>
          </p:cNvPr>
          <p:cNvSpPr/>
          <p:nvPr/>
        </p:nvSpPr>
        <p:spPr>
          <a:xfrm>
            <a:off x="1186691" y="3969304"/>
            <a:ext cx="3942613" cy="110032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BR" sz="16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new_num = int(num)</a:t>
            </a:r>
          </a:p>
          <a:p>
            <a:r>
              <a:rPr lang="pt-BR" sz="16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pt-BR" sz="16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pt-BR" sz="1600" dirty="0">
                <a:solidFill>
                  <a:srgbClr val="D3AF86"/>
                </a:solidFill>
                <a:latin typeface="Consolas" panose="020B0609020204030204" pitchFamily="49" charset="0"/>
              </a:rPr>
              <a:t>(new_num)</a:t>
            </a:r>
          </a:p>
          <a:p>
            <a:br>
              <a:rPr lang="pt-BR" sz="16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pt-BR" sz="1600" dirty="0">
                <a:solidFill>
                  <a:srgbClr val="F79A32"/>
                </a:solidFill>
                <a:latin typeface="Consolas" panose="020B0609020204030204" pitchFamily="49" charset="0"/>
              </a:rPr>
              <a:t>12</a:t>
            </a:r>
            <a:endParaRPr lang="pt-BR" sz="16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45CC5A-C056-4184-81BC-F5731FC68986}"/>
              </a:ext>
            </a:extLst>
          </p:cNvPr>
          <p:cNvSpPr/>
          <p:nvPr/>
        </p:nvSpPr>
        <p:spPr>
          <a:xfrm>
            <a:off x="1186691" y="5168555"/>
            <a:ext cx="3942611" cy="11003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216000" bIns="0" rtlCol="0" anchor="ctr" anchorCtr="0"/>
          <a:lstStyle/>
          <a:p>
            <a:r>
              <a:rPr lang="pt-BR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num = </a:t>
            </a:r>
            <a:r>
              <a:rPr lang="pt-BR" sz="1500" dirty="0">
                <a:solidFill>
                  <a:srgbClr val="F79A32"/>
                </a:solidFill>
                <a:latin typeface="Consolas" panose="020B0609020204030204" pitchFamily="49" charset="0"/>
              </a:rPr>
              <a:t>0</a:t>
            </a:r>
            <a:endParaRPr lang="pt-BR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pt-BR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pt-BR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pt-BR" sz="1500" dirty="0">
                <a:solidFill>
                  <a:srgbClr val="D3AF86"/>
                </a:solidFill>
                <a:latin typeface="Consolas" panose="020B0609020204030204" pitchFamily="49" charset="0"/>
              </a:rPr>
              <a:t>(bool(num))</a:t>
            </a:r>
          </a:p>
          <a:p>
            <a:br>
              <a:rPr lang="pt-BR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pt-BR" sz="1500" dirty="0">
                <a:solidFill>
                  <a:srgbClr val="F79A32"/>
                </a:solidFill>
                <a:latin typeface="Consolas" panose="020B0609020204030204" pitchFamily="49" charset="0"/>
              </a:rPr>
              <a:t>False</a:t>
            </a:r>
            <a:endParaRPr lang="pt-BR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pPr algn="ctr"/>
            <a:endParaRPr lang="en-GB" sz="15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753D16-4222-4525-A1C9-BD82EE918095}"/>
              </a:ext>
            </a:extLst>
          </p:cNvPr>
          <p:cNvSpPr/>
          <p:nvPr/>
        </p:nvSpPr>
        <p:spPr>
          <a:xfrm>
            <a:off x="5515352" y="565635"/>
            <a:ext cx="5698813" cy="116022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252000" bIns="0" rtlCol="0" anchor="ctr" anchorCtr="0"/>
          <a:lstStyle/>
          <a:p>
            <a:r>
              <a:rPr lang="pt-BR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num = </a:t>
            </a:r>
            <a:r>
              <a:rPr lang="pt-BR" sz="1500" dirty="0">
                <a:solidFill>
                  <a:srgbClr val="F79A32"/>
                </a:solidFill>
                <a:latin typeface="Consolas" panose="020B0609020204030204" pitchFamily="49" charset="0"/>
              </a:rPr>
              <a:t>4</a:t>
            </a:r>
            <a:endParaRPr lang="pt-BR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pt-BR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pt-BR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pt-BR" sz="1500" dirty="0">
                <a:solidFill>
                  <a:srgbClr val="D3AF86"/>
                </a:solidFill>
                <a:latin typeface="Consolas" panose="020B0609020204030204" pitchFamily="49" charset="0"/>
              </a:rPr>
              <a:t>(bool(num))</a:t>
            </a:r>
          </a:p>
          <a:p>
            <a:br>
              <a:rPr lang="pt-BR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pt-BR" sz="1500" dirty="0">
                <a:solidFill>
                  <a:srgbClr val="F79A32"/>
                </a:solidFill>
                <a:latin typeface="Consolas" panose="020B0609020204030204" pitchFamily="49" charset="0"/>
              </a:rPr>
              <a:t>True</a:t>
            </a:r>
            <a:endParaRPr lang="pt-BR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pPr algn="ctr"/>
            <a:endParaRPr lang="en-GB" sz="15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E7F6BE-F671-4A1E-A58C-51A7E1E6599B}"/>
              </a:ext>
            </a:extLst>
          </p:cNvPr>
          <p:cNvSpPr/>
          <p:nvPr/>
        </p:nvSpPr>
        <p:spPr>
          <a:xfrm>
            <a:off x="5515347" y="1823615"/>
            <a:ext cx="5698813" cy="134682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25200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age =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30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She is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', age,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years old.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')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She is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years old.</a:t>
            </a:r>
          </a:p>
          <a:p>
            <a:endParaRPr lang="en-GB" sz="1600" dirty="0">
              <a:solidFill>
                <a:srgbClr val="DCDCAA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271758-37B3-4D2E-8604-78C661D2FC98}"/>
              </a:ext>
            </a:extLst>
          </p:cNvPr>
          <p:cNvSpPr/>
          <p:nvPr/>
        </p:nvSpPr>
        <p:spPr>
          <a:xfrm>
            <a:off x="5515348" y="3268190"/>
            <a:ext cx="5698813" cy="157959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25200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age =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30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She is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'+ age+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years old.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')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TypeError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: can only concatenate str (</a:t>
            </a:r>
            <a:r>
              <a:rPr lang="en-US" sz="1500" dirty="0">
                <a:solidFill>
                  <a:srgbClr val="98676A"/>
                </a:solidFill>
                <a:latin typeface="Consolas" panose="020B0609020204030204" pitchFamily="49" charset="0"/>
              </a:rPr>
              <a:t>not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"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") to str</a:t>
            </a:r>
          </a:p>
          <a:p>
            <a:endParaRPr lang="en-GB" sz="1500" dirty="0">
              <a:solidFill>
                <a:srgbClr val="DCDCAA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217944-523C-4AF9-9301-3EE3CDE19A05}"/>
              </a:ext>
            </a:extLst>
          </p:cNvPr>
          <p:cNvSpPr/>
          <p:nvPr/>
        </p:nvSpPr>
        <p:spPr>
          <a:xfrm>
            <a:off x="5515349" y="4945543"/>
            <a:ext cx="5698813" cy="134682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252000" bIns="0" rtlCol="0" anchor="ctr" anchorCtr="0"/>
          <a:lstStyle/>
          <a:p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age = </a:t>
            </a:r>
            <a:r>
              <a:rPr lang="en-US" sz="1600" dirty="0">
                <a:solidFill>
                  <a:srgbClr val="F79A32"/>
                </a:solidFill>
                <a:latin typeface="Consolas" panose="020B0609020204030204" pitchFamily="49" charset="0"/>
              </a:rPr>
              <a:t>30</a:t>
            </a:r>
            <a:endParaRPr lang="en-US" sz="16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6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('</a:t>
            </a:r>
            <a:r>
              <a:rPr lang="en-US" sz="1600" dirty="0">
                <a:solidFill>
                  <a:srgbClr val="889B4A"/>
                </a:solidFill>
                <a:latin typeface="Consolas" panose="020B0609020204030204" pitchFamily="49" charset="0"/>
              </a:rPr>
              <a:t>She is 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'+ str(age)+ ' </a:t>
            </a:r>
            <a:r>
              <a:rPr lang="en-US" sz="1600" dirty="0">
                <a:solidFill>
                  <a:srgbClr val="889B4A"/>
                </a:solidFill>
                <a:latin typeface="Consolas" panose="020B0609020204030204" pitchFamily="49" charset="0"/>
              </a:rPr>
              <a:t>years old.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')</a:t>
            </a:r>
          </a:p>
          <a:p>
            <a:b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She is </a:t>
            </a:r>
            <a:r>
              <a:rPr lang="en-US" sz="1600" dirty="0">
                <a:solidFill>
                  <a:srgbClr val="F79A32"/>
                </a:solidFill>
                <a:latin typeface="Consolas" panose="020B0609020204030204" pitchFamily="49" charset="0"/>
              </a:rPr>
              <a:t>30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 years old.</a:t>
            </a:r>
          </a:p>
          <a:p>
            <a:endParaRPr lang="en-GB" sz="1600" dirty="0">
              <a:solidFill>
                <a:srgbClr val="DCDCAA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56B49F-E12C-481A-9F5C-A02EA7AB818D}"/>
              </a:ext>
            </a:extLst>
          </p:cNvPr>
          <p:cNvSpPr/>
          <p:nvPr/>
        </p:nvSpPr>
        <p:spPr>
          <a:xfrm>
            <a:off x="1170064" y="1339274"/>
            <a:ext cx="3931528" cy="124847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252000" bIns="0" rtlCol="0" anchor="ctr" anchorCtr="0"/>
          <a:lstStyle/>
          <a:p>
            <a:r>
              <a:rPr lang="pt-BR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num = </a:t>
            </a:r>
            <a:r>
              <a:rPr lang="pt-BR" sz="1500" dirty="0">
                <a:solidFill>
                  <a:srgbClr val="F79A32"/>
                </a:solidFill>
                <a:latin typeface="Consolas" panose="020B0609020204030204" pitchFamily="49" charset="0"/>
              </a:rPr>
              <a:t>12</a:t>
            </a:r>
            <a:endParaRPr lang="pt-BR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pt-BR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pt-BR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pt-BR" sz="1500" dirty="0">
                <a:solidFill>
                  <a:srgbClr val="D3AF86"/>
                </a:solidFill>
                <a:latin typeface="Consolas" panose="020B0609020204030204" pitchFamily="49" charset="0"/>
              </a:rPr>
              <a:t>(float(num))</a:t>
            </a:r>
          </a:p>
          <a:p>
            <a:br>
              <a:rPr lang="pt-BR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pt-BR" sz="1500" dirty="0">
                <a:solidFill>
                  <a:srgbClr val="F79A32"/>
                </a:solidFill>
                <a:latin typeface="Consolas" panose="020B0609020204030204" pitchFamily="49" charset="0"/>
              </a:rPr>
              <a:t>12.0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pPr algn="ctr"/>
            <a:endParaRPr lang="en-GB" sz="15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DC6AA5-5F01-47FF-933E-4411274DA368}"/>
              </a:ext>
            </a:extLst>
          </p:cNvPr>
          <p:cNvSpPr/>
          <p:nvPr/>
        </p:nvSpPr>
        <p:spPr>
          <a:xfrm>
            <a:off x="1192236" y="2966627"/>
            <a:ext cx="3931528" cy="124847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252000" bIns="0" rtlCol="0" anchor="ctr" anchorCtr="0"/>
          <a:lstStyle/>
          <a:p>
            <a:r>
              <a:rPr lang="pt-BR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num = 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  <a:r>
              <a:rPr lang="en-GB" sz="1500" dirty="0">
                <a:solidFill>
                  <a:srgbClr val="889B4A"/>
                </a:solidFill>
                <a:latin typeface="Consolas" panose="020B0609020204030204" pitchFamily="49" charset="0"/>
              </a:rPr>
              <a:t>12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  <a:endParaRPr lang="pt-BR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pt-BR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pt-BR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pt-BR" sz="1500" dirty="0">
                <a:solidFill>
                  <a:srgbClr val="D3AF86"/>
                </a:solidFill>
                <a:latin typeface="Consolas" panose="020B0609020204030204" pitchFamily="49" charset="0"/>
              </a:rPr>
              <a:t>(float(num))</a:t>
            </a:r>
          </a:p>
          <a:p>
            <a:br>
              <a:rPr lang="pt-BR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pt-BR" sz="1500" dirty="0">
                <a:solidFill>
                  <a:srgbClr val="F79A32"/>
                </a:solidFill>
                <a:latin typeface="Consolas" panose="020B0609020204030204" pitchFamily="49" charset="0"/>
              </a:rPr>
              <a:t>12.0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pPr algn="ctr"/>
            <a:endParaRPr lang="en-GB" sz="15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2ACF5C-7267-4023-8BE2-35F52C75D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1990" y="6429082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226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8A62D-2A15-443E-9488-37551932A6B4}"/>
              </a:ext>
            </a:extLst>
          </p:cNvPr>
          <p:cNvSpPr txBox="1">
            <a:spLocks/>
          </p:cNvSpPr>
          <p:nvPr/>
        </p:nvSpPr>
        <p:spPr>
          <a:xfrm>
            <a:off x="1097280" y="286604"/>
            <a:ext cx="9986356" cy="1052670"/>
          </a:xfrm>
          <a:prstGeom prst="rect">
            <a:avLst/>
          </a:prstGeom>
        </p:spPr>
        <p:txBody>
          <a:bodyPr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800" dirty="0">
                <a:latin typeface="Arial" panose="020B0604020202020204" pitchFamily="34" charset="0"/>
                <a:cs typeface="Arial" panose="020B0604020202020204" pitchFamily="34" charset="0"/>
              </a:rPr>
              <a:t>Python Basics</a:t>
            </a:r>
            <a:b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</a:p>
          <a:p>
            <a:pPr>
              <a:lnSpc>
                <a:spcPct val="150000"/>
              </a:lnSpc>
            </a:pPr>
            <a:endParaRPr lang="en-GB" sz="2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4A876D-421C-4C2A-91D3-3612F085318C}"/>
              </a:ext>
            </a:extLst>
          </p:cNvPr>
          <p:cNvSpPr/>
          <p:nvPr/>
        </p:nvSpPr>
        <p:spPr>
          <a:xfrm>
            <a:off x="1166695" y="1525387"/>
            <a:ext cx="4929301" cy="50436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string =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The weather is rainy.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898D35-1B2D-47F8-8C5E-7E6D5DD7DFFB}"/>
              </a:ext>
            </a:extLst>
          </p:cNvPr>
          <p:cNvSpPr/>
          <p:nvPr/>
        </p:nvSpPr>
        <p:spPr>
          <a:xfrm>
            <a:off x="1166694" y="2091877"/>
            <a:ext cx="4929302" cy="71400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string.upper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())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THE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WEATHER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IS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RAINY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997F70-7B76-415B-9733-9130C272F937}"/>
              </a:ext>
            </a:extLst>
          </p:cNvPr>
          <p:cNvSpPr/>
          <p:nvPr/>
        </p:nvSpPr>
        <p:spPr>
          <a:xfrm>
            <a:off x="1161152" y="2868008"/>
            <a:ext cx="4929305" cy="77765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string.find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('</a:t>
            </a:r>
            <a:r>
              <a:rPr lang="en-GB" sz="1500" dirty="0">
                <a:solidFill>
                  <a:srgbClr val="889B4A"/>
                </a:solidFill>
                <a:latin typeface="Consolas" panose="020B0609020204030204" pitchFamily="49" charset="0"/>
              </a:rPr>
              <a:t>is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'))</a:t>
            </a:r>
          </a:p>
          <a:p>
            <a:b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12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57F204-F27F-4AAF-8972-E2D77539E93F}"/>
              </a:ext>
            </a:extLst>
          </p:cNvPr>
          <p:cNvSpPr/>
          <p:nvPr/>
        </p:nvSpPr>
        <p:spPr>
          <a:xfrm>
            <a:off x="1161153" y="4506229"/>
            <a:ext cx="4929305" cy="100058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string =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string.replace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rainy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sunny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')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(string)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The weather is sunny.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E33FBD-10E7-4E6A-872C-1B1DE38FEDB9}"/>
              </a:ext>
            </a:extLst>
          </p:cNvPr>
          <p:cNvSpPr/>
          <p:nvPr/>
        </p:nvSpPr>
        <p:spPr>
          <a:xfrm>
            <a:off x="1161155" y="5591201"/>
            <a:ext cx="4929303" cy="6648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string.count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is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’))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E9AFAB-D0D0-4120-A120-04B8EEF88C68}"/>
              </a:ext>
            </a:extLst>
          </p:cNvPr>
          <p:cNvSpPr/>
          <p:nvPr/>
        </p:nvSpPr>
        <p:spPr>
          <a:xfrm>
            <a:off x="6228396" y="1516936"/>
            <a:ext cx="3973566" cy="82379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10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+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13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B36B7B-E3AE-4072-AD55-65A32E7CD348}"/>
              </a:ext>
            </a:extLst>
          </p:cNvPr>
          <p:cNvSpPr/>
          <p:nvPr/>
        </p:nvSpPr>
        <p:spPr>
          <a:xfrm>
            <a:off x="6228396" y="2387599"/>
            <a:ext cx="3973566" cy="77765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10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/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3.3333333333333335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FFE327-8289-403B-9991-667D5ACC41BF}"/>
              </a:ext>
            </a:extLst>
          </p:cNvPr>
          <p:cNvSpPr/>
          <p:nvPr/>
        </p:nvSpPr>
        <p:spPr>
          <a:xfrm>
            <a:off x="6228396" y="3209839"/>
            <a:ext cx="3973566" cy="77765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10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//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4ED240-FB94-4304-A10A-7EF12C477D0C}"/>
              </a:ext>
            </a:extLst>
          </p:cNvPr>
          <p:cNvSpPr/>
          <p:nvPr/>
        </p:nvSpPr>
        <p:spPr>
          <a:xfrm>
            <a:off x="6228396" y="4025759"/>
            <a:ext cx="3973566" cy="77765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10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%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798EAD-4675-49E7-8964-050024FEC7AF}"/>
              </a:ext>
            </a:extLst>
          </p:cNvPr>
          <p:cNvSpPr/>
          <p:nvPr/>
        </p:nvSpPr>
        <p:spPr>
          <a:xfrm>
            <a:off x="6228396" y="4853362"/>
            <a:ext cx="3973566" cy="6648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10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*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30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092F2D-CB75-4280-9150-1C90D1E0A103}"/>
              </a:ext>
            </a:extLst>
          </p:cNvPr>
          <p:cNvSpPr/>
          <p:nvPr/>
        </p:nvSpPr>
        <p:spPr>
          <a:xfrm>
            <a:off x="6228396" y="5586215"/>
            <a:ext cx="3973566" cy="66981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10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**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1000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34B468-47B3-4B05-933D-904230988D85}"/>
              </a:ext>
            </a:extLst>
          </p:cNvPr>
          <p:cNvSpPr txBox="1"/>
          <p:nvPr/>
        </p:nvSpPr>
        <p:spPr>
          <a:xfrm>
            <a:off x="6228396" y="812939"/>
            <a:ext cx="276550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Arithmetic Operations</a:t>
            </a:r>
            <a:endParaRPr lang="en-GB" sz="2200" spc="-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AA6C5B-875C-4CA1-BA9E-EFB85F2248A5}"/>
              </a:ext>
            </a:extLst>
          </p:cNvPr>
          <p:cNvSpPr/>
          <p:nvPr/>
        </p:nvSpPr>
        <p:spPr>
          <a:xfrm>
            <a:off x="1161151" y="3687829"/>
            <a:ext cx="4929305" cy="77765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weather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 </a:t>
            </a:r>
            <a:r>
              <a:rPr lang="en-US" sz="1500" dirty="0">
                <a:solidFill>
                  <a:srgbClr val="98676A"/>
                </a:solidFill>
                <a:latin typeface="Consolas" panose="020B0609020204030204" pitchFamily="49" charset="0"/>
              </a:rPr>
              <a:t>in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string)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True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BC1C408-CB9C-4E63-B6F6-57148D42B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1990" y="6420205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476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B79E3B7-DE91-44BB-A513-BF140D61E5B6}"/>
              </a:ext>
            </a:extLst>
          </p:cNvPr>
          <p:cNvSpPr txBox="1">
            <a:spLocks/>
          </p:cNvSpPr>
          <p:nvPr/>
        </p:nvSpPr>
        <p:spPr>
          <a:xfrm>
            <a:off x="1097280" y="176876"/>
            <a:ext cx="9986356" cy="1052670"/>
          </a:xfrm>
          <a:prstGeom prst="rect">
            <a:avLst/>
          </a:prstGeom>
        </p:spPr>
        <p:txBody>
          <a:bodyPr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800" dirty="0">
                <a:latin typeface="Arial" panose="020B0604020202020204" pitchFamily="34" charset="0"/>
                <a:cs typeface="Arial" panose="020B0604020202020204" pitchFamily="34" charset="0"/>
              </a:rPr>
              <a:t>Python Basics</a:t>
            </a:r>
            <a:b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Lists</a:t>
            </a:r>
            <a:endParaRPr lang="en-GB" sz="2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AC5A91-C9B1-4DB0-908A-6C267412CAE2}"/>
              </a:ext>
            </a:extLst>
          </p:cNvPr>
          <p:cNvSpPr/>
          <p:nvPr/>
        </p:nvSpPr>
        <p:spPr>
          <a:xfrm>
            <a:off x="1174136" y="1339274"/>
            <a:ext cx="5226661" cy="41388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my_string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=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5 4 6 3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F00B92-122E-4F76-8A7D-BAA307098A54}"/>
              </a:ext>
            </a:extLst>
          </p:cNvPr>
          <p:cNvSpPr/>
          <p:nvPr/>
        </p:nvSpPr>
        <p:spPr>
          <a:xfrm>
            <a:off x="1174137" y="1849392"/>
            <a:ext cx="5226660" cy="116172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my_list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my_string.split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')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 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my_list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['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5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4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6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3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46634B-643C-4017-A939-21AC59BBE17E}"/>
              </a:ext>
            </a:extLst>
          </p:cNvPr>
          <p:cNvSpPr/>
          <p:nvPr/>
        </p:nvSpPr>
        <p:spPr>
          <a:xfrm>
            <a:off x="1174136" y="3107352"/>
            <a:ext cx="5226660" cy="106092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my_list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= list(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map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(int,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my_list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my_list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[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5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4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6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D76A2D-C1B6-44EC-9BB8-C23C99BB1B01}"/>
              </a:ext>
            </a:extLst>
          </p:cNvPr>
          <p:cNvSpPr/>
          <p:nvPr/>
        </p:nvSpPr>
        <p:spPr>
          <a:xfrm>
            <a:off x="1174136" y="4264513"/>
            <a:ext cx="5226660" cy="191748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my_list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[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5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my_list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[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: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[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4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6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my_list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[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:])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[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4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6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my_list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[-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F4D581-878A-4EAF-9C28-A534BED11825}"/>
              </a:ext>
            </a:extLst>
          </p:cNvPr>
          <p:cNvSpPr/>
          <p:nvPr/>
        </p:nvSpPr>
        <p:spPr>
          <a:xfrm>
            <a:off x="6578731" y="421536"/>
            <a:ext cx="4626824" cy="16111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(*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my_list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 err="1">
                <a:solidFill>
                  <a:srgbClr val="DC3958"/>
                </a:solidFill>
                <a:latin typeface="Consolas" panose="020B0609020204030204" pitchFamily="49" charset="0"/>
              </a:rPr>
              <a:t>sep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='\</a:t>
            </a:r>
            <a:r>
              <a:rPr lang="en-US" sz="1500" dirty="0">
                <a:solidFill>
                  <a:srgbClr val="DC3958"/>
                </a:solidFill>
                <a:latin typeface="Consolas" panose="020B0609020204030204" pitchFamily="49" charset="0"/>
              </a:rPr>
              <a:t>n')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5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4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6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C1644B-B39F-4080-9096-AD8E846472F9}"/>
              </a:ext>
            </a:extLst>
          </p:cNvPr>
          <p:cNvSpPr/>
          <p:nvPr/>
        </p:nvSpPr>
        <p:spPr>
          <a:xfrm>
            <a:off x="6578731" y="2161280"/>
            <a:ext cx="4626824" cy="116172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my_list.append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6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my_list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[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5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4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6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6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</a:t>
            </a:r>
          </a:p>
          <a:p>
            <a:endParaRPr lang="en-GB" sz="12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2FC450-1EEF-411C-90B0-0650514EFF61}"/>
              </a:ext>
            </a:extLst>
          </p:cNvPr>
          <p:cNvSpPr/>
          <p:nvPr/>
        </p:nvSpPr>
        <p:spPr>
          <a:xfrm>
            <a:off x="6578731" y="3429000"/>
            <a:ext cx="4626824" cy="106092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my_list.insert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7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my_list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[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7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5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4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6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6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2362C0-5537-48AA-9227-5F4AB96EA502}"/>
              </a:ext>
            </a:extLst>
          </p:cNvPr>
          <p:cNvSpPr/>
          <p:nvPr/>
        </p:nvSpPr>
        <p:spPr>
          <a:xfrm>
            <a:off x="6578731" y="4595921"/>
            <a:ext cx="4626824" cy="158607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new_list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= [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100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200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300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my_list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+=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new_list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my_list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[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7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5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4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6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7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6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100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200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300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</a:t>
            </a:r>
          </a:p>
          <a:p>
            <a:endParaRPr lang="en-GB" sz="15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9CBCC9-DC5D-4678-8A54-F3AD1BE8D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1990" y="6420205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266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D99BC-978F-4B71-BC81-3F4CA2CF6D7E}"/>
              </a:ext>
            </a:extLst>
          </p:cNvPr>
          <p:cNvSpPr txBox="1">
            <a:spLocks/>
          </p:cNvSpPr>
          <p:nvPr/>
        </p:nvSpPr>
        <p:spPr>
          <a:xfrm>
            <a:off x="1097280" y="286604"/>
            <a:ext cx="9986356" cy="1052670"/>
          </a:xfrm>
          <a:prstGeom prst="rect">
            <a:avLst/>
          </a:prstGeom>
        </p:spPr>
        <p:txBody>
          <a:bodyPr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800" dirty="0">
                <a:latin typeface="Arial" panose="020B0604020202020204" pitchFamily="34" charset="0"/>
                <a:cs typeface="Arial" panose="020B0604020202020204" pitchFamily="34" charset="0"/>
              </a:rPr>
              <a:t>Python Basics</a:t>
            </a:r>
            <a:b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Lists</a:t>
            </a:r>
            <a:endParaRPr lang="en-GB" sz="2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C0C923-F41A-438C-8425-DFC0240DC53E}"/>
              </a:ext>
            </a:extLst>
          </p:cNvPr>
          <p:cNvSpPr/>
          <p:nvPr/>
        </p:nvSpPr>
        <p:spPr>
          <a:xfrm>
            <a:off x="1108364" y="1339274"/>
            <a:ext cx="5226660" cy="166817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my_list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= [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5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4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6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new_list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= [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100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200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300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my_list.extend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new_list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my_list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[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5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4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6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100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200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300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D65376-68A3-43F8-AC4F-E76626658F2B}"/>
              </a:ext>
            </a:extLst>
          </p:cNvPr>
          <p:cNvSpPr/>
          <p:nvPr/>
        </p:nvSpPr>
        <p:spPr>
          <a:xfrm>
            <a:off x="1097274" y="3135822"/>
            <a:ext cx="5226661" cy="58635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my_list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= [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4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5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30F338-01FC-43B0-BCBD-A8AA3B5EB45D}"/>
              </a:ext>
            </a:extLst>
          </p:cNvPr>
          <p:cNvSpPr/>
          <p:nvPr/>
        </p:nvSpPr>
        <p:spPr>
          <a:xfrm>
            <a:off x="1097276" y="3875769"/>
            <a:ext cx="5226659" cy="105267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my_list.sort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()</a:t>
            </a:r>
          </a:p>
          <a:p>
            <a:b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[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4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5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EB1AD8-1078-48A4-9D1A-74A491942659}"/>
              </a:ext>
            </a:extLst>
          </p:cNvPr>
          <p:cNvSpPr/>
          <p:nvPr/>
        </p:nvSpPr>
        <p:spPr>
          <a:xfrm>
            <a:off x="1097277" y="5056813"/>
            <a:ext cx="5226659" cy="105267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sorted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my_list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[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4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5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49BCFF-3AE3-42A6-970A-5F0AF2EDB9A0}"/>
              </a:ext>
            </a:extLst>
          </p:cNvPr>
          <p:cNvSpPr/>
          <p:nvPr/>
        </p:nvSpPr>
        <p:spPr>
          <a:xfrm>
            <a:off x="6733042" y="1339274"/>
            <a:ext cx="4626824" cy="92382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my_list.sort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DC3958"/>
                </a:solidFill>
                <a:latin typeface="Consolas" panose="020B0609020204030204" pitchFamily="49" charset="0"/>
              </a:rPr>
              <a:t>reverse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True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[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5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4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B4B5E7-9A71-421E-AA9F-451F8D6B4C39}"/>
              </a:ext>
            </a:extLst>
          </p:cNvPr>
          <p:cNvSpPr/>
          <p:nvPr/>
        </p:nvSpPr>
        <p:spPr>
          <a:xfrm>
            <a:off x="6733042" y="2411919"/>
            <a:ext cx="4626824" cy="80929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my_list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[::-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])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[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5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4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3B0716-E49E-4298-8EC0-C9C25BB378DB}"/>
              </a:ext>
            </a:extLst>
          </p:cNvPr>
          <p:cNvSpPr/>
          <p:nvPr/>
        </p:nvSpPr>
        <p:spPr>
          <a:xfrm>
            <a:off x="6733042" y="3429000"/>
            <a:ext cx="4626824" cy="120514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my_list.reverse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my_list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[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5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4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5075D8-58C4-4959-A8E3-D39EA3E34983}"/>
              </a:ext>
            </a:extLst>
          </p:cNvPr>
          <p:cNvSpPr/>
          <p:nvPr/>
        </p:nvSpPr>
        <p:spPr>
          <a:xfrm>
            <a:off x="6733042" y="4719888"/>
            <a:ext cx="4626824" cy="14234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my_list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= ['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I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love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coding!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']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my_string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= ' '.join(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my_list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my_string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I love coding!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78844D9-BF6E-4A9C-A93A-262D9474A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1990" y="6420205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852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79A1D-A1E5-4631-A4E3-23964D10CA90}"/>
              </a:ext>
            </a:extLst>
          </p:cNvPr>
          <p:cNvSpPr txBox="1">
            <a:spLocks/>
          </p:cNvSpPr>
          <p:nvPr/>
        </p:nvSpPr>
        <p:spPr>
          <a:xfrm>
            <a:off x="1097280" y="176876"/>
            <a:ext cx="9986356" cy="1052670"/>
          </a:xfrm>
          <a:prstGeom prst="rect">
            <a:avLst/>
          </a:prstGeom>
        </p:spPr>
        <p:txBody>
          <a:bodyPr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800" dirty="0">
                <a:latin typeface="Arial" panose="020B0604020202020204" pitchFamily="34" charset="0"/>
                <a:cs typeface="Arial" panose="020B0604020202020204" pitchFamily="34" charset="0"/>
              </a:rPr>
              <a:t>Python Basics</a:t>
            </a:r>
            <a:b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Dictionary</a:t>
            </a:r>
            <a:endParaRPr lang="en-GB" sz="2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951811-04AE-450B-81B2-67FE5FC52860}"/>
              </a:ext>
            </a:extLst>
          </p:cNvPr>
          <p:cNvSpPr/>
          <p:nvPr/>
        </p:nvSpPr>
        <p:spPr>
          <a:xfrm>
            <a:off x="1211071" y="1362158"/>
            <a:ext cx="6584407" cy="50436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car = {"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brand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": "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Ford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", "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model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": "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Mustang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", "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year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":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1964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025B2-AB56-4F7A-B7C4-AB10FA955D0B}"/>
              </a:ext>
            </a:extLst>
          </p:cNvPr>
          <p:cNvSpPr/>
          <p:nvPr/>
        </p:nvSpPr>
        <p:spPr>
          <a:xfrm>
            <a:off x="1211070" y="1922970"/>
            <a:ext cx="4856481" cy="98519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car.clear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(car)</a:t>
            </a:r>
          </a:p>
          <a:p>
            <a:b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{}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2341BF-58B9-453C-8157-CA53A43F02C8}"/>
              </a:ext>
            </a:extLst>
          </p:cNvPr>
          <p:cNvSpPr/>
          <p:nvPr/>
        </p:nvSpPr>
        <p:spPr>
          <a:xfrm>
            <a:off x="1211070" y="2965377"/>
            <a:ext cx="4856481" cy="7454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(car[</a:t>
            </a:r>
            <a:r>
              <a:rPr lang="en-GB" sz="1500" dirty="0">
                <a:solidFill>
                  <a:srgbClr val="889B4A"/>
                </a:solidFill>
                <a:latin typeface="Consolas" panose="020B0609020204030204" pitchFamily="49" charset="0"/>
              </a:rPr>
              <a:t>'model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'])</a:t>
            </a:r>
          </a:p>
          <a:p>
            <a:b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  <a:r>
              <a:rPr lang="en-GB" sz="1500" dirty="0">
                <a:solidFill>
                  <a:srgbClr val="889B4A"/>
                </a:solidFill>
                <a:latin typeface="Consolas" panose="020B0609020204030204" pitchFamily="49" charset="0"/>
              </a:rPr>
              <a:t>Mustang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B920F1-9D2E-4C8A-997A-2F13170CDB17}"/>
              </a:ext>
            </a:extLst>
          </p:cNvPr>
          <p:cNvSpPr/>
          <p:nvPr/>
        </p:nvSpPr>
        <p:spPr>
          <a:xfrm>
            <a:off x="6299195" y="3952738"/>
            <a:ext cx="4856481" cy="133606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coppied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car.copy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coppied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{"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brand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": "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Ford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", "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model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": "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Mustang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", "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year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":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1964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32EF21-5699-4437-ADFC-0B5286B85826}"/>
              </a:ext>
            </a:extLst>
          </p:cNvPr>
          <p:cNvSpPr/>
          <p:nvPr/>
        </p:nvSpPr>
        <p:spPr>
          <a:xfrm>
            <a:off x="1211069" y="3774080"/>
            <a:ext cx="4856481" cy="8600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car.get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GB" sz="1500" dirty="0">
                <a:solidFill>
                  <a:srgbClr val="889B4A"/>
                </a:solidFill>
                <a:latin typeface="Consolas" panose="020B0609020204030204" pitchFamily="49" charset="0"/>
              </a:rPr>
              <a:t>'model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'))</a:t>
            </a:r>
          </a:p>
          <a:p>
            <a:b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  <a:r>
              <a:rPr lang="en-GB" sz="1500" dirty="0">
                <a:solidFill>
                  <a:srgbClr val="889B4A"/>
                </a:solidFill>
                <a:latin typeface="Consolas" panose="020B0609020204030204" pitchFamily="49" charset="0"/>
              </a:rPr>
              <a:t>Mustang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46A594-C42F-4EC3-9E6A-E77AB5B0F4EA}"/>
              </a:ext>
            </a:extLst>
          </p:cNvPr>
          <p:cNvSpPr/>
          <p:nvPr/>
        </p:nvSpPr>
        <p:spPr>
          <a:xfrm>
            <a:off x="6299196" y="1921329"/>
            <a:ext cx="4856481" cy="9696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car.keys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())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dict_keys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(['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brand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model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year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'])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468935-786D-4510-B880-E7BBDC74A673}"/>
              </a:ext>
            </a:extLst>
          </p:cNvPr>
          <p:cNvSpPr/>
          <p:nvPr/>
        </p:nvSpPr>
        <p:spPr>
          <a:xfrm>
            <a:off x="6299196" y="2937034"/>
            <a:ext cx="4856481" cy="96966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car.values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())</a:t>
            </a:r>
          </a:p>
          <a:p>
            <a:b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dict_values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(['</a:t>
            </a:r>
            <a:r>
              <a:rPr lang="en-GB" sz="1500" dirty="0">
                <a:solidFill>
                  <a:srgbClr val="889B4A"/>
                </a:solidFill>
                <a:latin typeface="Consolas" panose="020B0609020204030204" pitchFamily="49" charset="0"/>
              </a:rPr>
              <a:t>Ford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GB" sz="1500" dirty="0">
                <a:solidFill>
                  <a:srgbClr val="889B4A"/>
                </a:solidFill>
                <a:latin typeface="Consolas" panose="020B0609020204030204" pitchFamily="49" charset="0"/>
              </a:rPr>
              <a:t>Mustang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',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1964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])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3390E0-700D-4992-87E0-9DD353F54BF5}"/>
              </a:ext>
            </a:extLst>
          </p:cNvPr>
          <p:cNvSpPr/>
          <p:nvPr/>
        </p:nvSpPr>
        <p:spPr>
          <a:xfrm>
            <a:off x="1211069" y="4697374"/>
            <a:ext cx="4856481" cy="161086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98676A"/>
                </a:solidFill>
                <a:latin typeface="Consolas" panose="020B0609020204030204" pitchFamily="49" charset="0"/>
              </a:rPr>
              <a:t>for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key,values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98676A"/>
                </a:solidFill>
                <a:latin typeface="Consolas" panose="020B0609020204030204" pitchFamily="49" charset="0"/>
              </a:rPr>
              <a:t>in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car.items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():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   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(key,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: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 , values)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brand :  Ford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model :  Mustang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year :  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1964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E4B0DA-EFA0-4FB2-B489-FB70D896B317}"/>
              </a:ext>
            </a:extLst>
          </p:cNvPr>
          <p:cNvSpPr/>
          <p:nvPr/>
        </p:nvSpPr>
        <p:spPr>
          <a:xfrm>
            <a:off x="6299194" y="5327987"/>
            <a:ext cx="4856481" cy="132985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car.update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({</a:t>
            </a:r>
            <a:r>
              <a:rPr lang="en-GB" sz="1500" dirty="0">
                <a:solidFill>
                  <a:srgbClr val="889B4A"/>
                </a:solidFill>
                <a:latin typeface="Consolas" panose="020B0609020204030204" pitchFamily="49" charset="0"/>
              </a:rPr>
              <a:t>'</a:t>
            </a:r>
            <a:r>
              <a:rPr lang="en-GB" sz="1500" dirty="0" err="1">
                <a:solidFill>
                  <a:srgbClr val="889B4A"/>
                </a:solidFill>
                <a:latin typeface="Consolas" panose="020B0609020204030204" pitchFamily="49" charset="0"/>
              </a:rPr>
              <a:t>color</a:t>
            </a:r>
            <a:r>
              <a:rPr lang="en-GB" sz="1500" dirty="0">
                <a:solidFill>
                  <a:srgbClr val="889B4A"/>
                </a:solidFill>
                <a:latin typeface="Consolas" panose="020B0609020204030204" pitchFamily="49" charset="0"/>
              </a:rPr>
              <a:t>'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: </a:t>
            </a:r>
            <a:r>
              <a:rPr lang="en-GB" sz="1500" dirty="0">
                <a:solidFill>
                  <a:srgbClr val="889B4A"/>
                </a:solidFill>
                <a:latin typeface="Consolas" panose="020B0609020204030204" pitchFamily="49" charset="0"/>
              </a:rPr>
              <a:t>'white'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})</a:t>
            </a:r>
          </a:p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(car)</a:t>
            </a:r>
          </a:p>
          <a:p>
            <a:b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{'</a:t>
            </a:r>
            <a:r>
              <a:rPr lang="en-GB" sz="1500" dirty="0">
                <a:solidFill>
                  <a:srgbClr val="889B4A"/>
                </a:solidFill>
                <a:latin typeface="Consolas" panose="020B0609020204030204" pitchFamily="49" charset="0"/>
              </a:rPr>
              <a:t>brand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': '</a:t>
            </a:r>
            <a:r>
              <a:rPr lang="en-GB" sz="1500" dirty="0">
                <a:solidFill>
                  <a:srgbClr val="889B4A"/>
                </a:solidFill>
                <a:latin typeface="Consolas" panose="020B0609020204030204" pitchFamily="49" charset="0"/>
              </a:rPr>
              <a:t>Ford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GB" sz="1500" dirty="0">
                <a:solidFill>
                  <a:srgbClr val="889B4A"/>
                </a:solidFill>
                <a:latin typeface="Consolas" panose="020B0609020204030204" pitchFamily="49" charset="0"/>
              </a:rPr>
              <a:t>model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': '</a:t>
            </a:r>
            <a:r>
              <a:rPr lang="en-GB" sz="1500" dirty="0">
                <a:solidFill>
                  <a:srgbClr val="889B4A"/>
                </a:solidFill>
                <a:latin typeface="Consolas" panose="020B0609020204030204" pitchFamily="49" charset="0"/>
              </a:rPr>
              <a:t>Mustang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GB" sz="1500" dirty="0">
                <a:solidFill>
                  <a:srgbClr val="889B4A"/>
                </a:solidFill>
                <a:latin typeface="Consolas" panose="020B0609020204030204" pitchFamily="49" charset="0"/>
              </a:rPr>
              <a:t>year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':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1964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, '</a:t>
            </a:r>
            <a:r>
              <a:rPr lang="en-GB" sz="1500" dirty="0" err="1">
                <a:solidFill>
                  <a:srgbClr val="889B4A"/>
                </a:solidFill>
                <a:latin typeface="Consolas" panose="020B0609020204030204" pitchFamily="49" charset="0"/>
              </a:rPr>
              <a:t>color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': '</a:t>
            </a:r>
            <a:r>
              <a:rPr lang="en-GB" sz="1500" dirty="0">
                <a:solidFill>
                  <a:srgbClr val="889B4A"/>
                </a:solidFill>
                <a:latin typeface="Consolas" panose="020B0609020204030204" pitchFamily="49" charset="0"/>
              </a:rPr>
              <a:t>white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'}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BBFCE79-AF2A-4C6E-B2BA-0A678A31A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1990" y="6411328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3548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44096-8DDA-4CCB-8F15-6788CCB2DEA4}"/>
              </a:ext>
            </a:extLst>
          </p:cNvPr>
          <p:cNvSpPr txBox="1">
            <a:spLocks/>
          </p:cNvSpPr>
          <p:nvPr/>
        </p:nvSpPr>
        <p:spPr>
          <a:xfrm>
            <a:off x="1097280" y="286604"/>
            <a:ext cx="9986356" cy="1052670"/>
          </a:xfrm>
          <a:prstGeom prst="rect">
            <a:avLst/>
          </a:prstGeom>
        </p:spPr>
        <p:txBody>
          <a:bodyPr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800" dirty="0">
                <a:latin typeface="Arial" panose="020B0604020202020204" pitchFamily="34" charset="0"/>
                <a:cs typeface="Arial" panose="020B0604020202020204" pitchFamily="34" charset="0"/>
              </a:rPr>
              <a:t>Python Basics</a:t>
            </a:r>
            <a:b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Loops and if statement</a:t>
            </a:r>
          </a:p>
          <a:p>
            <a:pPr>
              <a:lnSpc>
                <a:spcPct val="150000"/>
              </a:lnSpc>
            </a:pPr>
            <a:endParaRPr lang="en-GB" sz="2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94CB8F-836F-4F36-B990-E6E39E787172}"/>
              </a:ext>
            </a:extLst>
          </p:cNvPr>
          <p:cNvSpPr/>
          <p:nvPr/>
        </p:nvSpPr>
        <p:spPr>
          <a:xfrm>
            <a:off x="1205329" y="2184825"/>
            <a:ext cx="2663949" cy="277552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A57A4C"/>
                </a:solidFill>
                <a:latin typeface="Consolas" panose="020B0609020204030204" pitchFamily="49" charset="0"/>
              </a:rPr>
              <a:t># for loop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b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>
                <a:solidFill>
                  <a:srgbClr val="98676A"/>
                </a:solidFill>
                <a:latin typeface="Consolas" panose="020B0609020204030204" pitchFamily="49" charset="0"/>
              </a:rPr>
              <a:t>for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i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</a:t>
            </a:r>
            <a:r>
              <a:rPr lang="en-GB" sz="1500" dirty="0">
                <a:solidFill>
                  <a:srgbClr val="98676A"/>
                </a:solidFill>
                <a:latin typeface="Consolas" panose="020B0609020204030204" pitchFamily="49" charset="0"/>
              </a:rPr>
              <a:t>in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range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5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   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i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0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4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8688F1-8345-4C9E-B756-6BB4B2B7FB6F}"/>
              </a:ext>
            </a:extLst>
          </p:cNvPr>
          <p:cNvSpPr/>
          <p:nvPr/>
        </p:nvSpPr>
        <p:spPr>
          <a:xfrm>
            <a:off x="1205328" y="2237330"/>
            <a:ext cx="2663949" cy="29180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A57A4C"/>
                </a:solidFill>
                <a:latin typeface="Consolas" panose="020B0609020204030204" pitchFamily="49" charset="0"/>
              </a:rPr>
              <a:t># while loop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b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i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=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0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>
                <a:solidFill>
                  <a:srgbClr val="98676A"/>
                </a:solidFill>
                <a:latin typeface="Consolas" panose="020B0609020204030204" pitchFamily="49" charset="0"/>
              </a:rPr>
              <a:t>while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i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&lt;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5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   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i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    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i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+=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b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0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4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B11A62-9165-4B35-B272-365200522934}"/>
              </a:ext>
            </a:extLst>
          </p:cNvPr>
          <p:cNvSpPr/>
          <p:nvPr/>
        </p:nvSpPr>
        <p:spPr>
          <a:xfrm>
            <a:off x="4064352" y="2180523"/>
            <a:ext cx="3101499" cy="31821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A57A4C"/>
                </a:solidFill>
                <a:latin typeface="Consolas" panose="020B0609020204030204" pitchFamily="49" charset="0"/>
              </a:rPr>
              <a:t># for loop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b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>
                <a:solidFill>
                  <a:srgbClr val="98676A"/>
                </a:solidFill>
                <a:latin typeface="Consolas" panose="020B0609020204030204" pitchFamily="49" charset="0"/>
              </a:rPr>
              <a:t>for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i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</a:t>
            </a:r>
            <a:r>
              <a:rPr lang="en-GB" sz="1500" dirty="0">
                <a:solidFill>
                  <a:srgbClr val="98676A"/>
                </a:solidFill>
                <a:latin typeface="Consolas" panose="020B0609020204030204" pitchFamily="49" charset="0"/>
              </a:rPr>
              <a:t>in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range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10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   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i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    </a:t>
            </a:r>
            <a:r>
              <a:rPr lang="en-GB" sz="1500" dirty="0">
                <a:solidFill>
                  <a:srgbClr val="98676A"/>
                </a:solidFill>
                <a:latin typeface="Consolas" panose="020B0609020204030204" pitchFamily="49" charset="0"/>
              </a:rPr>
              <a:t>if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i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==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4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        </a:t>
            </a:r>
            <a:r>
              <a:rPr lang="en-GB" sz="1500" dirty="0">
                <a:solidFill>
                  <a:srgbClr val="98676A"/>
                </a:solidFill>
                <a:latin typeface="Consolas" panose="020B0609020204030204" pitchFamily="49" charset="0"/>
              </a:rPr>
              <a:t>break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b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0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4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B3CC65-A8E9-4D00-A486-CEFA30146968}"/>
              </a:ext>
            </a:extLst>
          </p:cNvPr>
          <p:cNvSpPr/>
          <p:nvPr/>
        </p:nvSpPr>
        <p:spPr>
          <a:xfrm>
            <a:off x="4069116" y="2180523"/>
            <a:ext cx="3101499" cy="247915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A57A4C"/>
                </a:solidFill>
                <a:latin typeface="Consolas" panose="020B0609020204030204" pitchFamily="49" charset="0"/>
              </a:rPr>
              <a:t># while loop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98676A"/>
                </a:solidFill>
                <a:latin typeface="Consolas" panose="020B0609020204030204" pitchFamily="49" charset="0"/>
              </a:rPr>
              <a:t>while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True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   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6E5CDF-6F82-4C40-8CA5-F260B1943546}"/>
              </a:ext>
            </a:extLst>
          </p:cNvPr>
          <p:cNvSpPr/>
          <p:nvPr/>
        </p:nvSpPr>
        <p:spPr>
          <a:xfrm>
            <a:off x="1214225" y="2180523"/>
            <a:ext cx="2822614" cy="23328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A57A4C"/>
                </a:solidFill>
                <a:latin typeface="Consolas" panose="020B0609020204030204" pitchFamily="49" charset="0"/>
              </a:rPr>
              <a:t># if statement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i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j =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98676A"/>
                </a:solidFill>
                <a:latin typeface="Consolas" panose="020B0609020204030204" pitchFamily="49" charset="0"/>
              </a:rPr>
              <a:t>if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i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== j: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   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Equal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')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Equal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503ADF-86B6-465F-A499-35BDD6BB892A}"/>
              </a:ext>
            </a:extLst>
          </p:cNvPr>
          <p:cNvSpPr/>
          <p:nvPr/>
        </p:nvSpPr>
        <p:spPr>
          <a:xfrm>
            <a:off x="4123095" y="2184826"/>
            <a:ext cx="3137911" cy="277552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A57A4C"/>
                </a:solidFill>
                <a:latin typeface="Consolas" panose="020B0609020204030204" pitchFamily="49" charset="0"/>
              </a:rPr>
              <a:t># if statement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i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j =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0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98676A"/>
                </a:solidFill>
                <a:latin typeface="Consolas" panose="020B0609020204030204" pitchFamily="49" charset="0"/>
              </a:rPr>
              <a:t>if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i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&gt; j: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   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Greater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')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 err="1">
                <a:solidFill>
                  <a:srgbClr val="98676A"/>
                </a:solidFill>
                <a:latin typeface="Consolas" panose="020B0609020204030204" pitchFamily="49" charset="0"/>
              </a:rPr>
              <a:t>elif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i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&lt;= j: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   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Smaller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')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Greater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B5F46-28FA-450B-A2FB-DA549A8A2860}"/>
              </a:ext>
            </a:extLst>
          </p:cNvPr>
          <p:cNvSpPr/>
          <p:nvPr/>
        </p:nvSpPr>
        <p:spPr>
          <a:xfrm>
            <a:off x="7360925" y="2192177"/>
            <a:ext cx="3017680" cy="23211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A57A4C"/>
                </a:solidFill>
                <a:latin typeface="Consolas" panose="020B0609020204030204" pitchFamily="49" charset="0"/>
              </a:rPr>
              <a:t># if statement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i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j =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0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98676A"/>
                </a:solidFill>
                <a:latin typeface="Consolas" panose="020B0609020204030204" pitchFamily="49" charset="0"/>
              </a:rPr>
              <a:t>if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i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&gt; j: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    </a:t>
            </a:r>
            <a:r>
              <a:rPr lang="en-US" sz="1500" dirty="0">
                <a:solidFill>
                  <a:srgbClr val="98676A"/>
                </a:solidFill>
                <a:latin typeface="Consolas" panose="020B0609020204030204" pitchFamily="49" charset="0"/>
              </a:rPr>
              <a:t>pass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 err="1">
                <a:solidFill>
                  <a:srgbClr val="98676A"/>
                </a:solidFill>
                <a:latin typeface="Consolas" panose="020B0609020204030204" pitchFamily="49" charset="0"/>
              </a:rPr>
              <a:t>elif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I &lt;= j: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   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Smaller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DDAAF2-5382-4D50-9C38-A20F1FA06D60}"/>
              </a:ext>
            </a:extLst>
          </p:cNvPr>
          <p:cNvSpPr/>
          <p:nvPr/>
        </p:nvSpPr>
        <p:spPr>
          <a:xfrm>
            <a:off x="7360925" y="2180523"/>
            <a:ext cx="4659022" cy="31821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A57A4C"/>
                </a:solidFill>
                <a:latin typeface="Consolas" panose="020B0609020204030204" pitchFamily="49" charset="0"/>
              </a:rPr>
              <a:t># nested for loop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b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>
                <a:solidFill>
                  <a:srgbClr val="98676A"/>
                </a:solidFill>
                <a:latin typeface="Consolas" panose="020B0609020204030204" pitchFamily="49" charset="0"/>
              </a:rPr>
              <a:t>for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i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</a:t>
            </a:r>
            <a:r>
              <a:rPr lang="en-GB" sz="1500" dirty="0">
                <a:solidFill>
                  <a:srgbClr val="98676A"/>
                </a:solidFill>
                <a:latin typeface="Consolas" panose="020B0609020204030204" pitchFamily="49" charset="0"/>
              </a:rPr>
              <a:t>in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range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    </a:t>
            </a:r>
            <a:r>
              <a:rPr lang="en-GB" sz="1500" dirty="0">
                <a:solidFill>
                  <a:srgbClr val="98676A"/>
                </a:solidFill>
                <a:latin typeface="Consolas" panose="020B0609020204030204" pitchFamily="49" charset="0"/>
              </a:rPr>
              <a:t>for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j </a:t>
            </a:r>
            <a:r>
              <a:rPr lang="en-GB" sz="1500" dirty="0">
                <a:solidFill>
                  <a:srgbClr val="98676A"/>
                </a:solidFill>
                <a:latin typeface="Consolas" panose="020B0609020204030204" pitchFamily="49" charset="0"/>
              </a:rPr>
              <a:t>in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range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100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102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       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i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, '</a:t>
            </a:r>
            <a:r>
              <a:rPr lang="en-GB" sz="1500" dirty="0">
                <a:solidFill>
                  <a:srgbClr val="889B4A"/>
                </a:solidFill>
                <a:latin typeface="Consolas" panose="020B0609020204030204" pitchFamily="49" charset="0"/>
              </a:rPr>
              <a:t>+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', j,'</a:t>
            </a:r>
            <a:r>
              <a:rPr lang="en-GB" sz="1500" dirty="0">
                <a:solidFill>
                  <a:srgbClr val="889B4A"/>
                </a:solidFill>
                <a:latin typeface="Consolas" panose="020B0609020204030204" pitchFamily="49" charset="0"/>
              </a:rPr>
              <a:t>=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', 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i+j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0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+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100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=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100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0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+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101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=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101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+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100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=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101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+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101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=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102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+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100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=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102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+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101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=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103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C34B103-8298-40BE-BA32-EF7640A9B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1990" y="6411328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015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8" grpId="0" animBg="1"/>
      <p:bldP spid="9" grpId="0" animBg="1"/>
      <p:bldP spid="10" grpId="1" animBg="1"/>
      <p:bldP spid="10" grpId="2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E3CE7-2CE0-469E-B4BF-0FB81672734B}"/>
              </a:ext>
            </a:extLst>
          </p:cNvPr>
          <p:cNvSpPr txBox="1">
            <a:spLocks/>
          </p:cNvSpPr>
          <p:nvPr/>
        </p:nvSpPr>
        <p:spPr>
          <a:xfrm>
            <a:off x="1097280" y="58004"/>
            <a:ext cx="9986356" cy="1052670"/>
          </a:xfrm>
          <a:prstGeom prst="rect">
            <a:avLst/>
          </a:prstGeom>
        </p:spPr>
        <p:txBody>
          <a:bodyPr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800" dirty="0">
                <a:latin typeface="Arial" panose="020B0604020202020204" pitchFamily="34" charset="0"/>
                <a:cs typeface="Arial" panose="020B0604020202020204" pitchFamily="34" charset="0"/>
              </a:rPr>
              <a:t>Python Basics</a:t>
            </a:r>
            <a:b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Logical Operations</a:t>
            </a:r>
            <a:endParaRPr lang="en-GB" sz="2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347C98-4955-4A86-8A71-DB53E01B0FCA}"/>
              </a:ext>
            </a:extLst>
          </p:cNvPr>
          <p:cNvSpPr/>
          <p:nvPr/>
        </p:nvSpPr>
        <p:spPr>
          <a:xfrm>
            <a:off x="1211071" y="1362158"/>
            <a:ext cx="1669289" cy="50436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6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age = </a:t>
            </a:r>
            <a:r>
              <a:rPr lang="en-GB" sz="1600" dirty="0">
                <a:solidFill>
                  <a:srgbClr val="F79A32"/>
                </a:solidFill>
                <a:latin typeface="Consolas" panose="020B0609020204030204" pitchFamily="49" charset="0"/>
              </a:rPr>
              <a:t>18</a:t>
            </a:r>
            <a:endParaRPr lang="en-GB" sz="16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8E7CC0-D5C7-4797-8EF1-BB020DA47C07}"/>
              </a:ext>
            </a:extLst>
          </p:cNvPr>
          <p:cNvSpPr/>
          <p:nvPr/>
        </p:nvSpPr>
        <p:spPr>
          <a:xfrm>
            <a:off x="1211069" y="1945916"/>
            <a:ext cx="5837799" cy="168874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98676A"/>
                </a:solidFill>
                <a:latin typeface="Consolas" panose="020B0609020204030204" pitchFamily="49" charset="0"/>
              </a:rPr>
              <a:t>if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(age &gt;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18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and age &lt;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   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The age is over 18 and under 30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')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98676A"/>
                </a:solidFill>
                <a:latin typeface="Consolas" panose="020B0609020204030204" pitchFamily="49" charset="0"/>
              </a:rPr>
              <a:t>else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   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The age is 18, under 18 or over 30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’)</a:t>
            </a:r>
          </a:p>
          <a:p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The age is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18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under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18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or over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30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49B6AA-9488-4E82-A5B0-8C5BCE22D769}"/>
              </a:ext>
            </a:extLst>
          </p:cNvPr>
          <p:cNvSpPr/>
          <p:nvPr/>
        </p:nvSpPr>
        <p:spPr>
          <a:xfrm>
            <a:off x="1211069" y="3714054"/>
            <a:ext cx="5837799" cy="124481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600" dirty="0">
                <a:solidFill>
                  <a:srgbClr val="98676A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(age &gt;= </a:t>
            </a:r>
            <a:r>
              <a:rPr lang="en-US" sz="1600" dirty="0">
                <a:solidFill>
                  <a:srgbClr val="F79A32"/>
                </a:solidFill>
                <a:latin typeface="Consolas" panose="020B0609020204030204" pitchFamily="49" charset="0"/>
              </a:rPr>
              <a:t>18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 and age &lt;= </a:t>
            </a:r>
            <a:r>
              <a:rPr lang="en-US" sz="1600" dirty="0">
                <a:solidFill>
                  <a:srgbClr val="F79A32"/>
                </a:solidFill>
                <a:latin typeface="Consolas" panose="020B0609020204030204" pitchFamily="49" charset="0"/>
              </a:rPr>
              <a:t>30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    </a:t>
            </a:r>
            <a:r>
              <a:rPr lang="en-US" sz="16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('</a:t>
            </a:r>
            <a:r>
              <a:rPr lang="en-US" sz="1600" dirty="0">
                <a:solidFill>
                  <a:srgbClr val="889B4A"/>
                </a:solidFill>
                <a:latin typeface="Consolas" panose="020B0609020204030204" pitchFamily="49" charset="0"/>
              </a:rPr>
              <a:t>The age is between 18 to 30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’)</a:t>
            </a:r>
          </a:p>
          <a:p>
            <a:endParaRPr lang="en-US" sz="16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The age is between 18 to 30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2A6EA0-6826-4621-A9EE-9BF7C0616E04}"/>
              </a:ext>
            </a:extLst>
          </p:cNvPr>
          <p:cNvSpPr/>
          <p:nvPr/>
        </p:nvSpPr>
        <p:spPr>
          <a:xfrm>
            <a:off x="1211069" y="5038270"/>
            <a:ext cx="5837799" cy="116542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98676A"/>
                </a:solidFill>
                <a:latin typeface="Consolas" panose="020B0609020204030204" pitchFamily="49" charset="0"/>
              </a:rPr>
              <a:t>if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18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&lt;= age &lt;=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   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The age is between 18 to 30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’)</a:t>
            </a:r>
          </a:p>
          <a:p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The age is between 18 to 30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0AF079-66ED-4145-9F08-28BAF0BFD923}"/>
              </a:ext>
            </a:extLst>
          </p:cNvPr>
          <p:cNvSpPr/>
          <p:nvPr/>
        </p:nvSpPr>
        <p:spPr>
          <a:xfrm>
            <a:off x="1211069" y="1945916"/>
            <a:ext cx="5837799" cy="176813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98676A"/>
                </a:solidFill>
                <a:latin typeface="Consolas" panose="020B0609020204030204" pitchFamily="49" charset="0"/>
              </a:rPr>
              <a:t>if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(age &gt;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18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or age &lt;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   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The age is over 18 or under 30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')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98676A"/>
                </a:solidFill>
                <a:latin typeface="Consolas" panose="020B0609020204030204" pitchFamily="49" charset="0"/>
              </a:rPr>
              <a:t>else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   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The age is 18, under 18 or above 30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’)</a:t>
            </a:r>
          </a:p>
          <a:p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The age is over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18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or under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30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56C83D-A0F4-446E-89DE-60EB1DA87A77}"/>
              </a:ext>
            </a:extLst>
          </p:cNvPr>
          <p:cNvSpPr/>
          <p:nvPr/>
        </p:nvSpPr>
        <p:spPr>
          <a:xfrm>
            <a:off x="1211069" y="3852843"/>
            <a:ext cx="5837799" cy="176813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98676A"/>
                </a:solidFill>
                <a:latin typeface="Consolas" panose="020B0609020204030204" pitchFamily="49" charset="0"/>
              </a:rPr>
              <a:t>if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(not age &gt;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18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   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The age is 18 or under 18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')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98676A"/>
                </a:solidFill>
                <a:latin typeface="Consolas" panose="020B0609020204030204" pitchFamily="49" charset="0"/>
              </a:rPr>
              <a:t>else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   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The age is over 18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’)</a:t>
            </a:r>
          </a:p>
          <a:p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The age is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18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or under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18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67FC41-58E1-4B2F-802C-6185BE2E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1990" y="6420205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31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0AD32E-4228-4ECA-90D3-532BB4471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3595878" cy="167418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Working with Data</a:t>
            </a:r>
            <a:endParaRPr lang="en-GB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B57AA8-F021-480C-A9E2-F89913313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C4B11-8793-4807-A734-162C68E0D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64" y="2639380"/>
            <a:ext cx="3205049" cy="3229714"/>
          </a:xfrm>
        </p:spPr>
        <p:txBody>
          <a:bodyPr>
            <a:normAutofit/>
          </a:bodyPr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DataFrame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Data structure that organizes data into a 2-dimensional table of rows and columns.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AD24E1CC-1047-49C1-97CB-587A99FD3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258" y="920931"/>
            <a:ext cx="4468492" cy="390993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BF36B24-6632-4516-9692-73146289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880EA6-1B81-4F28-82A7-43F56F887385}"/>
              </a:ext>
            </a:extLst>
          </p:cNvPr>
          <p:cNvSpPr txBox="1"/>
          <p:nvPr/>
        </p:nvSpPr>
        <p:spPr>
          <a:xfrm>
            <a:off x="878911" y="2639380"/>
            <a:ext cx="32724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Pandas: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Python package providing fast, flexible, and expressive data structure.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Table 12">
            <a:extLst>
              <a:ext uri="{FF2B5EF4-FFF2-40B4-BE49-F238E27FC236}">
                <a16:creationId xmlns:a16="http://schemas.microsoft.com/office/drawing/2014/main" id="{38143E61-E0CA-47BB-86C7-88808D16D5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867689"/>
              </p:ext>
            </p:extLst>
          </p:nvPr>
        </p:nvGraphicFramePr>
        <p:xfrm>
          <a:off x="4850408" y="1763376"/>
          <a:ext cx="2024758" cy="27686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928955">
                  <a:extLst>
                    <a:ext uri="{9D8B030D-6E8A-4147-A177-3AD203B41FA5}">
                      <a16:colId xmlns:a16="http://schemas.microsoft.com/office/drawing/2014/main" val="937536842"/>
                    </a:ext>
                  </a:extLst>
                </a:gridCol>
                <a:gridCol w="1095803">
                  <a:extLst>
                    <a:ext uri="{9D8B030D-6E8A-4147-A177-3AD203B41FA5}">
                      <a16:colId xmlns:a16="http://schemas.microsoft.com/office/drawing/2014/main" val="1074880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Index</a:t>
                      </a:r>
                      <a:endParaRPr lang="en-GB" sz="18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2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Age</a:t>
                      </a:r>
                      <a:endParaRPr lang="en-GB" sz="18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2A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258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3F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3F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056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6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6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19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74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74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839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</a:t>
                      </a:r>
                    </a:p>
                    <a:p>
                      <a:pPr algn="ctr"/>
                      <a:r>
                        <a:rPr lang="en-US" dirty="0"/>
                        <a:t>.</a:t>
                      </a:r>
                    </a:p>
                    <a:p>
                      <a:pPr algn="ctr"/>
                      <a:r>
                        <a:rPr lang="en-US" dirty="0"/>
                        <a:t>.</a:t>
                      </a:r>
                      <a:endParaRPr lang="en-GB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</a:t>
                      </a:r>
                    </a:p>
                    <a:p>
                      <a:pPr algn="ctr"/>
                      <a:r>
                        <a:rPr lang="en-US" dirty="0"/>
                        <a:t>.</a:t>
                      </a:r>
                    </a:p>
                    <a:p>
                      <a:pPr algn="ctr"/>
                      <a:r>
                        <a:rPr lang="en-US" dirty="0"/>
                        <a:t>.</a:t>
                      </a:r>
                      <a:endParaRPr lang="en-GB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730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2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2A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52637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6D1A947-ABD2-4D6B-B9EF-0BBCBF755997}"/>
              </a:ext>
            </a:extLst>
          </p:cNvPr>
          <p:cNvSpPr txBox="1"/>
          <p:nvPr/>
        </p:nvSpPr>
        <p:spPr>
          <a:xfrm>
            <a:off x="5396484" y="1254193"/>
            <a:ext cx="1179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Series</a:t>
            </a:r>
            <a:endParaRPr lang="en-GB" b="1" dirty="0"/>
          </a:p>
        </p:txBody>
      </p:sp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FAC36F95-46BB-4033-A961-C990AC5EF0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704782"/>
              </p:ext>
            </p:extLst>
          </p:nvPr>
        </p:nvGraphicFramePr>
        <p:xfrm>
          <a:off x="7201940" y="1763376"/>
          <a:ext cx="3472884" cy="276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7628">
                  <a:extLst>
                    <a:ext uri="{9D8B030D-6E8A-4147-A177-3AD203B41FA5}">
                      <a16:colId xmlns:a16="http://schemas.microsoft.com/office/drawing/2014/main" val="1056612314"/>
                    </a:ext>
                  </a:extLst>
                </a:gridCol>
                <a:gridCol w="1157628">
                  <a:extLst>
                    <a:ext uri="{9D8B030D-6E8A-4147-A177-3AD203B41FA5}">
                      <a16:colId xmlns:a16="http://schemas.microsoft.com/office/drawing/2014/main" val="479550907"/>
                    </a:ext>
                  </a:extLst>
                </a:gridCol>
                <a:gridCol w="1157628">
                  <a:extLst>
                    <a:ext uri="{9D8B030D-6E8A-4147-A177-3AD203B41FA5}">
                      <a16:colId xmlns:a16="http://schemas.microsoft.com/office/drawing/2014/main" val="4060658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Index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2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2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Salary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2A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400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</a:t>
                      </a:r>
                      <a:endParaRPr lang="en-GB" sz="180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3F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18</a:t>
                      </a:r>
                      <a:endParaRPr lang="en-GB" sz="180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3F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22K</a:t>
                      </a:r>
                      <a:endParaRPr lang="en-GB" sz="180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3F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56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E6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E6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50K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E6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9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C74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C74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30K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C74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306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EB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EB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EB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524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2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2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28K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2A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75184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D7F7BF0B-89D7-4560-B6C2-75564D37190B}"/>
              </a:ext>
            </a:extLst>
          </p:cNvPr>
          <p:cNvSpPr txBox="1"/>
          <p:nvPr/>
        </p:nvSpPr>
        <p:spPr>
          <a:xfrm>
            <a:off x="8290032" y="1256215"/>
            <a:ext cx="1296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DataFrame</a:t>
            </a:r>
            <a:endParaRPr lang="en-GB" b="1" dirty="0"/>
          </a:p>
        </p:txBody>
      </p:sp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D7FC4306-E560-4A5F-9191-9A507CAD1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54" y="643468"/>
            <a:ext cx="5272688" cy="4650908"/>
          </a:xfrm>
          <a:prstGeom prst="rect">
            <a:avLst/>
          </a:prstGeom>
        </p:spPr>
      </p:pic>
      <p:pic>
        <p:nvPicPr>
          <p:cNvPr id="18" name="Picture 17" descr="Text&#10;&#10;Description automatically generated">
            <a:extLst>
              <a:ext uri="{FF2B5EF4-FFF2-40B4-BE49-F238E27FC236}">
                <a16:creationId xmlns:a16="http://schemas.microsoft.com/office/drawing/2014/main" id="{ED1E72CC-8786-43A4-8ABB-1572DC830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2110" y="301229"/>
            <a:ext cx="5198731" cy="685405"/>
          </a:xfrm>
          <a:prstGeom prst="rect">
            <a:avLst/>
          </a:prstGeom>
        </p:spPr>
      </p:pic>
      <p:pic>
        <p:nvPicPr>
          <p:cNvPr id="20" name="Picture 19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E868CD0B-0569-40BC-92FD-18CA7A30CC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7850" y="1285520"/>
            <a:ext cx="5231270" cy="484942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C598E-F12E-4C80-ADD4-380EAC450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1990" y="6423606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579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6" grpId="0"/>
      <p:bldP spid="6" grpId="1"/>
      <p:bldP spid="13" grpId="0"/>
      <p:bldP spid="13" grpId="1"/>
      <p:bldP spid="16" grpId="0"/>
      <p:bldP spid="16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3FF2E-23E0-4E03-A009-B4F205E14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Working with Data</a:t>
            </a:r>
            <a:br>
              <a:rPr lang="en-US" sz="4800" dirty="0"/>
            </a:b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pandas</a:t>
            </a:r>
            <a:endParaRPr lang="en-GB" sz="2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83F6AE-2D42-4393-888F-D6FB2888CBA8}"/>
              </a:ext>
            </a:extLst>
          </p:cNvPr>
          <p:cNvSpPr/>
          <p:nvPr/>
        </p:nvSpPr>
        <p:spPr>
          <a:xfrm>
            <a:off x="1211084" y="1995903"/>
            <a:ext cx="3580372" cy="50436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>
                <a:solidFill>
                  <a:srgbClr val="98676A"/>
                </a:solidFill>
                <a:latin typeface="Consolas" panose="020B0609020204030204" pitchFamily="49" charset="0"/>
              </a:rPr>
              <a:t>import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pandas </a:t>
            </a:r>
            <a:r>
              <a:rPr lang="en-GB" sz="1500" dirty="0">
                <a:solidFill>
                  <a:srgbClr val="98676A"/>
                </a:solidFill>
                <a:latin typeface="Consolas" panose="020B0609020204030204" pitchFamily="49" charset="0"/>
              </a:rPr>
              <a:t>as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pd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5C4387-10DA-42C4-A8DB-0972ED5A56F3}"/>
              </a:ext>
            </a:extLst>
          </p:cNvPr>
          <p:cNvSpPr/>
          <p:nvPr/>
        </p:nvSpPr>
        <p:spPr>
          <a:xfrm>
            <a:off x="1211084" y="2614069"/>
            <a:ext cx="4705084" cy="21890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BR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num = [</a:t>
            </a:r>
            <a:r>
              <a:rPr lang="pt-BR" sz="1500" dirty="0">
                <a:solidFill>
                  <a:srgbClr val="F79A32"/>
                </a:solidFill>
                <a:latin typeface="Consolas" panose="020B0609020204030204" pitchFamily="49" charset="0"/>
              </a:rPr>
              <a:t>10</a:t>
            </a:r>
            <a:r>
              <a:rPr lang="pt-BR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pt-BR" sz="1500" dirty="0">
                <a:solidFill>
                  <a:srgbClr val="F79A32"/>
                </a:solidFill>
                <a:latin typeface="Consolas" panose="020B0609020204030204" pitchFamily="49" charset="0"/>
              </a:rPr>
              <a:t>20</a:t>
            </a:r>
            <a:r>
              <a:rPr lang="pt-BR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pt-BR" sz="1500" dirty="0">
                <a:solidFill>
                  <a:srgbClr val="F79A32"/>
                </a:solidFill>
                <a:latin typeface="Consolas" panose="020B0609020204030204" pitchFamily="49" charset="0"/>
              </a:rPr>
              <a:t>30</a:t>
            </a:r>
            <a:r>
              <a:rPr lang="pt-BR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pt-BR" sz="1500" dirty="0">
                <a:solidFill>
                  <a:srgbClr val="F79A32"/>
                </a:solidFill>
                <a:latin typeface="Consolas" panose="020B0609020204030204" pitchFamily="49" charset="0"/>
              </a:rPr>
              <a:t>40</a:t>
            </a:r>
            <a:r>
              <a:rPr lang="pt-BR" sz="1500" dirty="0">
                <a:solidFill>
                  <a:srgbClr val="D3AF86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pt-BR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df = pd.DataFrame(num, </a:t>
            </a:r>
            <a:r>
              <a:rPr lang="pt-BR" sz="1500" dirty="0">
                <a:solidFill>
                  <a:srgbClr val="DC3958"/>
                </a:solidFill>
                <a:latin typeface="Consolas" panose="020B0609020204030204" pitchFamily="49" charset="0"/>
              </a:rPr>
              <a:t>columns</a:t>
            </a:r>
            <a:r>
              <a:rPr lang="pt-BR" sz="1500" dirty="0">
                <a:solidFill>
                  <a:srgbClr val="D3AF86"/>
                </a:solidFill>
                <a:latin typeface="Consolas" panose="020B0609020204030204" pitchFamily="49" charset="0"/>
              </a:rPr>
              <a:t> = ['</a:t>
            </a:r>
            <a:r>
              <a:rPr lang="pt-BR" sz="1500" dirty="0">
                <a:solidFill>
                  <a:srgbClr val="889B4A"/>
                </a:solidFill>
                <a:latin typeface="Consolas" panose="020B0609020204030204" pitchFamily="49" charset="0"/>
              </a:rPr>
              <a:t>X</a:t>
            </a:r>
            <a:r>
              <a:rPr lang="pt-BR" sz="1500" dirty="0">
                <a:solidFill>
                  <a:srgbClr val="D3AF86"/>
                </a:solidFill>
                <a:latin typeface="Consolas" panose="020B0609020204030204" pitchFamily="49" charset="0"/>
              </a:rPr>
              <a:t>'])</a:t>
            </a:r>
          </a:p>
          <a:p>
            <a:r>
              <a:rPr lang="pt-BR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pt-BR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pt-BR" sz="1500" dirty="0">
                <a:solidFill>
                  <a:srgbClr val="D3AF86"/>
                </a:solidFill>
                <a:latin typeface="Consolas" panose="020B0609020204030204" pitchFamily="49" charset="0"/>
              </a:rPr>
              <a:t>(df)</a:t>
            </a:r>
          </a:p>
          <a:p>
            <a:endParaRPr lang="pt-BR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    X</a:t>
            </a:r>
          </a:p>
          <a:p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0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 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10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 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20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 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30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 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40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FB1623-B037-4DB1-95E2-9D2BB95F1D0E}"/>
              </a:ext>
            </a:extLst>
          </p:cNvPr>
          <p:cNvSpPr/>
          <p:nvPr/>
        </p:nvSpPr>
        <p:spPr>
          <a:xfrm>
            <a:off x="6000762" y="2614069"/>
            <a:ext cx="3127248" cy="21890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fr-FR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fr-FR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df</a:t>
            </a:r>
            <a:r>
              <a:rPr lang="fr-FR" sz="1500" dirty="0">
                <a:solidFill>
                  <a:srgbClr val="D3AF86"/>
                </a:solidFill>
                <a:latin typeface="Consolas" panose="020B0609020204030204" pitchFamily="49" charset="0"/>
              </a:rPr>
              <a:t>['</a:t>
            </a:r>
            <a:r>
              <a:rPr lang="fr-FR" sz="1500" dirty="0">
                <a:solidFill>
                  <a:srgbClr val="889B4A"/>
                </a:solidFill>
                <a:latin typeface="Consolas" panose="020B0609020204030204" pitchFamily="49" charset="0"/>
              </a:rPr>
              <a:t>plus_2</a:t>
            </a:r>
            <a:r>
              <a:rPr lang="fr-FR" sz="1500" dirty="0">
                <a:solidFill>
                  <a:srgbClr val="D3AF86"/>
                </a:solidFill>
                <a:latin typeface="Consolas" panose="020B0609020204030204" pitchFamily="49" charset="0"/>
              </a:rPr>
              <a:t>'] = </a:t>
            </a:r>
            <a:r>
              <a:rPr lang="fr-FR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df</a:t>
            </a:r>
            <a:r>
              <a:rPr lang="fr-FR" sz="1500" dirty="0">
                <a:solidFill>
                  <a:srgbClr val="D3AF86"/>
                </a:solidFill>
                <a:latin typeface="Consolas" panose="020B0609020204030204" pitchFamily="49" charset="0"/>
              </a:rPr>
              <a:t>['</a:t>
            </a:r>
            <a:r>
              <a:rPr lang="fr-FR" sz="1500" dirty="0">
                <a:solidFill>
                  <a:srgbClr val="889B4A"/>
                </a:solidFill>
                <a:latin typeface="Consolas" panose="020B0609020204030204" pitchFamily="49" charset="0"/>
              </a:rPr>
              <a:t>X</a:t>
            </a:r>
            <a:r>
              <a:rPr lang="fr-FR" sz="1500" dirty="0">
                <a:solidFill>
                  <a:srgbClr val="D3AF86"/>
                </a:solidFill>
                <a:latin typeface="Consolas" panose="020B0609020204030204" pitchFamily="49" charset="0"/>
              </a:rPr>
              <a:t>']+</a:t>
            </a:r>
            <a:r>
              <a:rPr lang="fr-FR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endParaRPr lang="fr-FR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fr-FR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fr-FR" sz="1500" dirty="0" err="1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fr-FR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fr-FR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df</a:t>
            </a:r>
            <a:r>
              <a:rPr lang="fr-FR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endParaRPr lang="fr-FR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fr-FR" sz="1500" dirty="0">
                <a:solidFill>
                  <a:srgbClr val="D3AF86"/>
                </a:solidFill>
                <a:latin typeface="Consolas" panose="020B0609020204030204" pitchFamily="49" charset="0"/>
              </a:rPr>
              <a:t>    X  plus_2</a:t>
            </a:r>
          </a:p>
          <a:p>
            <a:r>
              <a:rPr lang="fr-FR" sz="1500" dirty="0">
                <a:solidFill>
                  <a:srgbClr val="F79A32"/>
                </a:solidFill>
                <a:latin typeface="Consolas" panose="020B0609020204030204" pitchFamily="49" charset="0"/>
              </a:rPr>
              <a:t>0</a:t>
            </a:r>
            <a:r>
              <a:rPr lang="fr-FR" sz="1500" dirty="0">
                <a:solidFill>
                  <a:srgbClr val="D3AF86"/>
                </a:solidFill>
                <a:latin typeface="Consolas" panose="020B0609020204030204" pitchFamily="49" charset="0"/>
              </a:rPr>
              <a:t>  </a:t>
            </a:r>
            <a:r>
              <a:rPr lang="fr-FR" sz="1500" dirty="0">
                <a:solidFill>
                  <a:srgbClr val="F79A32"/>
                </a:solidFill>
                <a:latin typeface="Consolas" panose="020B0609020204030204" pitchFamily="49" charset="0"/>
              </a:rPr>
              <a:t>10</a:t>
            </a:r>
            <a:r>
              <a:rPr lang="fr-FR" sz="1500" dirty="0">
                <a:solidFill>
                  <a:srgbClr val="D3AF86"/>
                </a:solidFill>
                <a:latin typeface="Consolas" panose="020B0609020204030204" pitchFamily="49" charset="0"/>
              </a:rPr>
              <a:t>      </a:t>
            </a:r>
            <a:r>
              <a:rPr lang="fr-FR" sz="1500" dirty="0">
                <a:solidFill>
                  <a:srgbClr val="F79A32"/>
                </a:solidFill>
                <a:latin typeface="Consolas" panose="020B0609020204030204" pitchFamily="49" charset="0"/>
              </a:rPr>
              <a:t>12</a:t>
            </a:r>
            <a:endParaRPr lang="fr-FR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fr-FR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fr-FR" sz="1500" dirty="0">
                <a:solidFill>
                  <a:srgbClr val="D3AF86"/>
                </a:solidFill>
                <a:latin typeface="Consolas" panose="020B0609020204030204" pitchFamily="49" charset="0"/>
              </a:rPr>
              <a:t>  </a:t>
            </a:r>
            <a:r>
              <a:rPr lang="fr-FR" sz="1500" dirty="0">
                <a:solidFill>
                  <a:srgbClr val="F79A32"/>
                </a:solidFill>
                <a:latin typeface="Consolas" panose="020B0609020204030204" pitchFamily="49" charset="0"/>
              </a:rPr>
              <a:t>20</a:t>
            </a:r>
            <a:r>
              <a:rPr lang="fr-FR" sz="1500" dirty="0">
                <a:solidFill>
                  <a:srgbClr val="D3AF86"/>
                </a:solidFill>
                <a:latin typeface="Consolas" panose="020B0609020204030204" pitchFamily="49" charset="0"/>
              </a:rPr>
              <a:t>      </a:t>
            </a:r>
            <a:r>
              <a:rPr lang="fr-FR" sz="1500" dirty="0">
                <a:solidFill>
                  <a:srgbClr val="F79A32"/>
                </a:solidFill>
                <a:latin typeface="Consolas" panose="020B0609020204030204" pitchFamily="49" charset="0"/>
              </a:rPr>
              <a:t>22</a:t>
            </a:r>
            <a:endParaRPr lang="fr-FR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fr-FR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fr-FR" sz="1500" dirty="0">
                <a:solidFill>
                  <a:srgbClr val="D3AF86"/>
                </a:solidFill>
                <a:latin typeface="Consolas" panose="020B0609020204030204" pitchFamily="49" charset="0"/>
              </a:rPr>
              <a:t>  </a:t>
            </a:r>
            <a:r>
              <a:rPr lang="fr-FR" sz="1500" dirty="0">
                <a:solidFill>
                  <a:srgbClr val="F79A32"/>
                </a:solidFill>
                <a:latin typeface="Consolas" panose="020B0609020204030204" pitchFamily="49" charset="0"/>
              </a:rPr>
              <a:t>30</a:t>
            </a:r>
            <a:r>
              <a:rPr lang="fr-FR" sz="1500" dirty="0">
                <a:solidFill>
                  <a:srgbClr val="D3AF86"/>
                </a:solidFill>
                <a:latin typeface="Consolas" panose="020B0609020204030204" pitchFamily="49" charset="0"/>
              </a:rPr>
              <a:t>      </a:t>
            </a:r>
            <a:r>
              <a:rPr lang="fr-FR" sz="1500" dirty="0">
                <a:solidFill>
                  <a:srgbClr val="F79A32"/>
                </a:solidFill>
                <a:latin typeface="Consolas" panose="020B0609020204030204" pitchFamily="49" charset="0"/>
              </a:rPr>
              <a:t>32</a:t>
            </a:r>
            <a:endParaRPr lang="fr-FR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fr-FR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fr-FR" sz="1500" dirty="0">
                <a:solidFill>
                  <a:srgbClr val="D3AF86"/>
                </a:solidFill>
                <a:latin typeface="Consolas" panose="020B0609020204030204" pitchFamily="49" charset="0"/>
              </a:rPr>
              <a:t>  </a:t>
            </a:r>
            <a:r>
              <a:rPr lang="fr-FR" sz="1500" dirty="0">
                <a:solidFill>
                  <a:srgbClr val="F79A32"/>
                </a:solidFill>
                <a:latin typeface="Consolas" panose="020B0609020204030204" pitchFamily="49" charset="0"/>
              </a:rPr>
              <a:t>40</a:t>
            </a:r>
            <a:r>
              <a:rPr lang="fr-FR" sz="1500" dirty="0">
                <a:solidFill>
                  <a:srgbClr val="D3AF86"/>
                </a:solidFill>
                <a:latin typeface="Consolas" panose="020B0609020204030204" pitchFamily="49" charset="0"/>
              </a:rPr>
              <a:t>      </a:t>
            </a:r>
            <a:r>
              <a:rPr lang="fr-FR" sz="1500" dirty="0">
                <a:solidFill>
                  <a:srgbClr val="F79A32"/>
                </a:solidFill>
                <a:latin typeface="Consolas" panose="020B0609020204030204" pitchFamily="49" charset="0"/>
              </a:rPr>
              <a:t>42</a:t>
            </a:r>
            <a:endParaRPr lang="fr-FR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E12862-BDC9-479B-B1FB-D181192CEE68}"/>
              </a:ext>
            </a:extLst>
          </p:cNvPr>
          <p:cNvSpPr/>
          <p:nvPr/>
        </p:nvSpPr>
        <p:spPr>
          <a:xfrm>
            <a:off x="9211843" y="2614069"/>
            <a:ext cx="2913888" cy="2189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fr-FR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fr-FR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df</a:t>
            </a:r>
            <a:r>
              <a:rPr lang="fr-FR" sz="1500" dirty="0">
                <a:solidFill>
                  <a:srgbClr val="D3AF86"/>
                </a:solidFill>
                <a:latin typeface="Consolas" panose="020B0609020204030204" pitchFamily="49" charset="0"/>
              </a:rPr>
              <a:t> = </a:t>
            </a:r>
            <a:r>
              <a:rPr lang="fr-FR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df.drop</a:t>
            </a:r>
            <a:r>
              <a:rPr lang="fr-FR" sz="1500" dirty="0">
                <a:solidFill>
                  <a:srgbClr val="D3AF86"/>
                </a:solidFill>
                <a:latin typeface="Consolas" panose="020B0609020204030204" pitchFamily="49" charset="0"/>
              </a:rPr>
              <a:t>('</a:t>
            </a:r>
            <a:r>
              <a:rPr lang="fr-FR" sz="1500" dirty="0">
                <a:solidFill>
                  <a:srgbClr val="889B4A"/>
                </a:solidFill>
                <a:latin typeface="Consolas" panose="020B0609020204030204" pitchFamily="49" charset="0"/>
              </a:rPr>
              <a:t>plus_2</a:t>
            </a:r>
            <a:r>
              <a:rPr lang="fr-FR" sz="1500" dirty="0">
                <a:solidFill>
                  <a:srgbClr val="D3AF86"/>
                </a:solidFill>
                <a:latin typeface="Consolas" panose="020B0609020204030204" pitchFamily="49" charset="0"/>
              </a:rPr>
              <a:t>', </a:t>
            </a:r>
            <a:r>
              <a:rPr lang="fr-FR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fr-FR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fr-FR" sz="1500" dirty="0" err="1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fr-FR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fr-FR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df</a:t>
            </a:r>
            <a:r>
              <a:rPr lang="fr-FR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endParaRPr lang="fr-FR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    X</a:t>
            </a:r>
          </a:p>
          <a:p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0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 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10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 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20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 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30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 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40</a:t>
            </a:r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175B61-9599-482B-B795-469440336C4A}"/>
              </a:ext>
            </a:extLst>
          </p:cNvPr>
          <p:cNvSpPr/>
          <p:nvPr/>
        </p:nvSpPr>
        <p:spPr>
          <a:xfrm>
            <a:off x="7662753" y="4276486"/>
            <a:ext cx="4273296" cy="175779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F79A32"/>
                </a:solidFill>
                <a:latin typeface="Consolas" panose="020B0609020204030204" pitchFamily="49" charset="0"/>
              </a:rPr>
              <a:t>SID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   Name             Field</a:t>
            </a:r>
          </a:p>
          <a:p>
            <a:r>
              <a:rPr lang="en-US" sz="1600" dirty="0">
                <a:solidFill>
                  <a:srgbClr val="F79A32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  </a:t>
            </a:r>
            <a:r>
              <a:rPr lang="en-US" sz="1600" dirty="0">
                <a:solidFill>
                  <a:srgbClr val="F79A32"/>
                </a:solidFill>
                <a:latin typeface="Consolas" panose="020B0609020204030204" pitchFamily="49" charset="0"/>
              </a:rPr>
              <a:t>1254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   John  Computer Science</a:t>
            </a:r>
          </a:p>
          <a:p>
            <a:r>
              <a:rPr lang="en-US" sz="16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  </a:t>
            </a:r>
            <a:r>
              <a:rPr lang="en-US" sz="1600" dirty="0">
                <a:solidFill>
                  <a:srgbClr val="F79A32"/>
                </a:solidFill>
                <a:latin typeface="Consolas" panose="020B0609020204030204" pitchFamily="49" charset="0"/>
              </a:rPr>
              <a:t>1255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    Ben               Law</a:t>
            </a:r>
          </a:p>
          <a:p>
            <a:r>
              <a:rPr lang="en-US" sz="16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  </a:t>
            </a:r>
            <a:r>
              <a:rPr lang="en-US" sz="1600" dirty="0">
                <a:solidFill>
                  <a:srgbClr val="F79A32"/>
                </a:solidFill>
                <a:latin typeface="Consolas" panose="020B0609020204030204" pitchFamily="49" charset="0"/>
              </a:rPr>
              <a:t>1256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  Emily         	Finance</a:t>
            </a:r>
          </a:p>
          <a:p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5E7A28-A00D-4564-8F27-77B57FEAB401}"/>
              </a:ext>
            </a:extLst>
          </p:cNvPr>
          <p:cNvSpPr/>
          <p:nvPr/>
        </p:nvSpPr>
        <p:spPr>
          <a:xfrm>
            <a:off x="1201652" y="2614069"/>
            <a:ext cx="5774932" cy="9789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sid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= [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12547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12548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12549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name = ['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John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Ben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Emily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']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field = ['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Computer Science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Law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', ‘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Finance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03AF73-577B-481E-9249-770BF5059E06}"/>
              </a:ext>
            </a:extLst>
          </p:cNvPr>
          <p:cNvSpPr/>
          <p:nvPr/>
        </p:nvSpPr>
        <p:spPr>
          <a:xfrm>
            <a:off x="1201652" y="3699655"/>
            <a:ext cx="6362734" cy="123174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A57A4C"/>
                </a:solidFill>
                <a:latin typeface="Consolas" panose="020B0609020204030204" pitchFamily="49" charset="0"/>
              </a:rPr>
              <a:t># First Approach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students =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pd.DataFrame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({'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SID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':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sid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Name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': names,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Field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': field})</a:t>
            </a:r>
          </a:p>
          <a:p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(students)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4BFCC6-D704-47DA-AF3A-DF6DD7B88E0A}"/>
              </a:ext>
            </a:extLst>
          </p:cNvPr>
          <p:cNvSpPr/>
          <p:nvPr/>
        </p:nvSpPr>
        <p:spPr>
          <a:xfrm>
            <a:off x="1211085" y="5016800"/>
            <a:ext cx="6362733" cy="123174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A57A4C"/>
                </a:solidFill>
                <a:latin typeface="Consolas" panose="020B0609020204030204" pitchFamily="49" charset="0"/>
              </a:rPr>
              <a:t># Second Approach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students = </a:t>
            </a:r>
            <a:r>
              <a:rPr lang="en-US" sz="1600" dirty="0" err="1">
                <a:solidFill>
                  <a:srgbClr val="D3AF86"/>
                </a:solidFill>
                <a:latin typeface="Consolas" panose="020B0609020204030204" pitchFamily="49" charset="0"/>
              </a:rPr>
              <a:t>pd.DataFrame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([</a:t>
            </a:r>
            <a:r>
              <a:rPr lang="en-US" sz="1600" dirty="0" err="1">
                <a:solidFill>
                  <a:srgbClr val="D3AF86"/>
                </a:solidFill>
                <a:latin typeface="Consolas" panose="020B0609020204030204" pitchFamily="49" charset="0"/>
              </a:rPr>
              <a:t>sid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, names, field], </a:t>
            </a:r>
            <a:r>
              <a:rPr lang="en-US" sz="1600" dirty="0">
                <a:solidFill>
                  <a:srgbClr val="DC3958"/>
                </a:solidFill>
                <a:latin typeface="Consolas" panose="020B0609020204030204" pitchFamily="49" charset="0"/>
              </a:rPr>
              <a:t>columns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=['</a:t>
            </a:r>
            <a:r>
              <a:rPr lang="en-US" sz="1600" dirty="0">
                <a:solidFill>
                  <a:srgbClr val="889B4A"/>
                </a:solidFill>
                <a:latin typeface="Consolas" panose="020B0609020204030204" pitchFamily="49" charset="0"/>
              </a:rPr>
              <a:t>SID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US" sz="1600" dirty="0">
                <a:solidFill>
                  <a:srgbClr val="889B4A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US" sz="1600" dirty="0">
                <a:solidFill>
                  <a:srgbClr val="889B4A"/>
                </a:solidFill>
                <a:latin typeface="Consolas" panose="020B0609020204030204" pitchFamily="49" charset="0"/>
              </a:rPr>
              <a:t>Field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'])</a:t>
            </a:r>
          </a:p>
          <a:p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(students)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79262C-3EBF-42C6-B48B-28D85159D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1990" y="6402450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484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1" grpId="0" animBg="1"/>
      <p:bldP spid="12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AC883-3B71-4984-9C2C-7D34BBA846B9}"/>
              </a:ext>
            </a:extLst>
          </p:cNvPr>
          <p:cNvSpPr txBox="1">
            <a:spLocks/>
          </p:cNvSpPr>
          <p:nvPr/>
        </p:nvSpPr>
        <p:spPr>
          <a:xfrm>
            <a:off x="1097280" y="286604"/>
            <a:ext cx="9986356" cy="1052670"/>
          </a:xfrm>
          <a:prstGeom prst="rect">
            <a:avLst/>
          </a:prstGeom>
        </p:spPr>
        <p:txBody>
          <a:bodyPr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900" dirty="0">
                <a:latin typeface="Arial" panose="020B0604020202020204" pitchFamily="34" charset="0"/>
                <a:cs typeface="Arial" panose="020B0604020202020204" pitchFamily="34" charset="0"/>
              </a:rPr>
              <a:t>Working with Data</a:t>
            </a:r>
            <a:br>
              <a:rPr lang="en-US" sz="6000" dirty="0"/>
            </a:b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pandas</a:t>
            </a:r>
            <a:endParaRPr lang="en-GB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2F398B-53D6-492D-BFD4-D29416662FC0}"/>
              </a:ext>
            </a:extLst>
          </p:cNvPr>
          <p:cNvSpPr/>
          <p:nvPr/>
        </p:nvSpPr>
        <p:spPr>
          <a:xfrm>
            <a:off x="1183375" y="1441721"/>
            <a:ext cx="3589794" cy="128319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   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SID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  Name             Field</a:t>
            </a:r>
          </a:p>
          <a:p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 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1254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  John  Computer Science</a:t>
            </a:r>
          </a:p>
          <a:p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 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1255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   Ben               Law</a:t>
            </a:r>
          </a:p>
          <a:p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 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1256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 Emily           Finance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188CB6-DBC5-4F05-B178-9C6602377543}"/>
              </a:ext>
            </a:extLst>
          </p:cNvPr>
          <p:cNvSpPr/>
          <p:nvPr/>
        </p:nvSpPr>
        <p:spPr>
          <a:xfrm>
            <a:off x="1183375" y="2849898"/>
            <a:ext cx="3589794" cy="14020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(students['</a:t>
            </a:r>
            <a:r>
              <a:rPr lang="en-GB" sz="1500" dirty="0">
                <a:solidFill>
                  <a:srgbClr val="889B4A"/>
                </a:solidFill>
                <a:latin typeface="Consolas" panose="020B0609020204030204" pitchFamily="49" charset="0"/>
              </a:rPr>
              <a:t>Name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'])</a:t>
            </a:r>
          </a:p>
          <a:p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    John</a:t>
            </a:r>
          </a:p>
          <a:p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     Ben</a:t>
            </a:r>
          </a:p>
          <a:p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   Emily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Name: Name,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dtype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: object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A67C3E-6BA4-4C0F-9B09-BE40365F9ABC}"/>
              </a:ext>
            </a:extLst>
          </p:cNvPr>
          <p:cNvSpPr/>
          <p:nvPr/>
        </p:nvSpPr>
        <p:spPr>
          <a:xfrm>
            <a:off x="1183374" y="4316002"/>
            <a:ext cx="4339601" cy="175561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6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D3AF86"/>
                </a:solidFill>
                <a:latin typeface="Consolas" panose="020B0609020204030204" pitchFamily="49" charset="0"/>
              </a:rPr>
              <a:t>students.iloc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[:, :])</a:t>
            </a:r>
          </a:p>
          <a:p>
            <a:b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F79A32"/>
                </a:solidFill>
                <a:latin typeface="Consolas" panose="020B0609020204030204" pitchFamily="49" charset="0"/>
              </a:rPr>
              <a:t>SID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   Name             Field</a:t>
            </a:r>
          </a:p>
          <a:p>
            <a:r>
              <a:rPr lang="en-US" sz="1600" dirty="0">
                <a:solidFill>
                  <a:srgbClr val="F79A32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  </a:t>
            </a:r>
            <a:r>
              <a:rPr lang="en-US" sz="1600" dirty="0">
                <a:solidFill>
                  <a:srgbClr val="F79A32"/>
                </a:solidFill>
                <a:latin typeface="Consolas" panose="020B0609020204030204" pitchFamily="49" charset="0"/>
              </a:rPr>
              <a:t>1254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   John  Computer Science</a:t>
            </a:r>
          </a:p>
          <a:p>
            <a:r>
              <a:rPr lang="en-US" sz="16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  </a:t>
            </a:r>
            <a:r>
              <a:rPr lang="en-US" sz="1600" dirty="0">
                <a:solidFill>
                  <a:srgbClr val="F79A32"/>
                </a:solidFill>
                <a:latin typeface="Consolas" panose="020B0609020204030204" pitchFamily="49" charset="0"/>
              </a:rPr>
              <a:t>1255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    Ben               Law</a:t>
            </a:r>
          </a:p>
          <a:p>
            <a:r>
              <a:rPr lang="en-US" sz="16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  </a:t>
            </a:r>
            <a:r>
              <a:rPr lang="en-US" sz="1600" dirty="0">
                <a:solidFill>
                  <a:srgbClr val="F79A32"/>
                </a:solidFill>
                <a:latin typeface="Consolas" panose="020B0609020204030204" pitchFamily="49" charset="0"/>
              </a:rPr>
              <a:t>1256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  Emily           Finance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A15D6B-7F7B-478F-BE72-DFC89CD0582E}"/>
              </a:ext>
            </a:extLst>
          </p:cNvPr>
          <p:cNvSpPr/>
          <p:nvPr/>
        </p:nvSpPr>
        <p:spPr>
          <a:xfrm>
            <a:off x="5879591" y="1441721"/>
            <a:ext cx="4339601" cy="15106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students.iloc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[:,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: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])</a:t>
            </a:r>
          </a:p>
          <a:p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    Name</a:t>
            </a:r>
          </a:p>
          <a:p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  John</a:t>
            </a:r>
          </a:p>
          <a:p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   Ben</a:t>
            </a:r>
          </a:p>
          <a:p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 Emily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A889A0-5351-4ABE-B565-0D6F48CDADC8}"/>
              </a:ext>
            </a:extLst>
          </p:cNvPr>
          <p:cNvSpPr/>
          <p:nvPr/>
        </p:nvSpPr>
        <p:spPr>
          <a:xfrm>
            <a:off x="5879590" y="3001356"/>
            <a:ext cx="4339601" cy="15106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students.iloc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[:, [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]])</a:t>
            </a:r>
          </a:p>
          <a:p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    Name             Field</a:t>
            </a:r>
          </a:p>
          <a:p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  John  Computer Science</a:t>
            </a:r>
          </a:p>
          <a:p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   Ben               Law</a:t>
            </a:r>
          </a:p>
          <a:p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 Emily           Finance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18DAF6-DC35-4FFA-B747-F548DADCE6C4}"/>
              </a:ext>
            </a:extLst>
          </p:cNvPr>
          <p:cNvSpPr/>
          <p:nvPr/>
        </p:nvSpPr>
        <p:spPr>
          <a:xfrm>
            <a:off x="5879590" y="4560991"/>
            <a:ext cx="4339601" cy="15106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students.iloc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[: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, [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]])</a:t>
            </a:r>
          </a:p>
          <a:p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   Name             Field</a:t>
            </a:r>
          </a:p>
          <a:p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 John  Computer Science</a:t>
            </a:r>
          </a:p>
          <a:p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  Ben               Law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2A83E-B39E-4657-A707-445B65BCC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1990" y="6406588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683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4DB3FA-6E7A-479E-AB9F-E7A8B32C6838}"/>
              </a:ext>
            </a:extLst>
          </p:cNvPr>
          <p:cNvSpPr txBox="1"/>
          <p:nvPr/>
        </p:nvSpPr>
        <p:spPr>
          <a:xfrm>
            <a:off x="806958" y="343197"/>
            <a:ext cx="6094476" cy="83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Working with Data</a:t>
            </a:r>
            <a:br>
              <a:rPr lang="en-US" sz="3200" dirty="0"/>
            </a:b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9DB565-11A9-4F76-BD1F-B78A99F806DA}"/>
              </a:ext>
            </a:extLst>
          </p:cNvPr>
          <p:cNvSpPr/>
          <p:nvPr/>
        </p:nvSpPr>
        <p:spPr>
          <a:xfrm>
            <a:off x="909244" y="1330078"/>
            <a:ext cx="2322228" cy="50436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98676A"/>
                </a:solidFill>
                <a:latin typeface="Consolas" panose="020B0609020204030204" pitchFamily="49" charset="0"/>
              </a:rPr>
              <a:t>import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numpy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</a:t>
            </a:r>
            <a:r>
              <a:rPr lang="en-GB" sz="1500" dirty="0">
                <a:solidFill>
                  <a:srgbClr val="98676A"/>
                </a:solidFill>
                <a:latin typeface="Consolas" panose="020B0609020204030204" pitchFamily="49" charset="0"/>
              </a:rPr>
              <a:t>as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np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F7FD48-1504-4245-BEC0-4CA3AA97CEBC}"/>
              </a:ext>
            </a:extLst>
          </p:cNvPr>
          <p:cNvSpPr/>
          <p:nvPr/>
        </p:nvSpPr>
        <p:spPr>
          <a:xfrm>
            <a:off x="909243" y="1989810"/>
            <a:ext cx="4301949" cy="93094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np.arange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10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array([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4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5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6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7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8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9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C09650-BD63-4054-BC64-8AF62ED26DCC}"/>
              </a:ext>
            </a:extLst>
          </p:cNvPr>
          <p:cNvSpPr/>
          <p:nvPr/>
        </p:nvSpPr>
        <p:spPr>
          <a:xfrm>
            <a:off x="909243" y="3001898"/>
            <a:ext cx="4301949" cy="93094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np.arange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10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array([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5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7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9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42412C-B2B6-481A-A921-2C75B65A81C3}"/>
              </a:ext>
            </a:extLst>
          </p:cNvPr>
          <p:cNvSpPr/>
          <p:nvPr/>
        </p:nvSpPr>
        <p:spPr>
          <a:xfrm>
            <a:off x="909243" y="4013986"/>
            <a:ext cx="4301949" cy="11616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np.arange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10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GB" sz="1500" dirty="0" err="1">
                <a:solidFill>
                  <a:srgbClr val="DC3958"/>
                </a:solidFill>
                <a:latin typeface="Consolas" panose="020B0609020204030204" pitchFamily="49" charset="0"/>
              </a:rPr>
              <a:t>dtype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='</a:t>
            </a:r>
            <a:r>
              <a:rPr lang="en-GB" sz="1500" dirty="0">
                <a:solidFill>
                  <a:srgbClr val="889B4A"/>
                </a:solidFill>
                <a:latin typeface="Consolas" panose="020B0609020204030204" pitchFamily="49" charset="0"/>
              </a:rPr>
              <a:t>float64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’)</a:t>
            </a:r>
          </a:p>
          <a:p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array([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.,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.,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.,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4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.,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5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.,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6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.,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7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.,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8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.,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9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.])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381DE5-0BF2-4096-94DB-9D51087FFD46}"/>
              </a:ext>
            </a:extLst>
          </p:cNvPr>
          <p:cNvSpPr/>
          <p:nvPr/>
        </p:nvSpPr>
        <p:spPr>
          <a:xfrm>
            <a:off x="5543386" y="1174707"/>
            <a:ext cx="5841656" cy="174604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list2d = [[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,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,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],[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4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,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5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,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6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]]</a:t>
            </a:r>
          </a:p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arr2d = 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np.aarray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(list2d)</a:t>
            </a:r>
          </a:p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arr2d</a:t>
            </a:r>
          </a:p>
          <a:p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array([[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],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       [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4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5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6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]])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FA010B-3BFA-45AD-A6DD-4F0240D253D5}"/>
              </a:ext>
            </a:extLst>
          </p:cNvPr>
          <p:cNvSpPr/>
          <p:nvPr/>
        </p:nvSpPr>
        <p:spPr>
          <a:xfrm>
            <a:off x="5543386" y="4704898"/>
            <a:ext cx="5841656" cy="11616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arr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np.array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([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4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5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np.max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arr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))</a:t>
            </a:r>
          </a:p>
          <a:p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BC819B-392E-493B-83C0-195ECE6A8FDD}"/>
              </a:ext>
            </a:extLst>
          </p:cNvPr>
          <p:cNvSpPr/>
          <p:nvPr/>
        </p:nvSpPr>
        <p:spPr>
          <a:xfrm>
            <a:off x="5577676" y="3001898"/>
            <a:ext cx="5841656" cy="162185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list2d = [[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,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,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],[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4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,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5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,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6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]]</a:t>
            </a:r>
          </a:p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arr2d = 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np.array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(list2d)</a:t>
            </a:r>
          </a:p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(arr2d.shape)</a:t>
            </a:r>
          </a:p>
          <a:p>
            <a:b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39D7FA-8ABC-4528-92DF-85EF887FD6B8}"/>
              </a:ext>
            </a:extLst>
          </p:cNvPr>
          <p:cNvSpPr/>
          <p:nvPr/>
        </p:nvSpPr>
        <p:spPr>
          <a:xfrm>
            <a:off x="909243" y="1305098"/>
            <a:ext cx="5186757" cy="25784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first = [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second = [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20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third = [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100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200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300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numpy_array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np.array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([first, second, third])</a:t>
            </a:r>
          </a:p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numpy_array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array([[  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 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 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],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       [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 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20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 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],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       [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100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200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300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]])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EB2A83-2F33-4A25-B39C-764C5515C36E}"/>
              </a:ext>
            </a:extLst>
          </p:cNvPr>
          <p:cNvSpPr/>
          <p:nvPr/>
        </p:nvSpPr>
        <p:spPr>
          <a:xfrm>
            <a:off x="909243" y="4038965"/>
            <a:ext cx="5186757" cy="99937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np.max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numpy_array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GB" sz="1500" dirty="0">
                <a:solidFill>
                  <a:srgbClr val="DC3958"/>
                </a:solidFill>
                <a:latin typeface="Consolas" panose="020B0609020204030204" pitchFamily="49" charset="0"/>
              </a:rPr>
              <a:t>axis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=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))</a:t>
            </a:r>
          </a:p>
          <a:p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[  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 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30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300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0E9C9D-E50D-4448-AFC5-67BDD42CA3C1}"/>
              </a:ext>
            </a:extLst>
          </p:cNvPr>
          <p:cNvSpPr/>
          <p:nvPr/>
        </p:nvSpPr>
        <p:spPr>
          <a:xfrm>
            <a:off x="909243" y="5200661"/>
            <a:ext cx="5186757" cy="99937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np.max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numpy_array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GB" sz="1500" dirty="0">
                <a:solidFill>
                  <a:srgbClr val="DC3958"/>
                </a:solidFill>
                <a:latin typeface="Consolas" panose="020B0609020204030204" pitchFamily="49" charset="0"/>
              </a:rPr>
              <a:t>axis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=</a:t>
            </a:r>
            <a:r>
              <a:rPr lang="en-GB" sz="1500" dirty="0">
                <a:solidFill>
                  <a:srgbClr val="F79A32"/>
                </a:solidFill>
                <a:latin typeface="Consolas" panose="020B0609020204030204" pitchFamily="49" charset="0"/>
              </a:rPr>
              <a:t>0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))</a:t>
            </a:r>
          </a:p>
          <a:p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D3AF86"/>
                </a:solidFill>
                <a:latin typeface="Consolas" panose="020B0609020204030204" pitchFamily="49" charset="0"/>
              </a:rPr>
              <a:t>[</a:t>
            </a:r>
            <a:r>
              <a:rPr lang="en-GB" sz="1600" dirty="0">
                <a:solidFill>
                  <a:srgbClr val="F79A32"/>
                </a:solidFill>
                <a:latin typeface="Consolas" panose="020B0609020204030204" pitchFamily="49" charset="0"/>
              </a:rPr>
              <a:t>100</a:t>
            </a:r>
            <a:r>
              <a:rPr lang="en-GB" sz="1600" dirty="0">
                <a:solidFill>
                  <a:srgbClr val="D3AF86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79A32"/>
                </a:solidFill>
                <a:latin typeface="Consolas" panose="020B0609020204030204" pitchFamily="49" charset="0"/>
              </a:rPr>
              <a:t>200</a:t>
            </a:r>
            <a:r>
              <a:rPr lang="en-GB" sz="1600" dirty="0">
                <a:solidFill>
                  <a:srgbClr val="D3AF86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79A32"/>
                </a:solidFill>
                <a:latin typeface="Consolas" panose="020B0609020204030204" pitchFamily="49" charset="0"/>
              </a:rPr>
              <a:t>300</a:t>
            </a:r>
            <a:r>
              <a:rPr lang="en-GB" sz="1600" dirty="0">
                <a:solidFill>
                  <a:srgbClr val="D3AF86"/>
                </a:solidFill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B329A9-BB88-40F1-BAA7-40CA5B5715B0}"/>
              </a:ext>
            </a:extLst>
          </p:cNvPr>
          <p:cNvSpPr/>
          <p:nvPr/>
        </p:nvSpPr>
        <p:spPr>
          <a:xfrm>
            <a:off x="6428194" y="1305098"/>
            <a:ext cx="5186757" cy="1815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arr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np.random.randint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10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DC3958"/>
                </a:solidFill>
                <a:latin typeface="Consolas" panose="020B0609020204030204" pitchFamily="49" charset="0"/>
              </a:rPr>
              <a:t>size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=(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GB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arr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array([[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9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],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       [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4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],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       [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7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]])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B7592C-A73E-4F4B-AA99-8FEC00B2C566}"/>
              </a:ext>
            </a:extLst>
          </p:cNvPr>
          <p:cNvSpPr/>
          <p:nvPr/>
        </p:nvSpPr>
        <p:spPr>
          <a:xfrm>
            <a:off x="6428194" y="3250489"/>
            <a:ext cx="5186757" cy="162185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600" dirty="0" err="1">
                <a:solidFill>
                  <a:srgbClr val="D3AF86"/>
                </a:solidFill>
                <a:latin typeface="Consolas" panose="020B0609020204030204" pitchFamily="49" charset="0"/>
              </a:rPr>
              <a:t>new_arr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D3AF86"/>
                </a:solidFill>
                <a:latin typeface="Consolas" panose="020B0609020204030204" pitchFamily="49" charset="0"/>
              </a:rPr>
              <a:t>arr.reshape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GB" sz="16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GB" sz="16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GB" sz="16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D3AF86"/>
                </a:solidFill>
                <a:latin typeface="Consolas" panose="020B0609020204030204" pitchFamily="49" charset="0"/>
              </a:rPr>
              <a:t>new_arr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D3AF86"/>
                </a:solidFill>
                <a:latin typeface="Consolas" panose="020B0609020204030204" pitchFamily="49" charset="0"/>
              </a:rPr>
              <a:t>)</a:t>
            </a:r>
          </a:p>
          <a:p>
            <a:endParaRPr lang="en-GB" sz="16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array([[</a:t>
            </a:r>
            <a:r>
              <a:rPr lang="en-US" sz="1600" dirty="0">
                <a:solidFill>
                  <a:srgbClr val="F79A32"/>
                </a:solidFill>
                <a:latin typeface="Consolas" panose="020B0609020204030204" pitchFamily="49" charset="0"/>
              </a:rPr>
              <a:t>9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F79A32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F79A32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],</a:t>
            </a:r>
          </a:p>
          <a:p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       [</a:t>
            </a:r>
            <a:r>
              <a:rPr lang="en-US" sz="1600" dirty="0">
                <a:solidFill>
                  <a:srgbClr val="F79A32"/>
                </a:solidFill>
                <a:latin typeface="Consolas" panose="020B0609020204030204" pitchFamily="49" charset="0"/>
              </a:rPr>
              <a:t>4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F79A32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F79A32"/>
                </a:solidFill>
                <a:latin typeface="Consolas" panose="020B0609020204030204" pitchFamily="49" charset="0"/>
              </a:rPr>
              <a:t>7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]])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45BA8C-7C96-4D01-AF24-36428A001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5042" y="6429083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9652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0863E4-92FD-4A09-814A-C87DD130A903}"/>
              </a:ext>
            </a:extLst>
          </p:cNvPr>
          <p:cNvSpPr txBox="1"/>
          <p:nvPr/>
        </p:nvSpPr>
        <p:spPr>
          <a:xfrm>
            <a:off x="826577" y="279722"/>
            <a:ext cx="6094476" cy="1016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Basic Template for NLP and Classification</a:t>
            </a:r>
            <a:br>
              <a:rPr lang="en-US" sz="3200" dirty="0"/>
            </a:b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5E942-F088-47BB-9CD6-3C728E9E6F12}"/>
              </a:ext>
            </a:extLst>
          </p:cNvPr>
          <p:cNvSpPr/>
          <p:nvPr/>
        </p:nvSpPr>
        <p:spPr>
          <a:xfrm>
            <a:off x="967666" y="1075172"/>
            <a:ext cx="3861786" cy="868430"/>
          </a:xfrm>
          <a:prstGeom prst="rect">
            <a:avLst/>
          </a:prstGeom>
          <a:solidFill>
            <a:srgbClr val="24150E"/>
          </a:solidFill>
          <a:ln>
            <a:solidFill>
              <a:srgbClr val="24150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Importing the libraries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4288B2-79CA-4981-9150-F3223511677B}"/>
              </a:ext>
            </a:extLst>
          </p:cNvPr>
          <p:cNvSpPr/>
          <p:nvPr/>
        </p:nvSpPr>
        <p:spPr>
          <a:xfrm>
            <a:off x="967666" y="2023733"/>
            <a:ext cx="3861786" cy="868430"/>
          </a:xfrm>
          <a:prstGeom prst="rect">
            <a:avLst/>
          </a:prstGeom>
          <a:solidFill>
            <a:srgbClr val="3F2A1D"/>
          </a:solidFill>
          <a:ln>
            <a:solidFill>
              <a:srgbClr val="8C74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Importing the dataset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709176-18A5-4D18-90B7-3223C1D1D0D6}"/>
              </a:ext>
            </a:extLst>
          </p:cNvPr>
          <p:cNvSpPr/>
          <p:nvPr/>
        </p:nvSpPr>
        <p:spPr>
          <a:xfrm>
            <a:off x="967666" y="3965838"/>
            <a:ext cx="3861786" cy="868430"/>
          </a:xfrm>
          <a:prstGeom prst="rect">
            <a:avLst/>
          </a:prstGeom>
          <a:solidFill>
            <a:srgbClr val="8C7462"/>
          </a:solidFill>
          <a:ln>
            <a:solidFill>
              <a:srgbClr val="8C74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Vectorizing text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E6F74F-FBE8-4484-838A-FF5F6FE24A39}"/>
              </a:ext>
            </a:extLst>
          </p:cNvPr>
          <p:cNvSpPr/>
          <p:nvPr/>
        </p:nvSpPr>
        <p:spPr>
          <a:xfrm>
            <a:off x="967666" y="4959382"/>
            <a:ext cx="3861786" cy="868430"/>
          </a:xfrm>
          <a:prstGeom prst="rect">
            <a:avLst/>
          </a:prstGeom>
          <a:solidFill>
            <a:srgbClr val="F2EBE9"/>
          </a:solidFill>
          <a:ln>
            <a:solidFill>
              <a:srgbClr val="F2EB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Splitting the dataset into the Training set and Test set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B5EECC-C4AA-428C-AD86-8566CBD6742E}"/>
              </a:ext>
            </a:extLst>
          </p:cNvPr>
          <p:cNvSpPr/>
          <p:nvPr/>
        </p:nvSpPr>
        <p:spPr>
          <a:xfrm>
            <a:off x="967666" y="2972294"/>
            <a:ext cx="3861786" cy="868430"/>
          </a:xfrm>
          <a:prstGeom prst="rect">
            <a:avLst/>
          </a:prstGeom>
          <a:solidFill>
            <a:srgbClr val="8E6248"/>
          </a:solidFill>
          <a:ln>
            <a:solidFill>
              <a:srgbClr val="8E62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Cleaning the texts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8EFA83-EA31-4D1D-922B-34AE311E8243}"/>
              </a:ext>
            </a:extLst>
          </p:cNvPr>
          <p:cNvSpPr/>
          <p:nvPr/>
        </p:nvSpPr>
        <p:spPr>
          <a:xfrm>
            <a:off x="4990160" y="1075172"/>
            <a:ext cx="3861786" cy="868430"/>
          </a:xfrm>
          <a:prstGeom prst="rect">
            <a:avLst/>
          </a:prstGeom>
          <a:solidFill>
            <a:srgbClr val="24150E"/>
          </a:solidFill>
          <a:ln>
            <a:solidFill>
              <a:srgbClr val="24150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Training the model on the Training set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BEE76F-7A66-4AD6-A0F5-7D9E008823AB}"/>
              </a:ext>
            </a:extLst>
          </p:cNvPr>
          <p:cNvSpPr/>
          <p:nvPr/>
        </p:nvSpPr>
        <p:spPr>
          <a:xfrm>
            <a:off x="4990160" y="2023733"/>
            <a:ext cx="3861786" cy="868430"/>
          </a:xfrm>
          <a:prstGeom prst="rect">
            <a:avLst/>
          </a:prstGeom>
          <a:solidFill>
            <a:srgbClr val="3F2A1D"/>
          </a:solidFill>
          <a:ln>
            <a:solidFill>
              <a:srgbClr val="8C74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Predicting the Test set results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CB4555-886A-41DB-B2F0-2B5E2782DBE3}"/>
              </a:ext>
            </a:extLst>
          </p:cNvPr>
          <p:cNvSpPr/>
          <p:nvPr/>
        </p:nvSpPr>
        <p:spPr>
          <a:xfrm>
            <a:off x="4990160" y="2987533"/>
            <a:ext cx="3861786" cy="868430"/>
          </a:xfrm>
          <a:prstGeom prst="rect">
            <a:avLst/>
          </a:prstGeom>
          <a:solidFill>
            <a:srgbClr val="8E6248"/>
          </a:solidFill>
          <a:ln>
            <a:solidFill>
              <a:srgbClr val="8E62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Evaluating the model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CB5E00-73D5-4536-AB2F-4F4470143D37}"/>
              </a:ext>
            </a:extLst>
          </p:cNvPr>
          <p:cNvSpPr/>
          <p:nvPr/>
        </p:nvSpPr>
        <p:spPr>
          <a:xfrm>
            <a:off x="4990160" y="3965838"/>
            <a:ext cx="3861786" cy="868430"/>
          </a:xfrm>
          <a:prstGeom prst="rect">
            <a:avLst/>
          </a:prstGeom>
          <a:solidFill>
            <a:srgbClr val="8C7462"/>
          </a:solidFill>
          <a:ln>
            <a:solidFill>
              <a:srgbClr val="8C74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Creating confusion matrix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CF5030-7063-4973-AA82-6912BB5D7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1990" y="6411328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747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29F036-AAFA-4AB3-9965-440864614201}"/>
              </a:ext>
            </a:extLst>
          </p:cNvPr>
          <p:cNvSpPr txBox="1"/>
          <p:nvPr/>
        </p:nvSpPr>
        <p:spPr>
          <a:xfrm>
            <a:off x="826577" y="143997"/>
            <a:ext cx="6094476" cy="14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Cleaning the text</a:t>
            </a:r>
          </a:p>
          <a:p>
            <a:pPr>
              <a:lnSpc>
                <a:spcPct val="150000"/>
              </a:lnSpc>
            </a:pPr>
            <a:r>
              <a:rPr lang="en-US" sz="2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Regex</a:t>
            </a:r>
            <a:br>
              <a:rPr lang="en-US" sz="3200" dirty="0"/>
            </a:b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3CFE83-ACFB-4917-8BF5-DE6E16251EF0}"/>
              </a:ext>
            </a:extLst>
          </p:cNvPr>
          <p:cNvSpPr/>
          <p:nvPr/>
        </p:nvSpPr>
        <p:spPr>
          <a:xfrm>
            <a:off x="909243" y="1579418"/>
            <a:ext cx="1559637" cy="4505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500" dirty="0">
                <a:solidFill>
                  <a:srgbClr val="98676A"/>
                </a:solidFill>
                <a:latin typeface="Consolas" panose="020B0609020204030204" pitchFamily="49" charset="0"/>
              </a:rPr>
              <a:t>import</a:t>
            </a:r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 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88976F-874E-4E7B-B833-E8609578D103}"/>
              </a:ext>
            </a:extLst>
          </p:cNvPr>
          <p:cNvSpPr/>
          <p:nvPr/>
        </p:nvSpPr>
        <p:spPr>
          <a:xfrm>
            <a:off x="909242" y="2299760"/>
            <a:ext cx="5409261" cy="130350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sent =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Alice was born in 1996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sent =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re.sub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98676A"/>
                </a:solidFill>
                <a:latin typeface="Consolas" panose="020B0609020204030204" pitchFamily="49" charset="0"/>
              </a:rPr>
              <a:t>r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\d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', '', sent)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(sent)</a:t>
            </a:r>
          </a:p>
          <a:p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GB" sz="1500" dirty="0">
                <a:solidFill>
                  <a:srgbClr val="D3AF86"/>
                </a:solidFill>
                <a:latin typeface="Consolas" panose="020B0609020204030204" pitchFamily="49" charset="0"/>
              </a:rPr>
              <a:t>Alice was born in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D56510-E721-40EA-AB26-1AD7FC2CCEEE}"/>
              </a:ext>
            </a:extLst>
          </p:cNvPr>
          <p:cNvSpPr/>
          <p:nvPr/>
        </p:nvSpPr>
        <p:spPr>
          <a:xfrm>
            <a:off x="909242" y="3669103"/>
            <a:ext cx="5409261" cy="130350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sent =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Alice was born in 1996, in England.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sent =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re.sub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98676A"/>
                </a:solidFill>
                <a:latin typeface="Consolas" panose="020B0609020204030204" pitchFamily="49" charset="0"/>
              </a:rPr>
              <a:t>r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[a-z]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', '', sent)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(sent)</a:t>
            </a:r>
          </a:p>
          <a:p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A    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1996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 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AC9165-EDB9-4F7E-A69B-C95DF5E10D06}"/>
              </a:ext>
            </a:extLst>
          </p:cNvPr>
          <p:cNvSpPr/>
          <p:nvPr/>
        </p:nvSpPr>
        <p:spPr>
          <a:xfrm>
            <a:off x="909242" y="5038445"/>
            <a:ext cx="5409261" cy="130350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sent =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Alice was born    in 1996.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sent =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re.sub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98676A"/>
                </a:solidFill>
                <a:latin typeface="Consolas" panose="020B0609020204030204" pitchFamily="49" charset="0"/>
              </a:rPr>
              <a:t>r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\s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+',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', sent)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(sent)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Alice was born in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1996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04B53C-A82D-446C-A5DE-7314A7AF58E3}"/>
              </a:ext>
            </a:extLst>
          </p:cNvPr>
          <p:cNvSpPr/>
          <p:nvPr/>
        </p:nvSpPr>
        <p:spPr>
          <a:xfrm>
            <a:off x="6455761" y="1285628"/>
            <a:ext cx="5409261" cy="15520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sent =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22 years ago, he came to UK, when he was 28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sent =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re.sub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98676A"/>
                </a:solidFill>
                <a:latin typeface="Consolas" panose="020B0609020204030204" pitchFamily="49" charset="0"/>
              </a:rPr>
              <a:t>r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^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[0-9]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{1,}', '', sent)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(sent)</a:t>
            </a:r>
          </a:p>
          <a:p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 years ago, he came to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UK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when he was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28</a:t>
            </a:r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5562ED-1198-44DE-B0FB-32BADF516F70}"/>
              </a:ext>
            </a:extLst>
          </p:cNvPr>
          <p:cNvSpPr/>
          <p:nvPr/>
        </p:nvSpPr>
        <p:spPr>
          <a:xfrm>
            <a:off x="6457651" y="4655906"/>
            <a:ext cx="5409261" cy="170699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sent =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Alice was born in 1996, in England.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sent =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re.sub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98676A"/>
                </a:solidFill>
                <a:latin typeface="Consolas" panose="020B0609020204030204" pitchFamily="49" charset="0"/>
              </a:rPr>
              <a:t>r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[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^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a-</a:t>
            </a:r>
            <a:r>
              <a:rPr lang="en-US" sz="1500" dirty="0" err="1">
                <a:solidFill>
                  <a:srgbClr val="F79A32"/>
                </a:solidFill>
                <a:latin typeface="Consolas" panose="020B0609020204030204" pitchFamily="49" charset="0"/>
              </a:rPr>
              <a:t>zA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-Z]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', sent)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(sent)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Alice was born in       in England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8C89D1-92E6-40E7-8EA6-D592F125EE45}"/>
              </a:ext>
            </a:extLst>
          </p:cNvPr>
          <p:cNvSpPr/>
          <p:nvPr/>
        </p:nvSpPr>
        <p:spPr>
          <a:xfrm>
            <a:off x="909241" y="2299760"/>
            <a:ext cx="5409261" cy="14778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sent = '</a:t>
            </a:r>
            <a:r>
              <a:rPr lang="en-US" sz="1600" dirty="0">
                <a:solidFill>
                  <a:srgbClr val="889B4A"/>
                </a:solidFill>
                <a:latin typeface="Consolas" panose="020B0609020204030204" pitchFamily="49" charset="0"/>
              </a:rPr>
              <a:t>Alice was born in 1996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</a:p>
          <a:p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6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D3AF86"/>
                </a:solidFill>
                <a:latin typeface="Consolas" panose="020B0609020204030204" pitchFamily="49" charset="0"/>
              </a:rPr>
              <a:t>re.match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98676A"/>
                </a:solidFill>
                <a:latin typeface="Consolas" panose="020B0609020204030204" pitchFamily="49" charset="0"/>
              </a:rPr>
              <a:t>r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  <a:r>
              <a:rPr lang="en-US" sz="1600" dirty="0">
                <a:solidFill>
                  <a:srgbClr val="7E602C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*', sent))</a:t>
            </a:r>
          </a:p>
          <a:p>
            <a:endParaRPr lang="en-US" sz="16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D3AF86"/>
                </a:solidFill>
                <a:latin typeface="Consolas" panose="020B0609020204030204" pitchFamily="49" charset="0"/>
              </a:rPr>
              <a:t>re.Match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 object; span=(</a:t>
            </a:r>
            <a:r>
              <a:rPr lang="en-US" sz="1600" dirty="0">
                <a:solidFill>
                  <a:srgbClr val="F79A32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F79A32"/>
                </a:solidFill>
                <a:latin typeface="Consolas" panose="020B0609020204030204" pitchFamily="49" charset="0"/>
              </a:rPr>
              <a:t>22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), match='</a:t>
            </a:r>
            <a:r>
              <a:rPr lang="en-US" sz="1600" dirty="0">
                <a:solidFill>
                  <a:srgbClr val="889B4A"/>
                </a:solidFill>
                <a:latin typeface="Consolas" panose="020B0609020204030204" pitchFamily="49" charset="0"/>
              </a:rPr>
              <a:t>Alice was born in 1996</a:t>
            </a:r>
            <a:r>
              <a:rPr lang="en-US" sz="1600" dirty="0">
                <a:solidFill>
                  <a:srgbClr val="D3AF86"/>
                </a:solidFill>
                <a:latin typeface="Consolas" panose="020B0609020204030204" pitchFamily="49" charset="0"/>
              </a:rPr>
              <a:t>'&gt;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A6A80B-9750-46A6-83AE-89E94DA63A7F}"/>
              </a:ext>
            </a:extLst>
          </p:cNvPr>
          <p:cNvSpPr/>
          <p:nvPr/>
        </p:nvSpPr>
        <p:spPr>
          <a:xfrm>
            <a:off x="909241" y="4024846"/>
            <a:ext cx="5409261" cy="22476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date =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12.02.2022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98676A"/>
                </a:solidFill>
                <a:latin typeface="Consolas" panose="020B0609020204030204" pitchFamily="49" charset="0"/>
              </a:rPr>
              <a:t>if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(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re.match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98676A"/>
                </a:solidFill>
                <a:latin typeface="Consolas" panose="020B0609020204030204" pitchFamily="49" charset="0"/>
              </a:rPr>
              <a:t>r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[0-9]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{2}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(.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|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/)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[0-9]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{2}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(.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|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/)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[0-9]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{2,4}', date)):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   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Matched.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')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98676A"/>
                </a:solidFill>
                <a:latin typeface="Consolas" panose="020B0609020204030204" pitchFamily="49" charset="0"/>
              </a:rPr>
              <a:t>else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   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Not matched!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')</a:t>
            </a:r>
          </a:p>
          <a:p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Matched.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1AC243-B247-476C-B8B1-D29291EAB602}"/>
              </a:ext>
            </a:extLst>
          </p:cNvPr>
          <p:cNvSpPr/>
          <p:nvPr/>
        </p:nvSpPr>
        <p:spPr>
          <a:xfrm>
            <a:off x="6455756" y="1621837"/>
            <a:ext cx="5409261" cy="155207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sent =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Alice was born in 1996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re.findall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98676A"/>
                </a:solidFill>
                <a:latin typeface="Consolas" panose="020B0609020204030204" pitchFamily="49" charset="0"/>
              </a:rPr>
              <a:t>r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[0-9]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{1,}', sent))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['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1996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2CCE20-B179-41E5-BF96-FD1D1CDB46BC}"/>
              </a:ext>
            </a:extLst>
          </p:cNvPr>
          <p:cNvSpPr/>
          <p:nvPr/>
        </p:nvSpPr>
        <p:spPr>
          <a:xfrm>
            <a:off x="6455757" y="4953934"/>
            <a:ext cx="5409261" cy="13185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sent =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Alice was born in 1996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re.findall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98676A"/>
                </a:solidFill>
                <a:latin typeface="Consolas" panose="020B0609020204030204" pitchFamily="49" charset="0"/>
              </a:rPr>
              <a:t>r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  <a:r>
              <a:rPr lang="en-US" sz="1500" dirty="0" err="1">
                <a:solidFill>
                  <a:srgbClr val="7E602C"/>
                </a:solidFill>
                <a:latin typeface="Consolas" panose="020B0609020204030204" pitchFamily="49" charset="0"/>
              </a:rPr>
              <a:t>alice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', sent, </a:t>
            </a:r>
            <a:r>
              <a:rPr lang="en-US" sz="1500" dirty="0">
                <a:solidFill>
                  <a:srgbClr val="DC3958"/>
                </a:solidFill>
                <a:latin typeface="Consolas" panose="020B0609020204030204" pitchFamily="49" charset="0"/>
              </a:rPr>
              <a:t>flags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=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re.I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))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['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Alice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166BFB-1678-46D7-B1E5-58AE9C309294}"/>
              </a:ext>
            </a:extLst>
          </p:cNvPr>
          <p:cNvSpPr/>
          <p:nvPr/>
        </p:nvSpPr>
        <p:spPr>
          <a:xfrm>
            <a:off x="6455756" y="2901439"/>
            <a:ext cx="5409261" cy="16821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sent =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22 years ago, he came to UK, when he was 28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sent = 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re.sub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98676A"/>
                </a:solidFill>
                <a:latin typeface="Consolas" panose="020B0609020204030204" pitchFamily="49" charset="0"/>
              </a:rPr>
              <a:t>r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[0-9]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{1,}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$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', '', sent)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(sent)</a:t>
            </a:r>
          </a:p>
          <a:p>
            <a:endParaRPr lang="en-US" sz="1500" dirty="0">
              <a:solidFill>
                <a:srgbClr val="D3AF86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22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 years ago, he came to </a:t>
            </a:r>
            <a:r>
              <a:rPr lang="en-US" sz="1500" dirty="0">
                <a:solidFill>
                  <a:srgbClr val="F79A32"/>
                </a:solidFill>
                <a:latin typeface="Consolas" panose="020B0609020204030204" pitchFamily="49" charset="0"/>
              </a:rPr>
              <a:t>UK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, when he was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3BE669-ED69-4739-B499-D1CDF9F86410}"/>
              </a:ext>
            </a:extLst>
          </p:cNvPr>
          <p:cNvSpPr/>
          <p:nvPr/>
        </p:nvSpPr>
        <p:spPr>
          <a:xfrm>
            <a:off x="6455756" y="3440040"/>
            <a:ext cx="5409261" cy="138420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sent = '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Alice was born in 1996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</a:t>
            </a:r>
            <a:r>
              <a:rPr lang="en-US" sz="1500" dirty="0">
                <a:solidFill>
                  <a:srgbClr val="7E602C"/>
                </a:solidFill>
                <a:latin typeface="Consolas" panose="020B0609020204030204" pitchFamily="49" charset="0"/>
              </a:rPr>
              <a:t>print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re.findall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98676A"/>
                </a:solidFill>
                <a:latin typeface="Consolas" panose="020B0609020204030204" pitchFamily="49" charset="0"/>
              </a:rPr>
              <a:t>r</a:t>
            </a:r>
            <a:r>
              <a:rPr lang="en-US" sz="1500" dirty="0" err="1">
                <a:solidFill>
                  <a:srgbClr val="D3AF86"/>
                </a:solidFill>
                <a:latin typeface="Consolas" panose="020B0609020204030204" pitchFamily="49" charset="0"/>
              </a:rPr>
              <a:t>'</a:t>
            </a:r>
            <a:r>
              <a:rPr lang="en-US" sz="1500" dirty="0" err="1">
                <a:solidFill>
                  <a:srgbClr val="7E602C"/>
                </a:solidFill>
                <a:latin typeface="Consolas" panose="020B0609020204030204" pitchFamily="49" charset="0"/>
              </a:rPr>
              <a:t>alice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', sent))</a:t>
            </a:r>
          </a:p>
          <a:p>
            <a:b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</a:b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[]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9C8881A-16A2-4E63-990F-5873BFF78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1990" y="6435222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885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10" grpId="0" animBg="1"/>
      <p:bldP spid="11" grpId="0" animBg="1"/>
      <p:bldP spid="13" grpId="0" animBg="1"/>
      <p:bldP spid="14" grpId="0" animBg="1"/>
      <p:bldP spid="14" grpId="1" animBg="1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2CE829-F95A-4DD3-8B91-C3FED05DCF20}"/>
              </a:ext>
            </a:extLst>
          </p:cNvPr>
          <p:cNvSpPr txBox="1"/>
          <p:nvPr/>
        </p:nvSpPr>
        <p:spPr>
          <a:xfrm>
            <a:off x="967666" y="325442"/>
            <a:ext cx="6094476" cy="1016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Natural Language Processing (NLP)</a:t>
            </a:r>
            <a:br>
              <a:rPr lang="en-US" sz="3200" dirty="0"/>
            </a:b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D65610-A6D2-4E02-88C2-29A8F2D3BAF8}"/>
              </a:ext>
            </a:extLst>
          </p:cNvPr>
          <p:cNvSpPr txBox="1"/>
          <p:nvPr/>
        </p:nvSpPr>
        <p:spPr>
          <a:xfrm>
            <a:off x="903658" y="1230410"/>
            <a:ext cx="75548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Natural Language Processing, or NLP for short, is broadly defined as the automatic manipulation of natural language, like speech and text, by software.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299757-FDCD-4273-A7C9-592EDD446A6F}"/>
              </a:ext>
            </a:extLst>
          </p:cNvPr>
          <p:cNvSpPr txBox="1"/>
          <p:nvPr/>
        </p:nvSpPr>
        <p:spPr>
          <a:xfrm>
            <a:off x="903658" y="2870570"/>
            <a:ext cx="67115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Chatbots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Speech Recognition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Bag-of-words model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F94AF74F-702E-4FF4-932B-F983537C3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635" y="2246586"/>
            <a:ext cx="6896707" cy="396482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C38045-1C0C-4B25-BF93-D42B65B89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1990" y="6420205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234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44A910-867E-4B2C-BC12-2A3FD77DC62A}"/>
              </a:ext>
            </a:extLst>
          </p:cNvPr>
          <p:cNvSpPr txBox="1"/>
          <p:nvPr/>
        </p:nvSpPr>
        <p:spPr>
          <a:xfrm>
            <a:off x="1017270" y="446270"/>
            <a:ext cx="609447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Bag-of-words model</a:t>
            </a:r>
            <a:endParaRPr lang="en-GB" sz="2600" spc="-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C8340A-9147-41B6-9EF1-F3B2301EAB79}"/>
              </a:ext>
            </a:extLst>
          </p:cNvPr>
          <p:cNvSpPr/>
          <p:nvPr/>
        </p:nvSpPr>
        <p:spPr>
          <a:xfrm>
            <a:off x="1163574" y="1177082"/>
            <a:ext cx="9772650" cy="14655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sent1 = "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Joe waited for the train, but the train was late.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"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sent2 = "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Mary and Samantha took the bus.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"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sent3 = "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I looked for Mary and Samantha at the bus station.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"</a:t>
            </a:r>
          </a:p>
          <a:p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&gt;&gt;&gt; sent4 = "</a:t>
            </a:r>
            <a:r>
              <a:rPr lang="en-US" sz="1500" dirty="0">
                <a:solidFill>
                  <a:srgbClr val="889B4A"/>
                </a:solidFill>
                <a:latin typeface="Consolas" panose="020B0609020204030204" pitchFamily="49" charset="0"/>
              </a:rPr>
              <a:t>Mary and Samantha arrived at the bus station early.</a:t>
            </a:r>
            <a:r>
              <a:rPr lang="en-US" sz="1500" dirty="0">
                <a:solidFill>
                  <a:srgbClr val="D3AF86"/>
                </a:solidFill>
                <a:latin typeface="Consolas" panose="020B0609020204030204" pitchFamily="49" charset="0"/>
              </a:rPr>
              <a:t>"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E25696-BA0A-42A3-B6C1-C0A324B8287B}"/>
              </a:ext>
            </a:extLst>
          </p:cNvPr>
          <p:cNvSpPr/>
          <p:nvPr/>
        </p:nvSpPr>
        <p:spPr>
          <a:xfrm>
            <a:off x="1163574" y="2749851"/>
            <a:ext cx="9772650" cy="9260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en-GB" sz="1600" dirty="0">
                <a:solidFill>
                  <a:srgbClr val="D3AF86"/>
                </a:solidFill>
                <a:latin typeface="Consolas" panose="020B0609020204030204" pitchFamily="49" charset="0"/>
              </a:rPr>
              <a:t>['</a:t>
            </a:r>
            <a:r>
              <a:rPr lang="en-GB" sz="1600" dirty="0" err="1">
                <a:solidFill>
                  <a:srgbClr val="889B4A"/>
                </a:solidFill>
                <a:latin typeface="Consolas" panose="020B0609020204030204" pitchFamily="49" charset="0"/>
              </a:rPr>
              <a:t>mary</a:t>
            </a:r>
            <a:r>
              <a:rPr lang="en-GB" sz="16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GB" sz="1600" dirty="0">
                <a:solidFill>
                  <a:srgbClr val="889B4A"/>
                </a:solidFill>
                <a:latin typeface="Consolas" panose="020B0609020204030204" pitchFamily="49" charset="0"/>
              </a:rPr>
              <a:t>joe</a:t>
            </a:r>
            <a:r>
              <a:rPr lang="en-GB" sz="16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GB" sz="1600" dirty="0">
                <a:solidFill>
                  <a:srgbClr val="889B4A"/>
                </a:solidFill>
                <a:latin typeface="Consolas" panose="020B0609020204030204" pitchFamily="49" charset="0"/>
              </a:rPr>
              <a:t>late</a:t>
            </a:r>
            <a:r>
              <a:rPr lang="en-GB" sz="16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GB" sz="1600" dirty="0">
                <a:solidFill>
                  <a:srgbClr val="889B4A"/>
                </a:solidFill>
                <a:latin typeface="Consolas" panose="020B0609020204030204" pitchFamily="49" charset="0"/>
              </a:rPr>
              <a:t>took</a:t>
            </a:r>
            <a:r>
              <a:rPr lang="en-GB" sz="16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GB" sz="1600" dirty="0">
                <a:solidFill>
                  <a:srgbClr val="889B4A"/>
                </a:solidFill>
                <a:latin typeface="Consolas" panose="020B0609020204030204" pitchFamily="49" charset="0"/>
              </a:rPr>
              <a:t>station</a:t>
            </a:r>
            <a:r>
              <a:rPr lang="en-GB" sz="16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GB" sz="1600" dirty="0">
                <a:solidFill>
                  <a:srgbClr val="889B4A"/>
                </a:solidFill>
                <a:latin typeface="Consolas" panose="020B0609020204030204" pitchFamily="49" charset="0"/>
              </a:rPr>
              <a:t>early</a:t>
            </a:r>
            <a:r>
              <a:rPr lang="en-GB" sz="16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GB" sz="1600" dirty="0">
                <a:solidFill>
                  <a:srgbClr val="889B4A"/>
                </a:solidFill>
                <a:latin typeface="Consolas" panose="020B0609020204030204" pitchFamily="49" charset="0"/>
              </a:rPr>
              <a:t>bus</a:t>
            </a:r>
            <a:r>
              <a:rPr lang="en-GB" sz="16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GB" sz="1600" dirty="0">
                <a:solidFill>
                  <a:srgbClr val="889B4A"/>
                </a:solidFill>
                <a:latin typeface="Consolas" panose="020B0609020204030204" pitchFamily="49" charset="0"/>
              </a:rPr>
              <a:t>arrived</a:t>
            </a:r>
            <a:r>
              <a:rPr lang="en-GB" sz="16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GB" sz="1600" dirty="0" err="1">
                <a:solidFill>
                  <a:srgbClr val="889B4A"/>
                </a:solidFill>
                <a:latin typeface="Consolas" panose="020B0609020204030204" pitchFamily="49" charset="0"/>
              </a:rPr>
              <a:t>samantha</a:t>
            </a:r>
            <a:r>
              <a:rPr lang="en-GB" sz="16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GB" sz="1600" dirty="0">
                <a:solidFill>
                  <a:srgbClr val="889B4A"/>
                </a:solidFill>
                <a:latin typeface="Consolas" panose="020B0609020204030204" pitchFamily="49" charset="0"/>
              </a:rPr>
              <a:t>looked</a:t>
            </a:r>
            <a:r>
              <a:rPr lang="en-GB" sz="16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GB" sz="1600" dirty="0">
                <a:solidFill>
                  <a:srgbClr val="889B4A"/>
                </a:solidFill>
                <a:latin typeface="Consolas" panose="020B0609020204030204" pitchFamily="49" charset="0"/>
              </a:rPr>
              <a:t>waited</a:t>
            </a:r>
            <a:r>
              <a:rPr lang="en-GB" sz="1600" dirty="0">
                <a:solidFill>
                  <a:srgbClr val="D3AF86"/>
                </a:solidFill>
                <a:latin typeface="Consolas" panose="020B0609020204030204" pitchFamily="49" charset="0"/>
              </a:rPr>
              <a:t>', '</a:t>
            </a:r>
            <a:r>
              <a:rPr lang="en-GB" sz="1600" dirty="0">
                <a:solidFill>
                  <a:srgbClr val="889B4A"/>
                </a:solidFill>
                <a:latin typeface="Consolas" panose="020B0609020204030204" pitchFamily="49" charset="0"/>
              </a:rPr>
              <a:t>train</a:t>
            </a:r>
            <a:r>
              <a:rPr lang="en-GB" sz="1600" dirty="0">
                <a:solidFill>
                  <a:srgbClr val="D3AF86"/>
                </a:solidFill>
                <a:latin typeface="Consolas" panose="020B0609020204030204" pitchFamily="49" charset="0"/>
              </a:rPr>
              <a:t>']</a:t>
            </a:r>
          </a:p>
          <a:p>
            <a:endParaRPr lang="en-GB" sz="1500" dirty="0">
              <a:solidFill>
                <a:srgbClr val="D3AF86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9" name="Table 19">
            <a:extLst>
              <a:ext uri="{FF2B5EF4-FFF2-40B4-BE49-F238E27FC236}">
                <a16:creationId xmlns:a16="http://schemas.microsoft.com/office/drawing/2014/main" id="{36930A13-8238-423F-964F-0C06D1000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115092"/>
              </p:ext>
            </p:extLst>
          </p:nvPr>
        </p:nvGraphicFramePr>
        <p:xfrm>
          <a:off x="930921" y="4059213"/>
          <a:ext cx="7787883" cy="1854200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712893464"/>
                    </a:ext>
                  </a:extLst>
                </a:gridCol>
                <a:gridCol w="663735">
                  <a:extLst>
                    <a:ext uri="{9D8B030D-6E8A-4147-A177-3AD203B41FA5}">
                      <a16:colId xmlns:a16="http://schemas.microsoft.com/office/drawing/2014/main" val="4143692894"/>
                    </a:ext>
                  </a:extLst>
                </a:gridCol>
                <a:gridCol w="576470">
                  <a:extLst>
                    <a:ext uri="{9D8B030D-6E8A-4147-A177-3AD203B41FA5}">
                      <a16:colId xmlns:a16="http://schemas.microsoft.com/office/drawing/2014/main" val="248339096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385519120"/>
                    </a:ext>
                  </a:extLst>
                </a:gridCol>
                <a:gridCol w="775252">
                  <a:extLst>
                    <a:ext uri="{9D8B030D-6E8A-4147-A177-3AD203B41FA5}">
                      <a16:colId xmlns:a16="http://schemas.microsoft.com/office/drawing/2014/main" val="1630399832"/>
                    </a:ext>
                  </a:extLst>
                </a:gridCol>
                <a:gridCol w="844826">
                  <a:extLst>
                    <a:ext uri="{9D8B030D-6E8A-4147-A177-3AD203B41FA5}">
                      <a16:colId xmlns:a16="http://schemas.microsoft.com/office/drawing/2014/main" val="3889553645"/>
                    </a:ext>
                  </a:extLst>
                </a:gridCol>
                <a:gridCol w="725556">
                  <a:extLst>
                    <a:ext uri="{9D8B030D-6E8A-4147-A177-3AD203B41FA5}">
                      <a16:colId xmlns:a16="http://schemas.microsoft.com/office/drawing/2014/main" val="3845918167"/>
                    </a:ext>
                  </a:extLst>
                </a:gridCol>
                <a:gridCol w="596348">
                  <a:extLst>
                    <a:ext uri="{9D8B030D-6E8A-4147-A177-3AD203B41FA5}">
                      <a16:colId xmlns:a16="http://schemas.microsoft.com/office/drawing/2014/main" val="1306661153"/>
                    </a:ext>
                  </a:extLst>
                </a:gridCol>
                <a:gridCol w="815009">
                  <a:extLst>
                    <a:ext uri="{9D8B030D-6E8A-4147-A177-3AD203B41FA5}">
                      <a16:colId xmlns:a16="http://schemas.microsoft.com/office/drawing/2014/main" val="1438544844"/>
                    </a:ext>
                  </a:extLst>
                </a:gridCol>
                <a:gridCol w="1292087">
                  <a:extLst>
                    <a:ext uri="{9D8B030D-6E8A-4147-A177-3AD203B41FA5}">
                      <a16:colId xmlns:a16="http://schemas.microsoft.com/office/drawing/2014/main" val="18412123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mary</a:t>
                      </a:r>
                      <a:endParaRPr lang="en-GB" sz="14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joe</a:t>
                      </a:r>
                      <a:endParaRPr lang="en-GB" sz="14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late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took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station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early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bus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arrived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samantha</a:t>
                      </a:r>
                      <a:endParaRPr lang="en-GB" sz="14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1806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Sent1</a:t>
                      </a:r>
                      <a:endParaRPr lang="en-GB" sz="14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9919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Sent2</a:t>
                      </a:r>
                      <a:endParaRPr lang="en-GB" sz="14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3782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Sent3</a:t>
                      </a:r>
                      <a:endParaRPr lang="en-GB" sz="14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2879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Sent4</a:t>
                      </a:r>
                      <a:endParaRPr lang="en-GB" sz="14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456867"/>
                  </a:ext>
                </a:extLst>
              </a:tr>
            </a:tbl>
          </a:graphicData>
        </a:graphic>
      </p:graphicFrame>
      <p:graphicFrame>
        <p:nvGraphicFramePr>
          <p:cNvPr id="20" name="Table 20">
            <a:extLst>
              <a:ext uri="{FF2B5EF4-FFF2-40B4-BE49-F238E27FC236}">
                <a16:creationId xmlns:a16="http://schemas.microsoft.com/office/drawing/2014/main" id="{E4B8424D-9862-4229-8AF4-F563502E27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475748"/>
              </p:ext>
            </p:extLst>
          </p:nvPr>
        </p:nvGraphicFramePr>
        <p:xfrm>
          <a:off x="8718804" y="4059213"/>
          <a:ext cx="2647099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37658">
                  <a:extLst>
                    <a:ext uri="{9D8B030D-6E8A-4147-A177-3AD203B41FA5}">
                      <a16:colId xmlns:a16="http://schemas.microsoft.com/office/drawing/2014/main" val="1801315785"/>
                    </a:ext>
                  </a:extLst>
                </a:gridCol>
                <a:gridCol w="974035">
                  <a:extLst>
                    <a:ext uri="{9D8B030D-6E8A-4147-A177-3AD203B41FA5}">
                      <a16:colId xmlns:a16="http://schemas.microsoft.com/office/drawing/2014/main" val="3893515092"/>
                    </a:ext>
                  </a:extLst>
                </a:gridCol>
                <a:gridCol w="735406">
                  <a:extLst>
                    <a:ext uri="{9D8B030D-6E8A-4147-A177-3AD203B41FA5}">
                      <a16:colId xmlns:a16="http://schemas.microsoft.com/office/drawing/2014/main" val="22753724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looked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waited</a:t>
                      </a:r>
                      <a:endParaRPr lang="en-GB" sz="14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train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9057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1513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3753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855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23632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74AA71-91A7-4E63-813B-FB2C49F8F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1990" y="6411328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5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52752D-BD43-47F9-A793-B2F3E14897F2}"/>
              </a:ext>
            </a:extLst>
          </p:cNvPr>
          <p:cNvSpPr txBox="1"/>
          <p:nvPr/>
        </p:nvSpPr>
        <p:spPr>
          <a:xfrm>
            <a:off x="1017270" y="446270"/>
            <a:ext cx="609447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TF-IDF model</a:t>
            </a:r>
            <a:endParaRPr lang="en-GB" sz="2600" spc="-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BCD83B-2561-42BE-BC26-27CC141AA316}"/>
              </a:ext>
            </a:extLst>
          </p:cNvPr>
          <p:cNvSpPr txBox="1"/>
          <p:nvPr/>
        </p:nvSpPr>
        <p:spPr>
          <a:xfrm>
            <a:off x="1017270" y="1063045"/>
            <a:ext cx="7878155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Aft>
                <a:spcPts val="500"/>
              </a:spcAft>
            </a:pPr>
            <a:r>
              <a:rPr lang="en-US" sz="1500" dirty="0" err="1">
                <a:latin typeface="Arial"/>
                <a:ea typeface="Segoe UI"/>
                <a:cs typeface="Segoe UI"/>
              </a:rPr>
              <a:t>Tf</a:t>
            </a:r>
            <a:r>
              <a:rPr lang="en-US" sz="1500" dirty="0">
                <a:latin typeface="Arial"/>
                <a:ea typeface="Segoe UI"/>
                <a:cs typeface="Segoe UI"/>
              </a:rPr>
              <a:t> = (Number of occurrence of a word in a document) / (Number of words in that document) </a:t>
            </a:r>
            <a:endParaRPr lang="en-US" sz="1500" dirty="0"/>
          </a:p>
          <a:p>
            <a:pPr rtl="0">
              <a:spcAft>
                <a:spcPts val="500"/>
              </a:spcAft>
            </a:pPr>
            <a:r>
              <a:rPr lang="en-US" sz="1500" dirty="0">
                <a:latin typeface="Arial"/>
                <a:ea typeface="Segoe UI"/>
                <a:cs typeface="Segoe UI"/>
              </a:rPr>
              <a:t>IDF = log((Number of </a:t>
            </a:r>
            <a:r>
              <a:rPr lang="en-US" sz="1500" dirty="0">
                <a:latin typeface="Arial"/>
                <a:cs typeface="Segoe UI"/>
              </a:rPr>
              <a:t>documents</a:t>
            </a:r>
            <a:r>
              <a:rPr lang="en-US" sz="1500" dirty="0">
                <a:latin typeface="Arial"/>
                <a:ea typeface="Segoe UI"/>
                <a:cs typeface="Segoe UI"/>
              </a:rPr>
              <a:t>) / (Number of documents containing word)) </a:t>
            </a:r>
          </a:p>
          <a:p>
            <a:pPr rtl="0">
              <a:spcAft>
                <a:spcPts val="500"/>
              </a:spcAft>
            </a:pPr>
            <a:endParaRPr lang="en-US" sz="1500" dirty="0">
              <a:latin typeface="Arial"/>
              <a:ea typeface="Segoe UI"/>
              <a:cs typeface="Segoe UI"/>
            </a:endParaRPr>
          </a:p>
          <a:p>
            <a:pPr rtl="0"/>
            <a:r>
              <a:rPr lang="en-US" sz="1500" dirty="0">
                <a:latin typeface="Arial"/>
                <a:ea typeface="Segoe UI"/>
                <a:cs typeface="Segoe UI"/>
              </a:rPr>
              <a:t>TF-IDF = TF*IDF </a:t>
            </a:r>
            <a:endParaRPr lang="en-US" sz="1500" dirty="0"/>
          </a:p>
        </p:txBody>
      </p:sp>
      <p:graphicFrame>
        <p:nvGraphicFramePr>
          <p:cNvPr id="5" name="Table 19">
            <a:extLst>
              <a:ext uri="{FF2B5EF4-FFF2-40B4-BE49-F238E27FC236}">
                <a16:creationId xmlns:a16="http://schemas.microsoft.com/office/drawing/2014/main" id="{7279EDE0-E4DD-4F2A-A462-967F525F62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920194"/>
              </p:ext>
            </p:extLst>
          </p:nvPr>
        </p:nvGraphicFramePr>
        <p:xfrm>
          <a:off x="3478812" y="2875918"/>
          <a:ext cx="6393154" cy="1097776"/>
        </p:xfrm>
        <a:graphic>
          <a:graphicData uri="http://schemas.openxmlformats.org/drawingml/2006/table">
            <a:tbl>
              <a:tblPr firstCol="1" bandRow="1">
                <a:tableStyleId>{F5AB1C69-6EDB-4FF4-983F-18BD219EF322}</a:tableStyleId>
              </a:tblPr>
              <a:tblGrid>
                <a:gridCol w="734639">
                  <a:extLst>
                    <a:ext uri="{9D8B030D-6E8A-4147-A177-3AD203B41FA5}">
                      <a16:colId xmlns:a16="http://schemas.microsoft.com/office/drawing/2014/main" val="1712893464"/>
                    </a:ext>
                  </a:extLst>
                </a:gridCol>
                <a:gridCol w="599909">
                  <a:extLst>
                    <a:ext uri="{9D8B030D-6E8A-4147-A177-3AD203B41FA5}">
                      <a16:colId xmlns:a16="http://schemas.microsoft.com/office/drawing/2014/main" val="4143692894"/>
                    </a:ext>
                  </a:extLst>
                </a:gridCol>
                <a:gridCol w="521035">
                  <a:extLst>
                    <a:ext uri="{9D8B030D-6E8A-4147-A177-3AD203B41FA5}">
                      <a16:colId xmlns:a16="http://schemas.microsoft.com/office/drawing/2014/main" val="2483390962"/>
                    </a:ext>
                  </a:extLst>
                </a:gridCol>
                <a:gridCol w="619851">
                  <a:extLst>
                    <a:ext uri="{9D8B030D-6E8A-4147-A177-3AD203B41FA5}">
                      <a16:colId xmlns:a16="http://schemas.microsoft.com/office/drawing/2014/main" val="1385519120"/>
                    </a:ext>
                  </a:extLst>
                </a:gridCol>
                <a:gridCol w="700702">
                  <a:extLst>
                    <a:ext uri="{9D8B030D-6E8A-4147-A177-3AD203B41FA5}">
                      <a16:colId xmlns:a16="http://schemas.microsoft.com/office/drawing/2014/main" val="1630399832"/>
                    </a:ext>
                  </a:extLst>
                </a:gridCol>
                <a:gridCol w="763584">
                  <a:extLst>
                    <a:ext uri="{9D8B030D-6E8A-4147-A177-3AD203B41FA5}">
                      <a16:colId xmlns:a16="http://schemas.microsoft.com/office/drawing/2014/main" val="3889553645"/>
                    </a:ext>
                  </a:extLst>
                </a:gridCol>
                <a:gridCol w="655785">
                  <a:extLst>
                    <a:ext uri="{9D8B030D-6E8A-4147-A177-3AD203B41FA5}">
                      <a16:colId xmlns:a16="http://schemas.microsoft.com/office/drawing/2014/main" val="3845918167"/>
                    </a:ext>
                  </a:extLst>
                </a:gridCol>
                <a:gridCol w="539001">
                  <a:extLst>
                    <a:ext uri="{9D8B030D-6E8A-4147-A177-3AD203B41FA5}">
                      <a16:colId xmlns:a16="http://schemas.microsoft.com/office/drawing/2014/main" val="1306661153"/>
                    </a:ext>
                  </a:extLst>
                </a:gridCol>
                <a:gridCol w="622421">
                  <a:extLst>
                    <a:ext uri="{9D8B030D-6E8A-4147-A177-3AD203B41FA5}">
                      <a16:colId xmlns:a16="http://schemas.microsoft.com/office/drawing/2014/main" val="1438544844"/>
                    </a:ext>
                  </a:extLst>
                </a:gridCol>
                <a:gridCol w="636227">
                  <a:extLst>
                    <a:ext uri="{9D8B030D-6E8A-4147-A177-3AD203B41FA5}">
                      <a16:colId xmlns:a16="http://schemas.microsoft.com/office/drawing/2014/main" val="1841212379"/>
                    </a:ext>
                  </a:extLst>
                </a:gridCol>
              </a:tblGrid>
              <a:tr h="274444"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Sent1</a:t>
                      </a:r>
                      <a:endParaRPr lang="en-GB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9919193"/>
                  </a:ext>
                </a:extLst>
              </a:tr>
              <a:tr h="274444"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Sent2</a:t>
                      </a:r>
                      <a:endParaRPr lang="en-GB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3782606"/>
                  </a:ext>
                </a:extLst>
              </a:tr>
              <a:tr h="274444"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Sent3</a:t>
                      </a:r>
                      <a:endParaRPr lang="en-GB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2879755"/>
                  </a:ext>
                </a:extLst>
              </a:tr>
              <a:tr h="274444"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Sent4</a:t>
                      </a:r>
                      <a:endParaRPr lang="en-GB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45686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362C800-84EE-4EB7-85EF-217569898E35}"/>
              </a:ext>
            </a:extLst>
          </p:cNvPr>
          <p:cNvSpPr txBox="1"/>
          <p:nvPr/>
        </p:nvSpPr>
        <p:spPr>
          <a:xfrm>
            <a:off x="1121548" y="3240140"/>
            <a:ext cx="2396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Bag-of-words model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B07902-FEE9-4656-BC6F-2AA5CF9CDDF5}"/>
              </a:ext>
            </a:extLst>
          </p:cNvPr>
          <p:cNvSpPr txBox="1"/>
          <p:nvPr/>
        </p:nvSpPr>
        <p:spPr>
          <a:xfrm>
            <a:off x="1667537" y="4992187"/>
            <a:ext cx="2396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Tf-idf</a:t>
            </a:r>
            <a:r>
              <a:rPr lang="en-US" dirty="0"/>
              <a:t> model</a:t>
            </a:r>
            <a:endParaRPr lang="en-GB" dirty="0"/>
          </a:p>
        </p:txBody>
      </p:sp>
      <p:graphicFrame>
        <p:nvGraphicFramePr>
          <p:cNvPr id="12" name="Table 20">
            <a:extLst>
              <a:ext uri="{FF2B5EF4-FFF2-40B4-BE49-F238E27FC236}">
                <a16:creationId xmlns:a16="http://schemas.microsoft.com/office/drawing/2014/main" id="{155E1918-59DD-4A1B-A2F6-429964EBB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029238"/>
              </p:ext>
            </p:extLst>
          </p:nvPr>
        </p:nvGraphicFramePr>
        <p:xfrm>
          <a:off x="9871969" y="2875919"/>
          <a:ext cx="1811276" cy="1097775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538930">
                  <a:extLst>
                    <a:ext uri="{9D8B030D-6E8A-4147-A177-3AD203B41FA5}">
                      <a16:colId xmlns:a16="http://schemas.microsoft.com/office/drawing/2014/main" val="1801315785"/>
                    </a:ext>
                  </a:extLst>
                </a:gridCol>
                <a:gridCol w="641105">
                  <a:extLst>
                    <a:ext uri="{9D8B030D-6E8A-4147-A177-3AD203B41FA5}">
                      <a16:colId xmlns:a16="http://schemas.microsoft.com/office/drawing/2014/main" val="3893515092"/>
                    </a:ext>
                  </a:extLst>
                </a:gridCol>
                <a:gridCol w="631241">
                  <a:extLst>
                    <a:ext uri="{9D8B030D-6E8A-4147-A177-3AD203B41FA5}">
                      <a16:colId xmlns:a16="http://schemas.microsoft.com/office/drawing/2014/main" val="2275372455"/>
                    </a:ext>
                  </a:extLst>
                </a:gridCol>
              </a:tblGrid>
              <a:tr h="274485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1513374"/>
                  </a:ext>
                </a:extLst>
              </a:tr>
              <a:tr h="274485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3753666"/>
                  </a:ext>
                </a:extLst>
              </a:tr>
              <a:tr h="274485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855710"/>
                  </a:ext>
                </a:extLst>
              </a:tr>
              <a:tr h="273825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236323"/>
                  </a:ext>
                </a:extLst>
              </a:tr>
            </a:tbl>
          </a:graphicData>
        </a:graphic>
      </p:graphicFrame>
      <p:graphicFrame>
        <p:nvGraphicFramePr>
          <p:cNvPr id="13" name="Table 19">
            <a:extLst>
              <a:ext uri="{FF2B5EF4-FFF2-40B4-BE49-F238E27FC236}">
                <a16:creationId xmlns:a16="http://schemas.microsoft.com/office/drawing/2014/main" id="{01628AAD-3FE1-46AF-9189-047AEC648D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57971"/>
              </p:ext>
            </p:extLst>
          </p:nvPr>
        </p:nvGraphicFramePr>
        <p:xfrm>
          <a:off x="3478813" y="4537161"/>
          <a:ext cx="6393156" cy="1279385"/>
        </p:xfrm>
        <a:graphic>
          <a:graphicData uri="http://schemas.openxmlformats.org/drawingml/2006/table">
            <a:tbl>
              <a:tblPr firstCol="1" bandRow="1">
                <a:tableStyleId>{F5AB1C69-6EDB-4FF4-983F-18BD219EF322}</a:tableStyleId>
              </a:tblPr>
              <a:tblGrid>
                <a:gridCol w="679280">
                  <a:extLst>
                    <a:ext uri="{9D8B030D-6E8A-4147-A177-3AD203B41FA5}">
                      <a16:colId xmlns:a16="http://schemas.microsoft.com/office/drawing/2014/main" val="1712893464"/>
                    </a:ext>
                  </a:extLst>
                </a:gridCol>
                <a:gridCol w="697992">
                  <a:extLst>
                    <a:ext uri="{9D8B030D-6E8A-4147-A177-3AD203B41FA5}">
                      <a16:colId xmlns:a16="http://schemas.microsoft.com/office/drawing/2014/main" val="4143692894"/>
                    </a:ext>
                  </a:extLst>
                </a:gridCol>
                <a:gridCol w="612560">
                  <a:extLst>
                    <a:ext uri="{9D8B030D-6E8A-4147-A177-3AD203B41FA5}">
                      <a16:colId xmlns:a16="http://schemas.microsoft.com/office/drawing/2014/main" val="2483390962"/>
                    </a:ext>
                  </a:extLst>
                </a:gridCol>
                <a:gridCol w="603681">
                  <a:extLst>
                    <a:ext uri="{9D8B030D-6E8A-4147-A177-3AD203B41FA5}">
                      <a16:colId xmlns:a16="http://schemas.microsoft.com/office/drawing/2014/main" val="1385519120"/>
                    </a:ext>
                  </a:extLst>
                </a:gridCol>
                <a:gridCol w="648070">
                  <a:extLst>
                    <a:ext uri="{9D8B030D-6E8A-4147-A177-3AD203B41FA5}">
                      <a16:colId xmlns:a16="http://schemas.microsoft.com/office/drawing/2014/main" val="1630399832"/>
                    </a:ext>
                  </a:extLst>
                </a:gridCol>
                <a:gridCol w="585926">
                  <a:extLst>
                    <a:ext uri="{9D8B030D-6E8A-4147-A177-3AD203B41FA5}">
                      <a16:colId xmlns:a16="http://schemas.microsoft.com/office/drawing/2014/main" val="3889553645"/>
                    </a:ext>
                  </a:extLst>
                </a:gridCol>
                <a:gridCol w="656948">
                  <a:extLst>
                    <a:ext uri="{9D8B030D-6E8A-4147-A177-3AD203B41FA5}">
                      <a16:colId xmlns:a16="http://schemas.microsoft.com/office/drawing/2014/main" val="3845918167"/>
                    </a:ext>
                  </a:extLst>
                </a:gridCol>
                <a:gridCol w="630373">
                  <a:extLst>
                    <a:ext uri="{9D8B030D-6E8A-4147-A177-3AD203B41FA5}">
                      <a16:colId xmlns:a16="http://schemas.microsoft.com/office/drawing/2014/main" val="1306661153"/>
                    </a:ext>
                  </a:extLst>
                </a:gridCol>
                <a:gridCol w="621378">
                  <a:extLst>
                    <a:ext uri="{9D8B030D-6E8A-4147-A177-3AD203B41FA5}">
                      <a16:colId xmlns:a16="http://schemas.microsoft.com/office/drawing/2014/main" val="1438544844"/>
                    </a:ext>
                  </a:extLst>
                </a:gridCol>
                <a:gridCol w="656948">
                  <a:extLst>
                    <a:ext uri="{9D8B030D-6E8A-4147-A177-3AD203B41FA5}">
                      <a16:colId xmlns:a16="http://schemas.microsoft.com/office/drawing/2014/main" val="1841212379"/>
                    </a:ext>
                  </a:extLst>
                </a:gridCol>
              </a:tblGrid>
              <a:tr h="323546"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Sent1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9919193"/>
                  </a:ext>
                </a:extLst>
              </a:tr>
              <a:tr h="318137"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Sent2</a:t>
                      </a:r>
                      <a:endParaRPr lang="en-GB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0.428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0.428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0.428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3782606"/>
                  </a:ext>
                </a:extLst>
              </a:tr>
              <a:tr h="318137"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Sent3</a:t>
                      </a:r>
                      <a:endParaRPr lang="en-GB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0.592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0.467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2879755"/>
                  </a:ext>
                </a:extLst>
              </a:tr>
              <a:tr h="319565"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Sent4</a:t>
                      </a:r>
                      <a:endParaRPr lang="en-GB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456867"/>
                  </a:ext>
                </a:extLst>
              </a:tr>
            </a:tbl>
          </a:graphicData>
        </a:graphic>
      </p:graphicFrame>
      <p:graphicFrame>
        <p:nvGraphicFramePr>
          <p:cNvPr id="14" name="Table 20">
            <a:extLst>
              <a:ext uri="{FF2B5EF4-FFF2-40B4-BE49-F238E27FC236}">
                <a16:creationId xmlns:a16="http://schemas.microsoft.com/office/drawing/2014/main" id="{2E8FFB8F-9824-4C5B-A6C4-679F8FA26E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204712"/>
              </p:ext>
            </p:extLst>
          </p:nvPr>
        </p:nvGraphicFramePr>
        <p:xfrm>
          <a:off x="9887588" y="4537161"/>
          <a:ext cx="1795657" cy="1279384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597172">
                  <a:extLst>
                    <a:ext uri="{9D8B030D-6E8A-4147-A177-3AD203B41FA5}">
                      <a16:colId xmlns:a16="http://schemas.microsoft.com/office/drawing/2014/main" val="1801315785"/>
                    </a:ext>
                  </a:extLst>
                </a:gridCol>
                <a:gridCol w="594804">
                  <a:extLst>
                    <a:ext uri="{9D8B030D-6E8A-4147-A177-3AD203B41FA5}">
                      <a16:colId xmlns:a16="http://schemas.microsoft.com/office/drawing/2014/main" val="3893515092"/>
                    </a:ext>
                  </a:extLst>
                </a:gridCol>
                <a:gridCol w="603681">
                  <a:extLst>
                    <a:ext uri="{9D8B030D-6E8A-4147-A177-3AD203B41FA5}">
                      <a16:colId xmlns:a16="http://schemas.microsoft.com/office/drawing/2014/main" val="2275372455"/>
                    </a:ext>
                  </a:extLst>
                </a:gridCol>
              </a:tblGrid>
              <a:tr h="319846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0.755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1513374"/>
                  </a:ext>
                </a:extLst>
              </a:tr>
              <a:tr h="319846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0.670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3753666"/>
                  </a:ext>
                </a:extLst>
              </a:tr>
              <a:tr h="319846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855710"/>
                  </a:ext>
                </a:extLst>
              </a:tr>
              <a:tr h="319846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</a:t>
                      </a:r>
                      <a:endParaRPr lang="en-GB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236323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A9F640-B4DA-4DFD-A3A8-061EE5D4A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1990" y="6380012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928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9E48E-3823-4CBD-A885-0C2FA5AAF1AA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Classification Model</a:t>
            </a:r>
            <a:br>
              <a:rPr lang="en-US" dirty="0"/>
            </a:b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Decision Tree</a:t>
            </a:r>
            <a:endParaRPr lang="en-GB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6FF532E-A049-4152-A0D4-793246A52378}"/>
              </a:ext>
            </a:extLst>
          </p:cNvPr>
          <p:cNvCxnSpPr/>
          <p:nvPr/>
        </p:nvCxnSpPr>
        <p:spPr>
          <a:xfrm flipV="1">
            <a:off x="1269727" y="3295723"/>
            <a:ext cx="0" cy="171225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9F49A32-7C25-4DF7-923D-EC25E81068A8}"/>
              </a:ext>
            </a:extLst>
          </p:cNvPr>
          <p:cNvCxnSpPr>
            <a:cxnSpLocks/>
          </p:cNvCxnSpPr>
          <p:nvPr/>
        </p:nvCxnSpPr>
        <p:spPr>
          <a:xfrm>
            <a:off x="1269727" y="5007982"/>
            <a:ext cx="321179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7E380774-B61D-4065-80A9-BE192CE6EA29}"/>
              </a:ext>
            </a:extLst>
          </p:cNvPr>
          <p:cNvSpPr/>
          <p:nvPr/>
        </p:nvSpPr>
        <p:spPr>
          <a:xfrm>
            <a:off x="2159023" y="4681851"/>
            <a:ext cx="45719" cy="45719"/>
          </a:xfrm>
          <a:prstGeom prst="flowChartConnector">
            <a:avLst/>
          </a:prstGeom>
          <a:solidFill>
            <a:srgbClr val="22C855"/>
          </a:solidFill>
          <a:ln>
            <a:solidFill>
              <a:srgbClr val="22C8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4A79B1E5-E7BF-4082-AAD7-43BFB4073880}"/>
              </a:ext>
            </a:extLst>
          </p:cNvPr>
          <p:cNvSpPr/>
          <p:nvPr/>
        </p:nvSpPr>
        <p:spPr>
          <a:xfrm>
            <a:off x="1411905" y="4329006"/>
            <a:ext cx="45719" cy="45719"/>
          </a:xfrm>
          <a:prstGeom prst="flowChartConnector">
            <a:avLst/>
          </a:prstGeom>
          <a:solidFill>
            <a:srgbClr val="22C855"/>
          </a:solidFill>
          <a:ln>
            <a:solidFill>
              <a:srgbClr val="22C8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69E84AE5-D407-4119-8685-79282FFB86CC}"/>
              </a:ext>
            </a:extLst>
          </p:cNvPr>
          <p:cNvSpPr/>
          <p:nvPr/>
        </p:nvSpPr>
        <p:spPr>
          <a:xfrm>
            <a:off x="2079650" y="4353501"/>
            <a:ext cx="45719" cy="45719"/>
          </a:xfrm>
          <a:prstGeom prst="flowChartConnector">
            <a:avLst/>
          </a:prstGeom>
          <a:solidFill>
            <a:srgbClr val="22C855"/>
          </a:solidFill>
          <a:ln>
            <a:solidFill>
              <a:srgbClr val="22C8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F5246AC0-D106-4D04-AA10-BA3D48EC70D8}"/>
              </a:ext>
            </a:extLst>
          </p:cNvPr>
          <p:cNvSpPr/>
          <p:nvPr/>
        </p:nvSpPr>
        <p:spPr>
          <a:xfrm>
            <a:off x="1454850" y="4675392"/>
            <a:ext cx="45719" cy="45719"/>
          </a:xfrm>
          <a:prstGeom prst="flowChartConnector">
            <a:avLst/>
          </a:prstGeom>
          <a:solidFill>
            <a:srgbClr val="22C855"/>
          </a:solidFill>
          <a:ln>
            <a:solidFill>
              <a:srgbClr val="22C8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1AD4E77A-1FF5-44AC-B91C-320AEB6DABB3}"/>
              </a:ext>
            </a:extLst>
          </p:cNvPr>
          <p:cNvSpPr/>
          <p:nvPr/>
        </p:nvSpPr>
        <p:spPr>
          <a:xfrm>
            <a:off x="1818109" y="4908963"/>
            <a:ext cx="45719" cy="45719"/>
          </a:xfrm>
          <a:prstGeom prst="flowChartConnector">
            <a:avLst/>
          </a:prstGeom>
          <a:solidFill>
            <a:srgbClr val="22C855"/>
          </a:solidFill>
          <a:ln>
            <a:solidFill>
              <a:srgbClr val="22C8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3BC90C72-E82E-42AB-BDA9-1FA441FAF67B}"/>
              </a:ext>
            </a:extLst>
          </p:cNvPr>
          <p:cNvSpPr/>
          <p:nvPr/>
        </p:nvSpPr>
        <p:spPr>
          <a:xfrm>
            <a:off x="2132219" y="4879581"/>
            <a:ext cx="45719" cy="45719"/>
          </a:xfrm>
          <a:prstGeom prst="flowChartConnector">
            <a:avLst/>
          </a:prstGeom>
          <a:solidFill>
            <a:srgbClr val="22C855"/>
          </a:solidFill>
          <a:ln>
            <a:solidFill>
              <a:srgbClr val="22C8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A29B3073-8F2A-4C5B-B697-898DDD8642C8}"/>
              </a:ext>
            </a:extLst>
          </p:cNvPr>
          <p:cNvSpPr/>
          <p:nvPr/>
        </p:nvSpPr>
        <p:spPr>
          <a:xfrm>
            <a:off x="1890918" y="4599233"/>
            <a:ext cx="45719" cy="45719"/>
          </a:xfrm>
          <a:prstGeom prst="flowChartConnector">
            <a:avLst/>
          </a:prstGeom>
          <a:solidFill>
            <a:srgbClr val="22C855"/>
          </a:solidFill>
          <a:ln>
            <a:solidFill>
              <a:srgbClr val="22C8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D80BCDEF-2297-428D-B721-803847045AFD}"/>
              </a:ext>
            </a:extLst>
          </p:cNvPr>
          <p:cNvSpPr/>
          <p:nvPr/>
        </p:nvSpPr>
        <p:spPr>
          <a:xfrm>
            <a:off x="1936637" y="4339950"/>
            <a:ext cx="45719" cy="45719"/>
          </a:xfrm>
          <a:prstGeom prst="flowChartConnector">
            <a:avLst/>
          </a:prstGeom>
          <a:solidFill>
            <a:srgbClr val="22C855"/>
          </a:solidFill>
          <a:ln>
            <a:solidFill>
              <a:srgbClr val="22C8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DC10F467-724A-405C-A816-4D6689F8578E}"/>
              </a:ext>
            </a:extLst>
          </p:cNvPr>
          <p:cNvSpPr/>
          <p:nvPr/>
        </p:nvSpPr>
        <p:spPr>
          <a:xfrm>
            <a:off x="1762564" y="4779126"/>
            <a:ext cx="45719" cy="45719"/>
          </a:xfrm>
          <a:prstGeom prst="flowChartConnector">
            <a:avLst/>
          </a:prstGeom>
          <a:solidFill>
            <a:srgbClr val="22C855"/>
          </a:solidFill>
          <a:ln>
            <a:solidFill>
              <a:srgbClr val="22C8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C681B332-2F77-4A83-86EA-4C37CFFDDC18}"/>
              </a:ext>
            </a:extLst>
          </p:cNvPr>
          <p:cNvSpPr/>
          <p:nvPr/>
        </p:nvSpPr>
        <p:spPr>
          <a:xfrm>
            <a:off x="2033931" y="4580221"/>
            <a:ext cx="45719" cy="45719"/>
          </a:xfrm>
          <a:prstGeom prst="flowChartConnector">
            <a:avLst/>
          </a:prstGeom>
          <a:solidFill>
            <a:srgbClr val="22C855"/>
          </a:solidFill>
          <a:ln>
            <a:solidFill>
              <a:srgbClr val="22C8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4CFFC585-3A1E-44A0-9AE1-BCA95D1BF379}"/>
              </a:ext>
            </a:extLst>
          </p:cNvPr>
          <p:cNvSpPr/>
          <p:nvPr/>
        </p:nvSpPr>
        <p:spPr>
          <a:xfrm>
            <a:off x="1712361" y="4543454"/>
            <a:ext cx="45719" cy="45719"/>
          </a:xfrm>
          <a:prstGeom prst="flowChartConnector">
            <a:avLst/>
          </a:prstGeom>
          <a:solidFill>
            <a:srgbClr val="22C855"/>
          </a:solidFill>
          <a:ln>
            <a:solidFill>
              <a:srgbClr val="22C8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3D5B59D4-4704-4C0E-8E73-90AC5A238969}"/>
              </a:ext>
            </a:extLst>
          </p:cNvPr>
          <p:cNvSpPr/>
          <p:nvPr/>
        </p:nvSpPr>
        <p:spPr>
          <a:xfrm>
            <a:off x="1423185" y="4887998"/>
            <a:ext cx="45719" cy="45719"/>
          </a:xfrm>
          <a:prstGeom prst="flowChartConnector">
            <a:avLst/>
          </a:prstGeom>
          <a:solidFill>
            <a:srgbClr val="22C855"/>
          </a:solidFill>
          <a:ln>
            <a:solidFill>
              <a:srgbClr val="22C8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92CDE9C2-9697-4140-925F-645CBBCB0B74}"/>
              </a:ext>
            </a:extLst>
          </p:cNvPr>
          <p:cNvSpPr/>
          <p:nvPr/>
        </p:nvSpPr>
        <p:spPr>
          <a:xfrm>
            <a:off x="1461775" y="4471412"/>
            <a:ext cx="45719" cy="45719"/>
          </a:xfrm>
          <a:prstGeom prst="flowChartConnector">
            <a:avLst/>
          </a:prstGeom>
          <a:solidFill>
            <a:srgbClr val="22C855"/>
          </a:solidFill>
          <a:ln>
            <a:solidFill>
              <a:srgbClr val="22C8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E22CF736-7680-4545-AC59-BC7368544D15}"/>
              </a:ext>
            </a:extLst>
          </p:cNvPr>
          <p:cNvSpPr/>
          <p:nvPr/>
        </p:nvSpPr>
        <p:spPr>
          <a:xfrm>
            <a:off x="2319939" y="4772310"/>
            <a:ext cx="45719" cy="45719"/>
          </a:xfrm>
          <a:prstGeom prst="flowChartConnector">
            <a:avLst/>
          </a:prstGeom>
          <a:solidFill>
            <a:srgbClr val="22C855"/>
          </a:solidFill>
          <a:ln>
            <a:solidFill>
              <a:srgbClr val="22C8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0BF375F9-2019-4B48-878B-8F5221B5E0FF}"/>
              </a:ext>
            </a:extLst>
          </p:cNvPr>
          <p:cNvSpPr/>
          <p:nvPr/>
        </p:nvSpPr>
        <p:spPr>
          <a:xfrm>
            <a:off x="2297080" y="4589173"/>
            <a:ext cx="45719" cy="45719"/>
          </a:xfrm>
          <a:prstGeom prst="flowChartConnector">
            <a:avLst/>
          </a:prstGeom>
          <a:solidFill>
            <a:srgbClr val="22C855"/>
          </a:solidFill>
          <a:ln>
            <a:solidFill>
              <a:srgbClr val="22C8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5842E3-E257-4F0A-AD0D-DB824AC02CEB}"/>
              </a:ext>
            </a:extLst>
          </p:cNvPr>
          <p:cNvSpPr txBox="1"/>
          <p:nvPr/>
        </p:nvSpPr>
        <p:spPr>
          <a:xfrm>
            <a:off x="1118219" y="3031229"/>
            <a:ext cx="389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X2</a:t>
            </a:r>
            <a:endParaRPr lang="en-GB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8C9DC1-729F-4B93-9882-4B291FA96CA5}"/>
              </a:ext>
            </a:extLst>
          </p:cNvPr>
          <p:cNvSpPr txBox="1"/>
          <p:nvPr/>
        </p:nvSpPr>
        <p:spPr>
          <a:xfrm>
            <a:off x="892004" y="3973201"/>
            <a:ext cx="517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50</a:t>
            </a:r>
            <a:endParaRPr lang="en-GB" sz="1400" dirty="0"/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08084447-3E18-4EA2-87AF-63828E75BAC4}"/>
              </a:ext>
            </a:extLst>
          </p:cNvPr>
          <p:cNvSpPr/>
          <p:nvPr/>
        </p:nvSpPr>
        <p:spPr>
          <a:xfrm>
            <a:off x="2274221" y="4370977"/>
            <a:ext cx="45719" cy="45719"/>
          </a:xfrm>
          <a:prstGeom prst="flowChartConnector">
            <a:avLst/>
          </a:prstGeom>
          <a:solidFill>
            <a:srgbClr val="22C855"/>
          </a:solidFill>
          <a:ln>
            <a:solidFill>
              <a:srgbClr val="22C8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B9594341-C90F-49C2-8D44-88E2798F09D2}"/>
              </a:ext>
            </a:extLst>
          </p:cNvPr>
          <p:cNvSpPr/>
          <p:nvPr/>
        </p:nvSpPr>
        <p:spPr>
          <a:xfrm>
            <a:off x="1982356" y="4806941"/>
            <a:ext cx="45719" cy="45719"/>
          </a:xfrm>
          <a:prstGeom prst="flowChartConnector">
            <a:avLst/>
          </a:prstGeom>
          <a:solidFill>
            <a:srgbClr val="22C855"/>
          </a:solidFill>
          <a:ln>
            <a:solidFill>
              <a:srgbClr val="22C8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07A4F04C-BE70-442B-8EC2-2B87D7071DE9}"/>
              </a:ext>
            </a:extLst>
          </p:cNvPr>
          <p:cNvSpPr/>
          <p:nvPr/>
        </p:nvSpPr>
        <p:spPr>
          <a:xfrm>
            <a:off x="1590388" y="4694135"/>
            <a:ext cx="45719" cy="45719"/>
          </a:xfrm>
          <a:prstGeom prst="flowChartConnector">
            <a:avLst/>
          </a:prstGeom>
          <a:solidFill>
            <a:srgbClr val="22C855"/>
          </a:solidFill>
          <a:ln>
            <a:solidFill>
              <a:srgbClr val="22C8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CCC71654-9603-4A0C-ABEE-107B9EBCDCDE}"/>
              </a:ext>
            </a:extLst>
          </p:cNvPr>
          <p:cNvSpPr/>
          <p:nvPr/>
        </p:nvSpPr>
        <p:spPr>
          <a:xfrm>
            <a:off x="1664178" y="4302912"/>
            <a:ext cx="45719" cy="45719"/>
          </a:xfrm>
          <a:prstGeom prst="flowChartConnector">
            <a:avLst/>
          </a:prstGeom>
          <a:solidFill>
            <a:srgbClr val="22C855"/>
          </a:solidFill>
          <a:ln>
            <a:solidFill>
              <a:srgbClr val="22C8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A222FF51-0003-4D1D-B36D-92810A57E61C}"/>
              </a:ext>
            </a:extLst>
          </p:cNvPr>
          <p:cNvSpPr/>
          <p:nvPr/>
        </p:nvSpPr>
        <p:spPr>
          <a:xfrm>
            <a:off x="2169028" y="4451820"/>
            <a:ext cx="45719" cy="45719"/>
          </a:xfrm>
          <a:prstGeom prst="flowChartConnector">
            <a:avLst/>
          </a:prstGeom>
          <a:solidFill>
            <a:srgbClr val="22C855"/>
          </a:solidFill>
          <a:ln>
            <a:solidFill>
              <a:srgbClr val="22C8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3991BF12-97F7-4FE0-9ABD-9F05DD30FAF5}"/>
              </a:ext>
            </a:extLst>
          </p:cNvPr>
          <p:cNvSpPr/>
          <p:nvPr/>
        </p:nvSpPr>
        <p:spPr>
          <a:xfrm>
            <a:off x="3334074" y="4611092"/>
            <a:ext cx="45719" cy="45719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2C7137AC-6167-4B88-90C8-2C94E0FBB82C}"/>
              </a:ext>
            </a:extLst>
          </p:cNvPr>
          <p:cNvSpPr/>
          <p:nvPr/>
        </p:nvSpPr>
        <p:spPr>
          <a:xfrm>
            <a:off x="2787554" y="4524838"/>
            <a:ext cx="45719" cy="45719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6AAEAC88-9511-4546-88B3-1FA2DCBA6A62}"/>
              </a:ext>
            </a:extLst>
          </p:cNvPr>
          <p:cNvSpPr/>
          <p:nvPr/>
        </p:nvSpPr>
        <p:spPr>
          <a:xfrm>
            <a:off x="2993160" y="4838204"/>
            <a:ext cx="45719" cy="45719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2ED6BB14-63BF-4787-88DA-41C2CA4D3C19}"/>
              </a:ext>
            </a:extLst>
          </p:cNvPr>
          <p:cNvSpPr/>
          <p:nvPr/>
        </p:nvSpPr>
        <p:spPr>
          <a:xfrm>
            <a:off x="3307270" y="4808822"/>
            <a:ext cx="45719" cy="45719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22FDD6FA-C3F9-4F2B-A8D6-C8717410FBE4}"/>
              </a:ext>
            </a:extLst>
          </p:cNvPr>
          <p:cNvSpPr/>
          <p:nvPr/>
        </p:nvSpPr>
        <p:spPr>
          <a:xfrm>
            <a:off x="3065969" y="4528474"/>
            <a:ext cx="45719" cy="45719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86F1BB76-0F00-4242-ADCE-BA65DD7AED3A}"/>
              </a:ext>
            </a:extLst>
          </p:cNvPr>
          <p:cNvSpPr/>
          <p:nvPr/>
        </p:nvSpPr>
        <p:spPr>
          <a:xfrm>
            <a:off x="2777599" y="4632587"/>
            <a:ext cx="45719" cy="45719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2B508EA8-795E-4655-832F-52D703EE79DD}"/>
              </a:ext>
            </a:extLst>
          </p:cNvPr>
          <p:cNvSpPr/>
          <p:nvPr/>
        </p:nvSpPr>
        <p:spPr>
          <a:xfrm>
            <a:off x="2937615" y="4708367"/>
            <a:ext cx="45719" cy="45719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691B0992-347E-4318-B474-527184AB399A}"/>
              </a:ext>
            </a:extLst>
          </p:cNvPr>
          <p:cNvSpPr/>
          <p:nvPr/>
        </p:nvSpPr>
        <p:spPr>
          <a:xfrm>
            <a:off x="3208982" y="4509462"/>
            <a:ext cx="45719" cy="45719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7C8C0B30-3B84-4AD9-BFFC-D0FE8CCE2E77}"/>
              </a:ext>
            </a:extLst>
          </p:cNvPr>
          <p:cNvSpPr/>
          <p:nvPr/>
        </p:nvSpPr>
        <p:spPr>
          <a:xfrm>
            <a:off x="2887412" y="4472695"/>
            <a:ext cx="45719" cy="45719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9CA92050-1A92-4BCA-BB55-31EDB00A463F}"/>
              </a:ext>
            </a:extLst>
          </p:cNvPr>
          <p:cNvSpPr/>
          <p:nvPr/>
        </p:nvSpPr>
        <p:spPr>
          <a:xfrm>
            <a:off x="3161401" y="4861063"/>
            <a:ext cx="45719" cy="45719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AC811E94-6ED0-4EAA-9A0A-F1A4F2F9FA1B}"/>
              </a:ext>
            </a:extLst>
          </p:cNvPr>
          <p:cNvSpPr/>
          <p:nvPr/>
        </p:nvSpPr>
        <p:spPr>
          <a:xfrm>
            <a:off x="3196380" y="4401898"/>
            <a:ext cx="45719" cy="45719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08CC20A5-6639-4B7D-8FCB-7C551B29D2B4}"/>
              </a:ext>
            </a:extLst>
          </p:cNvPr>
          <p:cNvSpPr/>
          <p:nvPr/>
        </p:nvSpPr>
        <p:spPr>
          <a:xfrm>
            <a:off x="3032437" y="4390059"/>
            <a:ext cx="45719" cy="45719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2FA604BC-3704-41DB-9051-F56C452D61C9}"/>
              </a:ext>
            </a:extLst>
          </p:cNvPr>
          <p:cNvSpPr/>
          <p:nvPr/>
        </p:nvSpPr>
        <p:spPr>
          <a:xfrm>
            <a:off x="3157407" y="4736182"/>
            <a:ext cx="45719" cy="45719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E01C8215-DC6E-4D57-AFC3-726F22B86805}"/>
              </a:ext>
            </a:extLst>
          </p:cNvPr>
          <p:cNvSpPr/>
          <p:nvPr/>
        </p:nvSpPr>
        <p:spPr>
          <a:xfrm>
            <a:off x="2767886" y="4852914"/>
            <a:ext cx="45719" cy="45719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EE1FDF0D-190F-4220-9B85-5DCF46DE1D35}"/>
              </a:ext>
            </a:extLst>
          </p:cNvPr>
          <p:cNvSpPr/>
          <p:nvPr/>
        </p:nvSpPr>
        <p:spPr>
          <a:xfrm>
            <a:off x="2722167" y="4406101"/>
            <a:ext cx="45719" cy="45719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75F76932-8207-40F4-864E-0774431500A4}"/>
              </a:ext>
            </a:extLst>
          </p:cNvPr>
          <p:cNvSpPr/>
          <p:nvPr/>
        </p:nvSpPr>
        <p:spPr>
          <a:xfrm>
            <a:off x="3780651" y="4729901"/>
            <a:ext cx="45719" cy="45719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92D050"/>
              </a:solidFill>
            </a:endParaRPr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85FAD4EB-A6CC-488D-A1E5-76758936BECD}"/>
              </a:ext>
            </a:extLst>
          </p:cNvPr>
          <p:cNvSpPr/>
          <p:nvPr/>
        </p:nvSpPr>
        <p:spPr>
          <a:xfrm>
            <a:off x="4041931" y="4823133"/>
            <a:ext cx="45719" cy="45719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92D050"/>
              </a:solidFill>
            </a:endParaRPr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94321DC2-5782-4362-BA09-4E5779FB0CEB}"/>
              </a:ext>
            </a:extLst>
          </p:cNvPr>
          <p:cNvSpPr/>
          <p:nvPr/>
        </p:nvSpPr>
        <p:spPr>
          <a:xfrm>
            <a:off x="4063597" y="4589173"/>
            <a:ext cx="45719" cy="45719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92D050"/>
              </a:solidFill>
            </a:endParaRPr>
          </a:p>
        </p:txBody>
      </p:sp>
      <p:sp>
        <p:nvSpPr>
          <p:cNvPr id="45" name="Flowchart: Connector 44">
            <a:extLst>
              <a:ext uri="{FF2B5EF4-FFF2-40B4-BE49-F238E27FC236}">
                <a16:creationId xmlns:a16="http://schemas.microsoft.com/office/drawing/2014/main" id="{8F4574B1-0440-4D96-A040-8AF9908C90C0}"/>
              </a:ext>
            </a:extLst>
          </p:cNvPr>
          <p:cNvSpPr/>
          <p:nvPr/>
        </p:nvSpPr>
        <p:spPr>
          <a:xfrm>
            <a:off x="3826370" y="4617516"/>
            <a:ext cx="45719" cy="45719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92D050"/>
              </a:solidFill>
            </a:endParaRPr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05ECDCDE-B690-4EFB-861B-0B1786634D37}"/>
              </a:ext>
            </a:extLst>
          </p:cNvPr>
          <p:cNvSpPr/>
          <p:nvPr/>
        </p:nvSpPr>
        <p:spPr>
          <a:xfrm>
            <a:off x="3986386" y="4693296"/>
            <a:ext cx="45719" cy="45719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92D050"/>
              </a:solidFill>
            </a:endParaRPr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47E04FDA-36CD-4CEE-9757-43DC162DF9CD}"/>
              </a:ext>
            </a:extLst>
          </p:cNvPr>
          <p:cNvSpPr/>
          <p:nvPr/>
        </p:nvSpPr>
        <p:spPr>
          <a:xfrm>
            <a:off x="4210172" y="4845992"/>
            <a:ext cx="45719" cy="45719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92D050"/>
              </a:solidFill>
            </a:endParaRPr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1ECB2BBD-9AC7-4ED0-A43F-1CA6B45A47DA}"/>
              </a:ext>
            </a:extLst>
          </p:cNvPr>
          <p:cNvSpPr/>
          <p:nvPr/>
        </p:nvSpPr>
        <p:spPr>
          <a:xfrm>
            <a:off x="4206178" y="4721111"/>
            <a:ext cx="45719" cy="45719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92D050"/>
              </a:solidFill>
            </a:endParaRPr>
          </a:p>
        </p:txBody>
      </p: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581DAF79-DBE5-4E18-BFAB-3F1E3D7B0DD1}"/>
              </a:ext>
            </a:extLst>
          </p:cNvPr>
          <p:cNvSpPr/>
          <p:nvPr/>
        </p:nvSpPr>
        <p:spPr>
          <a:xfrm>
            <a:off x="3816657" y="4837843"/>
            <a:ext cx="45719" cy="45719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92D050"/>
              </a:solidFill>
            </a:endParaRPr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9B9F649F-4D51-4A79-B97B-73ACA9DA1F1C}"/>
              </a:ext>
            </a:extLst>
          </p:cNvPr>
          <p:cNvSpPr/>
          <p:nvPr/>
        </p:nvSpPr>
        <p:spPr>
          <a:xfrm>
            <a:off x="2159023" y="3796223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Flowchart: Connector 50">
            <a:extLst>
              <a:ext uri="{FF2B5EF4-FFF2-40B4-BE49-F238E27FC236}">
                <a16:creationId xmlns:a16="http://schemas.microsoft.com/office/drawing/2014/main" id="{EF26D696-D589-49BD-B273-4CBDF380CF59}"/>
              </a:ext>
            </a:extLst>
          </p:cNvPr>
          <p:cNvSpPr/>
          <p:nvPr/>
        </p:nvSpPr>
        <p:spPr>
          <a:xfrm>
            <a:off x="1411905" y="3443378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A09E1816-083F-4FB5-A86F-EDAD3B52A06C}"/>
              </a:ext>
            </a:extLst>
          </p:cNvPr>
          <p:cNvSpPr/>
          <p:nvPr/>
        </p:nvSpPr>
        <p:spPr>
          <a:xfrm>
            <a:off x="2079650" y="3467873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Flowchart: Connector 52">
            <a:extLst>
              <a:ext uri="{FF2B5EF4-FFF2-40B4-BE49-F238E27FC236}">
                <a16:creationId xmlns:a16="http://schemas.microsoft.com/office/drawing/2014/main" id="{F9BC4D73-0D95-4529-A99D-0FCFD573A044}"/>
              </a:ext>
            </a:extLst>
          </p:cNvPr>
          <p:cNvSpPr/>
          <p:nvPr/>
        </p:nvSpPr>
        <p:spPr>
          <a:xfrm>
            <a:off x="1454850" y="3789764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3859FC16-EAAD-45F3-BE46-AFCA02E4FE3A}"/>
              </a:ext>
            </a:extLst>
          </p:cNvPr>
          <p:cNvSpPr/>
          <p:nvPr/>
        </p:nvSpPr>
        <p:spPr>
          <a:xfrm>
            <a:off x="1890917" y="3891182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27210EF2-285E-468F-B3A3-315E1654B5C2}"/>
              </a:ext>
            </a:extLst>
          </p:cNvPr>
          <p:cNvSpPr/>
          <p:nvPr/>
        </p:nvSpPr>
        <p:spPr>
          <a:xfrm>
            <a:off x="2132219" y="3993953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A6D8622F-5E12-483B-9D59-2BE49580301B}"/>
              </a:ext>
            </a:extLst>
          </p:cNvPr>
          <p:cNvSpPr/>
          <p:nvPr/>
        </p:nvSpPr>
        <p:spPr>
          <a:xfrm>
            <a:off x="1890918" y="3713605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Flowchart: Connector 56">
            <a:extLst>
              <a:ext uri="{FF2B5EF4-FFF2-40B4-BE49-F238E27FC236}">
                <a16:creationId xmlns:a16="http://schemas.microsoft.com/office/drawing/2014/main" id="{E9DE66C6-D8FB-4D9C-9443-C8B280EFD114}"/>
              </a:ext>
            </a:extLst>
          </p:cNvPr>
          <p:cNvSpPr/>
          <p:nvPr/>
        </p:nvSpPr>
        <p:spPr>
          <a:xfrm>
            <a:off x="1936637" y="3454322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5DD05218-69BF-46D1-B744-E73DA448A487}"/>
              </a:ext>
            </a:extLst>
          </p:cNvPr>
          <p:cNvSpPr/>
          <p:nvPr/>
        </p:nvSpPr>
        <p:spPr>
          <a:xfrm>
            <a:off x="1762564" y="3893498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Flowchart: Connector 58">
            <a:extLst>
              <a:ext uri="{FF2B5EF4-FFF2-40B4-BE49-F238E27FC236}">
                <a16:creationId xmlns:a16="http://schemas.microsoft.com/office/drawing/2014/main" id="{E603FBC4-69BC-4874-BEB9-6B2781323A81}"/>
              </a:ext>
            </a:extLst>
          </p:cNvPr>
          <p:cNvSpPr/>
          <p:nvPr/>
        </p:nvSpPr>
        <p:spPr>
          <a:xfrm>
            <a:off x="2033931" y="3694593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Flowchart: Connector 59">
            <a:extLst>
              <a:ext uri="{FF2B5EF4-FFF2-40B4-BE49-F238E27FC236}">
                <a16:creationId xmlns:a16="http://schemas.microsoft.com/office/drawing/2014/main" id="{A654F1C0-3D24-41F6-80AB-93008375730A}"/>
              </a:ext>
            </a:extLst>
          </p:cNvPr>
          <p:cNvSpPr/>
          <p:nvPr/>
        </p:nvSpPr>
        <p:spPr>
          <a:xfrm>
            <a:off x="1712361" y="3657826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Flowchart: Connector 60">
            <a:extLst>
              <a:ext uri="{FF2B5EF4-FFF2-40B4-BE49-F238E27FC236}">
                <a16:creationId xmlns:a16="http://schemas.microsoft.com/office/drawing/2014/main" id="{56469837-53BB-45A3-9268-71AA924C3C41}"/>
              </a:ext>
            </a:extLst>
          </p:cNvPr>
          <p:cNvSpPr/>
          <p:nvPr/>
        </p:nvSpPr>
        <p:spPr>
          <a:xfrm>
            <a:off x="1460218" y="3930292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0429ABE7-F8C0-4879-8BD8-F13504E9010B}"/>
              </a:ext>
            </a:extLst>
          </p:cNvPr>
          <p:cNvSpPr/>
          <p:nvPr/>
        </p:nvSpPr>
        <p:spPr>
          <a:xfrm>
            <a:off x="1461775" y="3585784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Flowchart: Connector 62">
            <a:extLst>
              <a:ext uri="{FF2B5EF4-FFF2-40B4-BE49-F238E27FC236}">
                <a16:creationId xmlns:a16="http://schemas.microsoft.com/office/drawing/2014/main" id="{48316637-2D0D-4F45-968B-49590173EB2A}"/>
              </a:ext>
            </a:extLst>
          </p:cNvPr>
          <p:cNvSpPr/>
          <p:nvPr/>
        </p:nvSpPr>
        <p:spPr>
          <a:xfrm>
            <a:off x="2319939" y="3886682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Flowchart: Connector 63">
            <a:extLst>
              <a:ext uri="{FF2B5EF4-FFF2-40B4-BE49-F238E27FC236}">
                <a16:creationId xmlns:a16="http://schemas.microsoft.com/office/drawing/2014/main" id="{5F5D6C02-2C58-4EED-99D8-7199A6956D2F}"/>
              </a:ext>
            </a:extLst>
          </p:cNvPr>
          <p:cNvSpPr/>
          <p:nvPr/>
        </p:nvSpPr>
        <p:spPr>
          <a:xfrm>
            <a:off x="2297080" y="3703545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Flowchart: Connector 64">
            <a:extLst>
              <a:ext uri="{FF2B5EF4-FFF2-40B4-BE49-F238E27FC236}">
                <a16:creationId xmlns:a16="http://schemas.microsoft.com/office/drawing/2014/main" id="{26261320-2465-4FC6-AC80-C596BFE81456}"/>
              </a:ext>
            </a:extLst>
          </p:cNvPr>
          <p:cNvSpPr/>
          <p:nvPr/>
        </p:nvSpPr>
        <p:spPr>
          <a:xfrm>
            <a:off x="2274221" y="3485349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Flowchart: Connector 65">
            <a:extLst>
              <a:ext uri="{FF2B5EF4-FFF2-40B4-BE49-F238E27FC236}">
                <a16:creationId xmlns:a16="http://schemas.microsoft.com/office/drawing/2014/main" id="{8908B37D-13AE-4779-ABDF-E113D5B8428F}"/>
              </a:ext>
            </a:extLst>
          </p:cNvPr>
          <p:cNvSpPr/>
          <p:nvPr/>
        </p:nvSpPr>
        <p:spPr>
          <a:xfrm>
            <a:off x="1982356" y="3921313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Flowchart: Connector 66">
            <a:extLst>
              <a:ext uri="{FF2B5EF4-FFF2-40B4-BE49-F238E27FC236}">
                <a16:creationId xmlns:a16="http://schemas.microsoft.com/office/drawing/2014/main" id="{A1EFBA94-486B-48F4-AF77-5F924F72B12D}"/>
              </a:ext>
            </a:extLst>
          </p:cNvPr>
          <p:cNvSpPr/>
          <p:nvPr/>
        </p:nvSpPr>
        <p:spPr>
          <a:xfrm>
            <a:off x="1590388" y="3808507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3EB2D6FD-EBA0-4794-A66B-C9CD9EF0598D}"/>
              </a:ext>
            </a:extLst>
          </p:cNvPr>
          <p:cNvSpPr/>
          <p:nvPr/>
        </p:nvSpPr>
        <p:spPr>
          <a:xfrm>
            <a:off x="1664178" y="3417284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Flowchart: Connector 68">
            <a:extLst>
              <a:ext uri="{FF2B5EF4-FFF2-40B4-BE49-F238E27FC236}">
                <a16:creationId xmlns:a16="http://schemas.microsoft.com/office/drawing/2014/main" id="{16523408-DFE4-4C17-9600-456345748E2A}"/>
              </a:ext>
            </a:extLst>
          </p:cNvPr>
          <p:cNvSpPr/>
          <p:nvPr/>
        </p:nvSpPr>
        <p:spPr>
          <a:xfrm>
            <a:off x="2169028" y="3566192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Flowchart: Connector 69">
            <a:extLst>
              <a:ext uri="{FF2B5EF4-FFF2-40B4-BE49-F238E27FC236}">
                <a16:creationId xmlns:a16="http://schemas.microsoft.com/office/drawing/2014/main" id="{7083FBC0-69C2-4E48-B0A6-E06DDED5B3F3}"/>
              </a:ext>
            </a:extLst>
          </p:cNvPr>
          <p:cNvSpPr/>
          <p:nvPr/>
        </p:nvSpPr>
        <p:spPr>
          <a:xfrm>
            <a:off x="2426621" y="3637749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Flowchart: Connector 70">
            <a:extLst>
              <a:ext uri="{FF2B5EF4-FFF2-40B4-BE49-F238E27FC236}">
                <a16:creationId xmlns:a16="http://schemas.microsoft.com/office/drawing/2014/main" id="{DF464CFF-B27B-4FB2-9D62-C79874AC1C3C}"/>
              </a:ext>
            </a:extLst>
          </p:cNvPr>
          <p:cNvSpPr/>
          <p:nvPr/>
        </p:nvSpPr>
        <p:spPr>
          <a:xfrm>
            <a:off x="2579021" y="3790149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Flowchart: Connector 71">
            <a:extLst>
              <a:ext uri="{FF2B5EF4-FFF2-40B4-BE49-F238E27FC236}">
                <a16:creationId xmlns:a16="http://schemas.microsoft.com/office/drawing/2014/main" id="{612FE56D-0543-4955-B85E-DA88BEDEFF9D}"/>
              </a:ext>
            </a:extLst>
          </p:cNvPr>
          <p:cNvSpPr/>
          <p:nvPr/>
        </p:nvSpPr>
        <p:spPr>
          <a:xfrm>
            <a:off x="2624740" y="3971093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Flowchart: Connector 72">
            <a:extLst>
              <a:ext uri="{FF2B5EF4-FFF2-40B4-BE49-F238E27FC236}">
                <a16:creationId xmlns:a16="http://schemas.microsoft.com/office/drawing/2014/main" id="{4651ADB2-61B3-457B-BEDF-982C9360BAD3}"/>
              </a:ext>
            </a:extLst>
          </p:cNvPr>
          <p:cNvSpPr/>
          <p:nvPr/>
        </p:nvSpPr>
        <p:spPr>
          <a:xfrm>
            <a:off x="2722447" y="3678117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Flowchart: Connector 73">
            <a:extLst>
              <a:ext uri="{FF2B5EF4-FFF2-40B4-BE49-F238E27FC236}">
                <a16:creationId xmlns:a16="http://schemas.microsoft.com/office/drawing/2014/main" id="{6F108AC9-A5D7-4969-9A5E-9FAC7294E8CD}"/>
              </a:ext>
            </a:extLst>
          </p:cNvPr>
          <p:cNvSpPr/>
          <p:nvPr/>
        </p:nvSpPr>
        <p:spPr>
          <a:xfrm>
            <a:off x="2449480" y="3777667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Flowchart: Connector 74">
            <a:extLst>
              <a:ext uri="{FF2B5EF4-FFF2-40B4-BE49-F238E27FC236}">
                <a16:creationId xmlns:a16="http://schemas.microsoft.com/office/drawing/2014/main" id="{A93CD1CA-29E0-4987-A863-2F51DC7FC5AE}"/>
              </a:ext>
            </a:extLst>
          </p:cNvPr>
          <p:cNvSpPr/>
          <p:nvPr/>
        </p:nvSpPr>
        <p:spPr>
          <a:xfrm>
            <a:off x="2533302" y="3502858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Flowchart: Connector 75">
            <a:extLst>
              <a:ext uri="{FF2B5EF4-FFF2-40B4-BE49-F238E27FC236}">
                <a16:creationId xmlns:a16="http://schemas.microsoft.com/office/drawing/2014/main" id="{B28ADC44-9326-44DC-851F-5C2980CCD056}"/>
              </a:ext>
            </a:extLst>
          </p:cNvPr>
          <p:cNvSpPr/>
          <p:nvPr/>
        </p:nvSpPr>
        <p:spPr>
          <a:xfrm>
            <a:off x="2874847" y="3830517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7" name="Flowchart: Connector 76">
            <a:extLst>
              <a:ext uri="{FF2B5EF4-FFF2-40B4-BE49-F238E27FC236}">
                <a16:creationId xmlns:a16="http://schemas.microsoft.com/office/drawing/2014/main" id="{BD218090-FD35-4B23-A969-B37E32212701}"/>
              </a:ext>
            </a:extLst>
          </p:cNvPr>
          <p:cNvSpPr/>
          <p:nvPr/>
        </p:nvSpPr>
        <p:spPr>
          <a:xfrm>
            <a:off x="3076045" y="3805495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Flowchart: Connector 77">
            <a:extLst>
              <a:ext uri="{FF2B5EF4-FFF2-40B4-BE49-F238E27FC236}">
                <a16:creationId xmlns:a16="http://schemas.microsoft.com/office/drawing/2014/main" id="{3EB32596-25B2-4C57-B34F-A1AE20E8621A}"/>
              </a:ext>
            </a:extLst>
          </p:cNvPr>
          <p:cNvSpPr/>
          <p:nvPr/>
        </p:nvSpPr>
        <p:spPr>
          <a:xfrm>
            <a:off x="2874847" y="3972448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9" name="Flowchart: Connector 78">
            <a:extLst>
              <a:ext uri="{FF2B5EF4-FFF2-40B4-BE49-F238E27FC236}">
                <a16:creationId xmlns:a16="http://schemas.microsoft.com/office/drawing/2014/main" id="{C5650D9F-CAA5-4BC6-957B-1D8C548E2B0A}"/>
              </a:ext>
            </a:extLst>
          </p:cNvPr>
          <p:cNvSpPr/>
          <p:nvPr/>
        </p:nvSpPr>
        <p:spPr>
          <a:xfrm>
            <a:off x="2914755" y="3728940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Flowchart: Connector 79">
            <a:extLst>
              <a:ext uri="{FF2B5EF4-FFF2-40B4-BE49-F238E27FC236}">
                <a16:creationId xmlns:a16="http://schemas.microsoft.com/office/drawing/2014/main" id="{D60BD6A1-9AFD-4306-97FA-E560F16B9860}"/>
              </a:ext>
            </a:extLst>
          </p:cNvPr>
          <p:cNvSpPr/>
          <p:nvPr/>
        </p:nvSpPr>
        <p:spPr>
          <a:xfrm>
            <a:off x="2780715" y="3516217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Flowchart: Connector 80">
            <a:extLst>
              <a:ext uri="{FF2B5EF4-FFF2-40B4-BE49-F238E27FC236}">
                <a16:creationId xmlns:a16="http://schemas.microsoft.com/office/drawing/2014/main" id="{19FAE871-8FBB-4B2B-8620-9F2B2350FCCF}"/>
              </a:ext>
            </a:extLst>
          </p:cNvPr>
          <p:cNvSpPr/>
          <p:nvPr/>
        </p:nvSpPr>
        <p:spPr>
          <a:xfrm>
            <a:off x="3465350" y="3446059"/>
            <a:ext cx="45719" cy="45719"/>
          </a:xfrm>
          <a:prstGeom prst="flowChartConnector">
            <a:avLst/>
          </a:prstGeom>
          <a:solidFill>
            <a:srgbClr val="D363BB"/>
          </a:solidFill>
          <a:ln>
            <a:solidFill>
              <a:srgbClr val="D363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Flowchart: Connector 81">
            <a:extLst>
              <a:ext uri="{FF2B5EF4-FFF2-40B4-BE49-F238E27FC236}">
                <a16:creationId xmlns:a16="http://schemas.microsoft.com/office/drawing/2014/main" id="{0A1E7CDF-FD2D-47D0-8452-2790A7167C68}"/>
              </a:ext>
            </a:extLst>
          </p:cNvPr>
          <p:cNvSpPr/>
          <p:nvPr/>
        </p:nvSpPr>
        <p:spPr>
          <a:xfrm>
            <a:off x="3605783" y="3700971"/>
            <a:ext cx="45719" cy="45719"/>
          </a:xfrm>
          <a:prstGeom prst="flowChartConnector">
            <a:avLst/>
          </a:prstGeom>
          <a:solidFill>
            <a:srgbClr val="D363BB"/>
          </a:solidFill>
          <a:ln>
            <a:solidFill>
              <a:srgbClr val="D363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Flowchart: Connector 82">
            <a:extLst>
              <a:ext uri="{FF2B5EF4-FFF2-40B4-BE49-F238E27FC236}">
                <a16:creationId xmlns:a16="http://schemas.microsoft.com/office/drawing/2014/main" id="{8AB88881-4176-4B3E-BE83-F6CA88DEC705}"/>
              </a:ext>
            </a:extLst>
          </p:cNvPr>
          <p:cNvSpPr/>
          <p:nvPr/>
        </p:nvSpPr>
        <p:spPr>
          <a:xfrm>
            <a:off x="3785603" y="4005636"/>
            <a:ext cx="45719" cy="45719"/>
          </a:xfrm>
          <a:prstGeom prst="flowChartConnector">
            <a:avLst/>
          </a:prstGeom>
          <a:solidFill>
            <a:srgbClr val="D363BB"/>
          </a:solidFill>
          <a:ln>
            <a:solidFill>
              <a:srgbClr val="D363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Flowchart: Connector 83">
            <a:extLst>
              <a:ext uri="{FF2B5EF4-FFF2-40B4-BE49-F238E27FC236}">
                <a16:creationId xmlns:a16="http://schemas.microsoft.com/office/drawing/2014/main" id="{0E329FF2-9E9F-4C6C-A192-7CCF43F214F9}"/>
              </a:ext>
            </a:extLst>
          </p:cNvPr>
          <p:cNvSpPr/>
          <p:nvPr/>
        </p:nvSpPr>
        <p:spPr>
          <a:xfrm>
            <a:off x="4273690" y="3445013"/>
            <a:ext cx="45719" cy="45719"/>
          </a:xfrm>
          <a:prstGeom prst="flowChartConnector">
            <a:avLst/>
          </a:prstGeom>
          <a:solidFill>
            <a:srgbClr val="D363BB"/>
          </a:solidFill>
          <a:ln>
            <a:solidFill>
              <a:srgbClr val="D363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Flowchart: Connector 84">
            <a:extLst>
              <a:ext uri="{FF2B5EF4-FFF2-40B4-BE49-F238E27FC236}">
                <a16:creationId xmlns:a16="http://schemas.microsoft.com/office/drawing/2014/main" id="{E4CCC563-350D-426C-A195-40B2292D317C}"/>
              </a:ext>
            </a:extLst>
          </p:cNvPr>
          <p:cNvSpPr/>
          <p:nvPr/>
        </p:nvSpPr>
        <p:spPr>
          <a:xfrm>
            <a:off x="3884198" y="3704607"/>
            <a:ext cx="45719" cy="45719"/>
          </a:xfrm>
          <a:prstGeom prst="flowChartConnector">
            <a:avLst/>
          </a:prstGeom>
          <a:solidFill>
            <a:srgbClr val="D363BB"/>
          </a:solidFill>
          <a:ln>
            <a:solidFill>
              <a:srgbClr val="D363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Flowchart: Connector 85">
            <a:extLst>
              <a:ext uri="{FF2B5EF4-FFF2-40B4-BE49-F238E27FC236}">
                <a16:creationId xmlns:a16="http://schemas.microsoft.com/office/drawing/2014/main" id="{11D2A10C-F5FC-4C76-ADA7-033C807AE364}"/>
              </a:ext>
            </a:extLst>
          </p:cNvPr>
          <p:cNvSpPr/>
          <p:nvPr/>
        </p:nvSpPr>
        <p:spPr>
          <a:xfrm>
            <a:off x="3595828" y="3808720"/>
            <a:ext cx="45719" cy="45719"/>
          </a:xfrm>
          <a:prstGeom prst="flowChartConnector">
            <a:avLst/>
          </a:prstGeom>
          <a:solidFill>
            <a:srgbClr val="D363BB"/>
          </a:solidFill>
          <a:ln>
            <a:solidFill>
              <a:srgbClr val="D363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Flowchart: Connector 86">
            <a:extLst>
              <a:ext uri="{FF2B5EF4-FFF2-40B4-BE49-F238E27FC236}">
                <a16:creationId xmlns:a16="http://schemas.microsoft.com/office/drawing/2014/main" id="{9258AAE3-8D00-417B-8AE2-02F11A924A74}"/>
              </a:ext>
            </a:extLst>
          </p:cNvPr>
          <p:cNvSpPr/>
          <p:nvPr/>
        </p:nvSpPr>
        <p:spPr>
          <a:xfrm>
            <a:off x="3755844" y="3884500"/>
            <a:ext cx="45719" cy="45719"/>
          </a:xfrm>
          <a:prstGeom prst="flowChartConnector">
            <a:avLst/>
          </a:prstGeom>
          <a:solidFill>
            <a:srgbClr val="D363BB"/>
          </a:solidFill>
          <a:ln>
            <a:solidFill>
              <a:srgbClr val="D363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Flowchart: Connector 87">
            <a:extLst>
              <a:ext uri="{FF2B5EF4-FFF2-40B4-BE49-F238E27FC236}">
                <a16:creationId xmlns:a16="http://schemas.microsoft.com/office/drawing/2014/main" id="{56B836A3-F433-4516-8104-D6119572674E}"/>
              </a:ext>
            </a:extLst>
          </p:cNvPr>
          <p:cNvSpPr/>
          <p:nvPr/>
        </p:nvSpPr>
        <p:spPr>
          <a:xfrm>
            <a:off x="4027211" y="3685595"/>
            <a:ext cx="45719" cy="45719"/>
          </a:xfrm>
          <a:prstGeom prst="flowChartConnector">
            <a:avLst/>
          </a:prstGeom>
          <a:solidFill>
            <a:srgbClr val="D363BB"/>
          </a:solidFill>
          <a:ln>
            <a:solidFill>
              <a:srgbClr val="D363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Flowchart: Connector 88">
            <a:extLst>
              <a:ext uri="{FF2B5EF4-FFF2-40B4-BE49-F238E27FC236}">
                <a16:creationId xmlns:a16="http://schemas.microsoft.com/office/drawing/2014/main" id="{B5047262-C787-43A1-86F4-408090319DD7}"/>
              </a:ext>
            </a:extLst>
          </p:cNvPr>
          <p:cNvSpPr/>
          <p:nvPr/>
        </p:nvSpPr>
        <p:spPr>
          <a:xfrm>
            <a:off x="3705641" y="3648828"/>
            <a:ext cx="45719" cy="45719"/>
          </a:xfrm>
          <a:prstGeom prst="flowChartConnector">
            <a:avLst/>
          </a:prstGeom>
          <a:solidFill>
            <a:srgbClr val="D363BB"/>
          </a:solidFill>
          <a:ln>
            <a:solidFill>
              <a:srgbClr val="D363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Flowchart: Connector 89">
            <a:extLst>
              <a:ext uri="{FF2B5EF4-FFF2-40B4-BE49-F238E27FC236}">
                <a16:creationId xmlns:a16="http://schemas.microsoft.com/office/drawing/2014/main" id="{9E1E18E8-089F-4BEE-A6D3-1A8C6025FA4E}"/>
              </a:ext>
            </a:extLst>
          </p:cNvPr>
          <p:cNvSpPr/>
          <p:nvPr/>
        </p:nvSpPr>
        <p:spPr>
          <a:xfrm>
            <a:off x="3365568" y="3616485"/>
            <a:ext cx="45719" cy="45719"/>
          </a:xfrm>
          <a:prstGeom prst="flowChartConnector">
            <a:avLst/>
          </a:prstGeom>
          <a:solidFill>
            <a:srgbClr val="D363BB"/>
          </a:solidFill>
          <a:ln>
            <a:solidFill>
              <a:srgbClr val="D363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Flowchart: Connector 90">
            <a:extLst>
              <a:ext uri="{FF2B5EF4-FFF2-40B4-BE49-F238E27FC236}">
                <a16:creationId xmlns:a16="http://schemas.microsoft.com/office/drawing/2014/main" id="{471777A9-48A1-4852-8FD9-AF66D645DE06}"/>
              </a:ext>
            </a:extLst>
          </p:cNvPr>
          <p:cNvSpPr/>
          <p:nvPr/>
        </p:nvSpPr>
        <p:spPr>
          <a:xfrm>
            <a:off x="4014609" y="3578031"/>
            <a:ext cx="45719" cy="45719"/>
          </a:xfrm>
          <a:prstGeom prst="flowChartConnector">
            <a:avLst/>
          </a:prstGeom>
          <a:solidFill>
            <a:srgbClr val="D363BB"/>
          </a:solidFill>
          <a:ln>
            <a:solidFill>
              <a:srgbClr val="D363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Flowchart: Connector 91">
            <a:extLst>
              <a:ext uri="{FF2B5EF4-FFF2-40B4-BE49-F238E27FC236}">
                <a16:creationId xmlns:a16="http://schemas.microsoft.com/office/drawing/2014/main" id="{E0BBBB91-3270-4088-A4A1-1ECEC44EB559}"/>
              </a:ext>
            </a:extLst>
          </p:cNvPr>
          <p:cNvSpPr/>
          <p:nvPr/>
        </p:nvSpPr>
        <p:spPr>
          <a:xfrm>
            <a:off x="3850666" y="3566192"/>
            <a:ext cx="45719" cy="45719"/>
          </a:xfrm>
          <a:prstGeom prst="flowChartConnector">
            <a:avLst/>
          </a:prstGeom>
          <a:solidFill>
            <a:srgbClr val="D363BB"/>
          </a:solidFill>
          <a:ln>
            <a:solidFill>
              <a:srgbClr val="D363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Flowchart: Connector 92">
            <a:extLst>
              <a:ext uri="{FF2B5EF4-FFF2-40B4-BE49-F238E27FC236}">
                <a16:creationId xmlns:a16="http://schemas.microsoft.com/office/drawing/2014/main" id="{EB8FF413-B5F6-49F5-9F6E-AABD8E1E0ED3}"/>
              </a:ext>
            </a:extLst>
          </p:cNvPr>
          <p:cNvSpPr/>
          <p:nvPr/>
        </p:nvSpPr>
        <p:spPr>
          <a:xfrm>
            <a:off x="3975636" y="3912315"/>
            <a:ext cx="45719" cy="45719"/>
          </a:xfrm>
          <a:prstGeom prst="flowChartConnector">
            <a:avLst/>
          </a:prstGeom>
          <a:solidFill>
            <a:srgbClr val="D363BB"/>
          </a:solidFill>
          <a:ln>
            <a:solidFill>
              <a:srgbClr val="D363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Flowchart: Connector 93">
            <a:extLst>
              <a:ext uri="{FF2B5EF4-FFF2-40B4-BE49-F238E27FC236}">
                <a16:creationId xmlns:a16="http://schemas.microsoft.com/office/drawing/2014/main" id="{DD676A6E-A522-4B3B-88AB-0945181EAA5A}"/>
              </a:ext>
            </a:extLst>
          </p:cNvPr>
          <p:cNvSpPr/>
          <p:nvPr/>
        </p:nvSpPr>
        <p:spPr>
          <a:xfrm>
            <a:off x="4081854" y="3336834"/>
            <a:ext cx="45719" cy="45719"/>
          </a:xfrm>
          <a:prstGeom prst="flowChartConnector">
            <a:avLst/>
          </a:prstGeom>
          <a:solidFill>
            <a:srgbClr val="D363BB"/>
          </a:solidFill>
          <a:ln>
            <a:solidFill>
              <a:srgbClr val="D363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Flowchart: Connector 94">
            <a:extLst>
              <a:ext uri="{FF2B5EF4-FFF2-40B4-BE49-F238E27FC236}">
                <a16:creationId xmlns:a16="http://schemas.microsoft.com/office/drawing/2014/main" id="{3EABEEF4-A0DC-4AC9-8F3F-2B8541DC3D7D}"/>
              </a:ext>
            </a:extLst>
          </p:cNvPr>
          <p:cNvSpPr/>
          <p:nvPr/>
        </p:nvSpPr>
        <p:spPr>
          <a:xfrm>
            <a:off x="3540396" y="3582234"/>
            <a:ext cx="45719" cy="45719"/>
          </a:xfrm>
          <a:prstGeom prst="flowChartConnector">
            <a:avLst/>
          </a:prstGeom>
          <a:solidFill>
            <a:srgbClr val="D363BB"/>
          </a:solidFill>
          <a:ln>
            <a:solidFill>
              <a:srgbClr val="D363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Flowchart: Connector 95">
            <a:extLst>
              <a:ext uri="{FF2B5EF4-FFF2-40B4-BE49-F238E27FC236}">
                <a16:creationId xmlns:a16="http://schemas.microsoft.com/office/drawing/2014/main" id="{0E73D000-15DE-4B83-AC05-EA5140D2435D}"/>
              </a:ext>
            </a:extLst>
          </p:cNvPr>
          <p:cNvSpPr/>
          <p:nvPr/>
        </p:nvSpPr>
        <p:spPr>
          <a:xfrm>
            <a:off x="4167009" y="3730431"/>
            <a:ext cx="45719" cy="45719"/>
          </a:xfrm>
          <a:prstGeom prst="flowChartConnector">
            <a:avLst/>
          </a:prstGeom>
          <a:solidFill>
            <a:srgbClr val="D363BB"/>
          </a:solidFill>
          <a:ln>
            <a:solidFill>
              <a:srgbClr val="D363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Flowchart: Connector 96">
            <a:extLst>
              <a:ext uri="{FF2B5EF4-FFF2-40B4-BE49-F238E27FC236}">
                <a16:creationId xmlns:a16="http://schemas.microsoft.com/office/drawing/2014/main" id="{BACCD223-AE48-4752-8126-4CC973A049AE}"/>
              </a:ext>
            </a:extLst>
          </p:cNvPr>
          <p:cNvSpPr/>
          <p:nvPr/>
        </p:nvSpPr>
        <p:spPr>
          <a:xfrm>
            <a:off x="4319409" y="3882831"/>
            <a:ext cx="45719" cy="45719"/>
          </a:xfrm>
          <a:prstGeom prst="flowChartConnector">
            <a:avLst/>
          </a:prstGeom>
          <a:solidFill>
            <a:srgbClr val="D363BB"/>
          </a:solidFill>
          <a:ln>
            <a:solidFill>
              <a:srgbClr val="D363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Flowchart: Connector 97">
            <a:extLst>
              <a:ext uri="{FF2B5EF4-FFF2-40B4-BE49-F238E27FC236}">
                <a16:creationId xmlns:a16="http://schemas.microsoft.com/office/drawing/2014/main" id="{6A2D8A2D-1312-4E39-94E3-A8E56E556D13}"/>
              </a:ext>
            </a:extLst>
          </p:cNvPr>
          <p:cNvSpPr/>
          <p:nvPr/>
        </p:nvSpPr>
        <p:spPr>
          <a:xfrm>
            <a:off x="3458987" y="3830520"/>
            <a:ext cx="45719" cy="45719"/>
          </a:xfrm>
          <a:prstGeom prst="flowChartConnector">
            <a:avLst/>
          </a:prstGeom>
          <a:solidFill>
            <a:srgbClr val="D363BB"/>
          </a:solidFill>
          <a:ln>
            <a:solidFill>
              <a:srgbClr val="D363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Flowchart: Connector 98">
            <a:extLst>
              <a:ext uri="{FF2B5EF4-FFF2-40B4-BE49-F238E27FC236}">
                <a16:creationId xmlns:a16="http://schemas.microsoft.com/office/drawing/2014/main" id="{42A8F22C-AD9C-4242-9985-A48396A32E4F}"/>
              </a:ext>
            </a:extLst>
          </p:cNvPr>
          <p:cNvSpPr/>
          <p:nvPr/>
        </p:nvSpPr>
        <p:spPr>
          <a:xfrm>
            <a:off x="3940667" y="3823879"/>
            <a:ext cx="45719" cy="45719"/>
          </a:xfrm>
          <a:prstGeom prst="flowChartConnector">
            <a:avLst/>
          </a:prstGeom>
          <a:solidFill>
            <a:srgbClr val="D363BB"/>
          </a:solidFill>
          <a:ln>
            <a:solidFill>
              <a:srgbClr val="D363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Flowchart: Connector 99">
            <a:extLst>
              <a:ext uri="{FF2B5EF4-FFF2-40B4-BE49-F238E27FC236}">
                <a16:creationId xmlns:a16="http://schemas.microsoft.com/office/drawing/2014/main" id="{2C61961E-2141-4E7B-A275-1D668A192525}"/>
              </a:ext>
            </a:extLst>
          </p:cNvPr>
          <p:cNvSpPr/>
          <p:nvPr/>
        </p:nvSpPr>
        <p:spPr>
          <a:xfrm>
            <a:off x="4165359" y="3515105"/>
            <a:ext cx="45719" cy="45719"/>
          </a:xfrm>
          <a:prstGeom prst="flowChartConnector">
            <a:avLst/>
          </a:prstGeom>
          <a:solidFill>
            <a:srgbClr val="D363BB"/>
          </a:solidFill>
          <a:ln>
            <a:solidFill>
              <a:srgbClr val="D363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Flowchart: Connector 100">
            <a:extLst>
              <a:ext uri="{FF2B5EF4-FFF2-40B4-BE49-F238E27FC236}">
                <a16:creationId xmlns:a16="http://schemas.microsoft.com/office/drawing/2014/main" id="{AC743974-FD0F-44FE-BA01-A2A3451888A3}"/>
              </a:ext>
            </a:extLst>
          </p:cNvPr>
          <p:cNvSpPr/>
          <p:nvPr/>
        </p:nvSpPr>
        <p:spPr>
          <a:xfrm>
            <a:off x="3884028" y="3417284"/>
            <a:ext cx="45719" cy="45719"/>
          </a:xfrm>
          <a:prstGeom prst="flowChartConnector">
            <a:avLst/>
          </a:prstGeom>
          <a:solidFill>
            <a:srgbClr val="D363BB"/>
          </a:solidFill>
          <a:ln>
            <a:solidFill>
              <a:srgbClr val="D363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" name="Flowchart: Connector 101">
            <a:extLst>
              <a:ext uri="{FF2B5EF4-FFF2-40B4-BE49-F238E27FC236}">
                <a16:creationId xmlns:a16="http://schemas.microsoft.com/office/drawing/2014/main" id="{BDEFEDF1-477A-43DF-8EBA-E33C5333EB70}"/>
              </a:ext>
            </a:extLst>
          </p:cNvPr>
          <p:cNvSpPr/>
          <p:nvPr/>
        </p:nvSpPr>
        <p:spPr>
          <a:xfrm>
            <a:off x="3682781" y="3438155"/>
            <a:ext cx="45719" cy="45719"/>
          </a:xfrm>
          <a:prstGeom prst="flowChartConnector">
            <a:avLst/>
          </a:prstGeom>
          <a:solidFill>
            <a:srgbClr val="D363BB"/>
          </a:solidFill>
          <a:ln>
            <a:solidFill>
              <a:srgbClr val="D363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C6824C1-D1DE-4CB4-9479-8C3A745AB8FC}"/>
              </a:ext>
            </a:extLst>
          </p:cNvPr>
          <p:cNvSpPr txBox="1"/>
          <p:nvPr/>
        </p:nvSpPr>
        <p:spPr>
          <a:xfrm>
            <a:off x="3071724" y="4989688"/>
            <a:ext cx="471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80</a:t>
            </a:r>
            <a:endParaRPr lang="en-GB" sz="14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0A09330-9D34-4877-AB7C-29D5283387FB}"/>
              </a:ext>
            </a:extLst>
          </p:cNvPr>
          <p:cNvSpPr txBox="1"/>
          <p:nvPr/>
        </p:nvSpPr>
        <p:spPr>
          <a:xfrm>
            <a:off x="3458372" y="4998701"/>
            <a:ext cx="517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90</a:t>
            </a:r>
            <a:endParaRPr lang="en-GB" sz="14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1595069-8B30-4487-8616-C34C0B22A1A4}"/>
              </a:ext>
            </a:extLst>
          </p:cNvPr>
          <p:cNvSpPr txBox="1"/>
          <p:nvPr/>
        </p:nvSpPr>
        <p:spPr>
          <a:xfrm>
            <a:off x="2380442" y="4992718"/>
            <a:ext cx="517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60</a:t>
            </a:r>
            <a:endParaRPr lang="en-GB" sz="1400" dirty="0"/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376FC0C3-0324-4109-990A-9AD07ED6FEBB}"/>
              </a:ext>
            </a:extLst>
          </p:cNvPr>
          <p:cNvCxnSpPr/>
          <p:nvPr/>
        </p:nvCxnSpPr>
        <p:spPr>
          <a:xfrm>
            <a:off x="1269727" y="4127089"/>
            <a:ext cx="3442614" cy="0"/>
          </a:xfrm>
          <a:prstGeom prst="line">
            <a:avLst/>
          </a:prstGeom>
          <a:ln w="1905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D9611B0D-5812-42DC-80F7-015B88235EAD}"/>
              </a:ext>
            </a:extLst>
          </p:cNvPr>
          <p:cNvCxnSpPr>
            <a:cxnSpLocks/>
          </p:cNvCxnSpPr>
          <p:nvPr/>
        </p:nvCxnSpPr>
        <p:spPr>
          <a:xfrm flipH="1" flipV="1">
            <a:off x="3242099" y="3295723"/>
            <a:ext cx="12602" cy="833846"/>
          </a:xfrm>
          <a:prstGeom prst="line">
            <a:avLst/>
          </a:prstGeom>
          <a:ln w="1905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EDA93F09-CA6D-4926-B2CE-C2BC37BCD8C1}"/>
              </a:ext>
            </a:extLst>
          </p:cNvPr>
          <p:cNvSpPr txBox="1"/>
          <p:nvPr/>
        </p:nvSpPr>
        <p:spPr>
          <a:xfrm>
            <a:off x="2949972" y="3003014"/>
            <a:ext cx="778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Split 2</a:t>
            </a:r>
            <a:endParaRPr lang="en-GB" sz="1200" b="1" dirty="0"/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F058536F-B37F-4323-8E78-A4E481C020F5}"/>
              </a:ext>
            </a:extLst>
          </p:cNvPr>
          <p:cNvCxnSpPr>
            <a:cxnSpLocks/>
          </p:cNvCxnSpPr>
          <p:nvPr/>
        </p:nvCxnSpPr>
        <p:spPr>
          <a:xfrm flipH="1" flipV="1">
            <a:off x="2551841" y="4166120"/>
            <a:ext cx="12602" cy="833846"/>
          </a:xfrm>
          <a:prstGeom prst="line">
            <a:avLst/>
          </a:prstGeom>
          <a:ln w="1905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AF3E5DA8-DE5F-44CE-AA86-3EF63A0EF0F8}"/>
              </a:ext>
            </a:extLst>
          </p:cNvPr>
          <p:cNvSpPr txBox="1"/>
          <p:nvPr/>
        </p:nvSpPr>
        <p:spPr>
          <a:xfrm>
            <a:off x="2304632" y="3882052"/>
            <a:ext cx="778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Split 3</a:t>
            </a:r>
            <a:endParaRPr lang="en-GB" sz="1200" b="1" dirty="0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1EA45D2A-1307-4B0B-BCF8-66729706A03F}"/>
              </a:ext>
            </a:extLst>
          </p:cNvPr>
          <p:cNvCxnSpPr>
            <a:cxnSpLocks/>
          </p:cNvCxnSpPr>
          <p:nvPr/>
        </p:nvCxnSpPr>
        <p:spPr>
          <a:xfrm flipH="1" flipV="1">
            <a:off x="3645138" y="4149390"/>
            <a:ext cx="12602" cy="833846"/>
          </a:xfrm>
          <a:prstGeom prst="line">
            <a:avLst/>
          </a:prstGeom>
          <a:ln w="1905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CD629E36-3592-41EC-A379-C63DA2662A38}"/>
              </a:ext>
            </a:extLst>
          </p:cNvPr>
          <p:cNvSpPr txBox="1"/>
          <p:nvPr/>
        </p:nvSpPr>
        <p:spPr>
          <a:xfrm>
            <a:off x="3301061" y="3865918"/>
            <a:ext cx="778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Split 4</a:t>
            </a:r>
            <a:endParaRPr lang="en-GB" sz="1200" b="1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AEB8581-0AF2-4F57-913A-F2FA063E0566}"/>
              </a:ext>
            </a:extLst>
          </p:cNvPr>
          <p:cNvSpPr txBox="1"/>
          <p:nvPr/>
        </p:nvSpPr>
        <p:spPr>
          <a:xfrm>
            <a:off x="4712341" y="3953151"/>
            <a:ext cx="778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Split 1</a:t>
            </a:r>
            <a:endParaRPr lang="en-GB" sz="1200" b="1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FB6E464-3456-49FC-9809-F74142386CAE}"/>
              </a:ext>
            </a:extLst>
          </p:cNvPr>
          <p:cNvSpPr txBox="1"/>
          <p:nvPr/>
        </p:nvSpPr>
        <p:spPr>
          <a:xfrm>
            <a:off x="4452535" y="4854093"/>
            <a:ext cx="14782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X1</a:t>
            </a:r>
            <a:endParaRPr lang="en-GB" sz="140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F153351-32FA-4D0D-AFE8-5597CBD19D5B}"/>
              </a:ext>
            </a:extLst>
          </p:cNvPr>
          <p:cNvSpPr/>
          <p:nvPr/>
        </p:nvSpPr>
        <p:spPr>
          <a:xfrm>
            <a:off x="7880689" y="1914011"/>
            <a:ext cx="932155" cy="470517"/>
          </a:xfrm>
          <a:prstGeom prst="rect">
            <a:avLst/>
          </a:prstGeom>
          <a:solidFill>
            <a:srgbClr val="720017"/>
          </a:solidFill>
          <a:ln>
            <a:solidFill>
              <a:srgbClr val="7200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X2 &lt; 50</a:t>
            </a:r>
            <a:endParaRPr lang="en-GB" sz="1400" b="1" dirty="0"/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052B7D33-471C-4157-941B-0F4E738BEEA4}"/>
              </a:ext>
            </a:extLst>
          </p:cNvPr>
          <p:cNvCxnSpPr>
            <a:cxnSpLocks/>
            <a:endCxn id="120" idx="0"/>
          </p:cNvCxnSpPr>
          <p:nvPr/>
        </p:nvCxnSpPr>
        <p:spPr>
          <a:xfrm flipH="1">
            <a:off x="7027428" y="2384658"/>
            <a:ext cx="1062944" cy="9574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414DD67B-51B2-44D2-BA2C-C4C9A1110859}"/>
              </a:ext>
            </a:extLst>
          </p:cNvPr>
          <p:cNvSpPr txBox="1"/>
          <p:nvPr/>
        </p:nvSpPr>
        <p:spPr>
          <a:xfrm>
            <a:off x="7251207" y="2624062"/>
            <a:ext cx="566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</a:t>
            </a:r>
            <a:endParaRPr lang="en-GB" sz="1200" dirty="0"/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C10B91C1-F255-413F-9A4A-AA3BBBEC075F}"/>
              </a:ext>
            </a:extLst>
          </p:cNvPr>
          <p:cNvCxnSpPr>
            <a:cxnSpLocks/>
            <a:endCxn id="127" idx="0"/>
          </p:cNvCxnSpPr>
          <p:nvPr/>
        </p:nvCxnSpPr>
        <p:spPr>
          <a:xfrm>
            <a:off x="8620201" y="2384528"/>
            <a:ext cx="1303525" cy="9751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5A608995-30C5-42B8-962A-D20AF42D7191}"/>
              </a:ext>
            </a:extLst>
          </p:cNvPr>
          <p:cNvSpPr txBox="1"/>
          <p:nvPr/>
        </p:nvSpPr>
        <p:spPr>
          <a:xfrm>
            <a:off x="9194067" y="2624062"/>
            <a:ext cx="566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YES</a:t>
            </a:r>
            <a:endParaRPr lang="en-GB" sz="1200" dirty="0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62EC2E11-6651-4760-A9EE-D6B0A15A07F8}"/>
              </a:ext>
            </a:extLst>
          </p:cNvPr>
          <p:cNvSpPr/>
          <p:nvPr/>
        </p:nvSpPr>
        <p:spPr>
          <a:xfrm>
            <a:off x="6676853" y="3342107"/>
            <a:ext cx="701150" cy="381730"/>
          </a:xfrm>
          <a:prstGeom prst="rect">
            <a:avLst/>
          </a:prstGeom>
          <a:solidFill>
            <a:srgbClr val="720017"/>
          </a:solidFill>
          <a:ln>
            <a:solidFill>
              <a:srgbClr val="7200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X1 &lt; 80</a:t>
            </a:r>
            <a:endParaRPr lang="en-GB" sz="1200" b="1" dirty="0"/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511E4316-CC63-43C4-8AE0-5896C03FDFAE}"/>
              </a:ext>
            </a:extLst>
          </p:cNvPr>
          <p:cNvCxnSpPr/>
          <p:nvPr/>
        </p:nvCxnSpPr>
        <p:spPr>
          <a:xfrm flipH="1">
            <a:off x="6322471" y="3714588"/>
            <a:ext cx="541538" cy="6735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F78906E3-8577-4138-9EE5-2D0612C91D58}"/>
              </a:ext>
            </a:extLst>
          </p:cNvPr>
          <p:cNvSpPr txBox="1"/>
          <p:nvPr/>
        </p:nvSpPr>
        <p:spPr>
          <a:xfrm>
            <a:off x="6262350" y="3865917"/>
            <a:ext cx="566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</a:t>
            </a:r>
            <a:endParaRPr lang="en-GB" sz="1200" dirty="0"/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DE7CDCCB-BB70-4C29-A519-70FEF519ABCA}"/>
              </a:ext>
            </a:extLst>
          </p:cNvPr>
          <p:cNvCxnSpPr>
            <a:cxnSpLocks/>
          </p:cNvCxnSpPr>
          <p:nvPr/>
        </p:nvCxnSpPr>
        <p:spPr>
          <a:xfrm>
            <a:off x="7173508" y="3728096"/>
            <a:ext cx="500122" cy="6396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083A57F1-D11A-435B-AA3B-B33B7668D240}"/>
              </a:ext>
            </a:extLst>
          </p:cNvPr>
          <p:cNvSpPr txBox="1"/>
          <p:nvPr/>
        </p:nvSpPr>
        <p:spPr>
          <a:xfrm>
            <a:off x="7353584" y="3856807"/>
            <a:ext cx="566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YES</a:t>
            </a:r>
            <a:endParaRPr lang="en-GB" sz="1200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F9838D18-298B-4A47-8D62-0F9780D2403C}"/>
              </a:ext>
            </a:extLst>
          </p:cNvPr>
          <p:cNvSpPr/>
          <p:nvPr/>
        </p:nvSpPr>
        <p:spPr>
          <a:xfrm>
            <a:off x="5923979" y="4390580"/>
            <a:ext cx="701150" cy="381730"/>
          </a:xfrm>
          <a:prstGeom prst="rect">
            <a:avLst/>
          </a:prstGeom>
          <a:solidFill>
            <a:srgbClr val="D363BB"/>
          </a:solidFill>
          <a:ln>
            <a:solidFill>
              <a:srgbClr val="D363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b="1" dirty="0">
              <a:solidFill>
                <a:srgbClr val="FF0000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298D69C-7142-4EA8-9751-5DF623BF0F2F}"/>
              </a:ext>
            </a:extLst>
          </p:cNvPr>
          <p:cNvSpPr/>
          <p:nvPr/>
        </p:nvSpPr>
        <p:spPr>
          <a:xfrm>
            <a:off x="7353584" y="4383328"/>
            <a:ext cx="701150" cy="38173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b="1" dirty="0">
              <a:solidFill>
                <a:srgbClr val="FF0000"/>
              </a:solidFill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F16EE8E3-3E59-41ED-8963-FBD86A687383}"/>
              </a:ext>
            </a:extLst>
          </p:cNvPr>
          <p:cNvSpPr/>
          <p:nvPr/>
        </p:nvSpPr>
        <p:spPr>
          <a:xfrm>
            <a:off x="9573151" y="3359693"/>
            <a:ext cx="701150" cy="381730"/>
          </a:xfrm>
          <a:prstGeom prst="rect">
            <a:avLst/>
          </a:prstGeom>
          <a:solidFill>
            <a:srgbClr val="720017"/>
          </a:solidFill>
          <a:ln>
            <a:solidFill>
              <a:srgbClr val="7200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X1 &lt; 60</a:t>
            </a:r>
            <a:endParaRPr lang="en-GB" sz="1200" b="1" dirty="0"/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CEF44859-55D0-4D63-A65C-D2F361DCB784}"/>
              </a:ext>
            </a:extLst>
          </p:cNvPr>
          <p:cNvCxnSpPr/>
          <p:nvPr/>
        </p:nvCxnSpPr>
        <p:spPr>
          <a:xfrm flipH="1">
            <a:off x="9218769" y="3732174"/>
            <a:ext cx="541538" cy="6735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B7B73B84-4B2D-44B3-9233-DA5ED48141AA}"/>
              </a:ext>
            </a:extLst>
          </p:cNvPr>
          <p:cNvSpPr txBox="1"/>
          <p:nvPr/>
        </p:nvSpPr>
        <p:spPr>
          <a:xfrm>
            <a:off x="9158648" y="3883503"/>
            <a:ext cx="566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</a:t>
            </a:r>
            <a:endParaRPr lang="en-GB" sz="1200" dirty="0"/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B9F7813A-706E-4726-BF3A-D1E4C8E7CE09}"/>
              </a:ext>
            </a:extLst>
          </p:cNvPr>
          <p:cNvCxnSpPr>
            <a:cxnSpLocks/>
          </p:cNvCxnSpPr>
          <p:nvPr/>
        </p:nvCxnSpPr>
        <p:spPr>
          <a:xfrm>
            <a:off x="10069806" y="3745682"/>
            <a:ext cx="500122" cy="6396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25557730-5854-40EB-B183-B41C371BA963}"/>
              </a:ext>
            </a:extLst>
          </p:cNvPr>
          <p:cNvSpPr txBox="1"/>
          <p:nvPr/>
        </p:nvSpPr>
        <p:spPr>
          <a:xfrm>
            <a:off x="10249882" y="3874393"/>
            <a:ext cx="566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YES</a:t>
            </a:r>
            <a:endParaRPr lang="en-GB" sz="1200" dirty="0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FEF585A8-29FA-4CC6-AE95-CF143786E22F}"/>
              </a:ext>
            </a:extLst>
          </p:cNvPr>
          <p:cNvSpPr/>
          <p:nvPr/>
        </p:nvSpPr>
        <p:spPr>
          <a:xfrm>
            <a:off x="8820277" y="4408166"/>
            <a:ext cx="701150" cy="381730"/>
          </a:xfrm>
          <a:prstGeom prst="rect">
            <a:avLst/>
          </a:prstGeom>
          <a:solidFill>
            <a:srgbClr val="720017"/>
          </a:solidFill>
          <a:ln>
            <a:solidFill>
              <a:srgbClr val="7200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X1 &lt; 90</a:t>
            </a:r>
            <a:endParaRPr lang="en-GB" sz="1200" b="1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DEFB6C8D-DF0A-493B-B162-56B1DC9112CC}"/>
              </a:ext>
            </a:extLst>
          </p:cNvPr>
          <p:cNvSpPr/>
          <p:nvPr/>
        </p:nvSpPr>
        <p:spPr>
          <a:xfrm>
            <a:off x="10249882" y="4400914"/>
            <a:ext cx="701150" cy="381730"/>
          </a:xfrm>
          <a:prstGeom prst="rect">
            <a:avLst/>
          </a:prstGeom>
          <a:solidFill>
            <a:srgbClr val="22C855"/>
          </a:solidFill>
          <a:ln>
            <a:solidFill>
              <a:srgbClr val="22C8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b="1" dirty="0">
              <a:solidFill>
                <a:srgbClr val="FF0000"/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497A5AD2-A2CB-4D47-BB86-D2234F835FDF}"/>
              </a:ext>
            </a:extLst>
          </p:cNvPr>
          <p:cNvSpPr txBox="1"/>
          <p:nvPr/>
        </p:nvSpPr>
        <p:spPr>
          <a:xfrm>
            <a:off x="8346766" y="4939411"/>
            <a:ext cx="566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</a:t>
            </a:r>
            <a:endParaRPr lang="en-GB" sz="12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6053BF5-1DD1-4362-A06D-6621F1FBCE58}"/>
              </a:ext>
            </a:extLst>
          </p:cNvPr>
          <p:cNvSpPr txBox="1"/>
          <p:nvPr/>
        </p:nvSpPr>
        <p:spPr>
          <a:xfrm>
            <a:off x="9556665" y="4941145"/>
            <a:ext cx="566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YES</a:t>
            </a:r>
            <a:endParaRPr lang="en-GB" sz="1200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BA4F3FCB-E28B-4015-B6BF-F7802FE1F414}"/>
              </a:ext>
            </a:extLst>
          </p:cNvPr>
          <p:cNvSpPr/>
          <p:nvPr/>
        </p:nvSpPr>
        <p:spPr>
          <a:xfrm>
            <a:off x="8111694" y="5482738"/>
            <a:ext cx="701150" cy="38173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b="1" dirty="0">
              <a:solidFill>
                <a:srgbClr val="92D050"/>
              </a:solidFill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11A03652-B7BA-4F8B-A2FC-47B98479511A}"/>
              </a:ext>
            </a:extLst>
          </p:cNvPr>
          <p:cNvSpPr/>
          <p:nvPr/>
        </p:nvSpPr>
        <p:spPr>
          <a:xfrm>
            <a:off x="9548732" y="5461541"/>
            <a:ext cx="701150" cy="38173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b="1" dirty="0">
              <a:solidFill>
                <a:srgbClr val="FF0000"/>
              </a:solidFill>
            </a:endParaRP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870529F4-0A66-46CC-865B-02C8409B6A23}"/>
              </a:ext>
            </a:extLst>
          </p:cNvPr>
          <p:cNvCxnSpPr>
            <a:cxnSpLocks/>
          </p:cNvCxnSpPr>
          <p:nvPr/>
        </p:nvCxnSpPr>
        <p:spPr>
          <a:xfrm>
            <a:off x="9331035" y="4789896"/>
            <a:ext cx="500122" cy="6396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DECAA362-FC48-4AC6-A61A-3B1D39F4CD2C}"/>
              </a:ext>
            </a:extLst>
          </p:cNvPr>
          <p:cNvCxnSpPr/>
          <p:nvPr/>
        </p:nvCxnSpPr>
        <p:spPr>
          <a:xfrm flipH="1">
            <a:off x="8462115" y="4789896"/>
            <a:ext cx="541538" cy="6735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0" name="Flowchart: Connector 139">
            <a:extLst>
              <a:ext uri="{FF2B5EF4-FFF2-40B4-BE49-F238E27FC236}">
                <a16:creationId xmlns:a16="http://schemas.microsoft.com/office/drawing/2014/main" id="{02D8BB82-D84A-48C2-8DD7-241010179173}"/>
              </a:ext>
            </a:extLst>
          </p:cNvPr>
          <p:cNvSpPr/>
          <p:nvPr/>
        </p:nvSpPr>
        <p:spPr>
          <a:xfrm>
            <a:off x="1818109" y="4184431"/>
            <a:ext cx="45719" cy="45719"/>
          </a:xfrm>
          <a:prstGeom prst="flowChartConnector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1" name="Slide Number Placeholder 140">
            <a:extLst>
              <a:ext uri="{FF2B5EF4-FFF2-40B4-BE49-F238E27FC236}">
                <a16:creationId xmlns:a16="http://schemas.microsoft.com/office/drawing/2014/main" id="{1ADAEBFE-7D5E-4E57-9FD1-5CFEA91B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1990" y="6393572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151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9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1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2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3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4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6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7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8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9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3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4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6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7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80"/>
                            </p:stCondLst>
                            <p:childTnLst>
                              <p:par>
                                <p:cTn id="1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90"/>
                            </p:stCondLst>
                            <p:childTnLst>
                              <p:par>
                                <p:cTn id="1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0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10"/>
                            </p:stCondLst>
                            <p:childTnLst>
                              <p:par>
                                <p:cTn id="1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20"/>
                            </p:stCondLst>
                            <p:childTnLst>
                              <p:par>
                                <p:cTn id="1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30"/>
                            </p:stCondLst>
                            <p:childTnLst>
                              <p:par>
                                <p:cTn id="1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40"/>
                            </p:stCondLst>
                            <p:childTnLst>
                              <p:par>
                                <p:cTn id="1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0"/>
                            </p:stCondLst>
                            <p:childTnLst>
                              <p:par>
                                <p:cTn id="1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20"/>
                            </p:stCondLst>
                            <p:childTnLst>
                              <p:par>
                                <p:cTn id="1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30"/>
                            </p:stCondLst>
                            <p:childTnLst>
                              <p:par>
                                <p:cTn id="1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40"/>
                            </p:stCondLst>
                            <p:childTnLst>
                              <p:par>
                                <p:cTn id="1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1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50"/>
                            </p:stCondLst>
                            <p:childTnLst>
                              <p:par>
                                <p:cTn id="1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60"/>
                            </p:stCondLst>
                            <p:childTnLst>
                              <p:par>
                                <p:cTn id="1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70"/>
                            </p:stCondLst>
                            <p:childTnLst>
                              <p:par>
                                <p:cTn id="1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1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1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10"/>
                            </p:stCondLst>
                            <p:childTnLst>
                              <p:par>
                                <p:cTn id="2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20"/>
                            </p:stCondLst>
                            <p:childTnLst>
                              <p:par>
                                <p:cTn id="2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1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30"/>
                            </p:stCondLst>
                            <p:childTnLst>
                              <p:par>
                                <p:cTn id="2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1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40"/>
                            </p:stCondLst>
                            <p:childTnLst>
                              <p:par>
                                <p:cTn id="2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1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50"/>
                            </p:stCondLst>
                            <p:childTnLst>
                              <p:par>
                                <p:cTn id="2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60"/>
                            </p:stCondLst>
                            <p:childTnLst>
                              <p:par>
                                <p:cTn id="2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1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70"/>
                            </p:stCondLst>
                            <p:childTnLst>
                              <p:par>
                                <p:cTn id="2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1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80"/>
                            </p:stCondLst>
                            <p:childTnLst>
                              <p:par>
                                <p:cTn id="2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1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90"/>
                            </p:stCondLst>
                            <p:childTnLst>
                              <p:par>
                                <p:cTn id="2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1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100"/>
                            </p:stCondLst>
                            <p:childTnLst>
                              <p:par>
                                <p:cTn id="2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1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110"/>
                            </p:stCondLst>
                            <p:childTnLst>
                              <p:par>
                                <p:cTn id="2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1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120"/>
                            </p:stCondLst>
                            <p:childTnLst>
                              <p:par>
                                <p:cTn id="2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1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130"/>
                            </p:stCondLst>
                            <p:childTnLst>
                              <p:par>
                                <p:cTn id="2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1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140"/>
                            </p:stCondLst>
                            <p:childTnLst>
                              <p:par>
                                <p:cTn id="2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1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150"/>
                            </p:stCondLst>
                            <p:childTnLst>
                              <p:par>
                                <p:cTn id="2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1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160"/>
                            </p:stCondLst>
                            <p:childTnLst>
                              <p:par>
                                <p:cTn id="2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1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170"/>
                            </p:stCondLst>
                            <p:childTnLst>
                              <p:par>
                                <p:cTn id="2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1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180"/>
                            </p:stCondLst>
                            <p:childTnLst>
                              <p:par>
                                <p:cTn id="2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1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190"/>
                            </p:stCondLst>
                            <p:childTnLst>
                              <p:par>
                                <p:cTn id="2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1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200"/>
                            </p:stCondLst>
                            <p:childTnLst>
                              <p:par>
                                <p:cTn id="2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1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210"/>
                            </p:stCondLst>
                            <p:childTnLst>
                              <p:par>
                                <p:cTn id="2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1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220"/>
                            </p:stCondLst>
                            <p:childTnLst>
                              <p:par>
                                <p:cTn id="2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1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230"/>
                            </p:stCondLst>
                            <p:childTnLst>
                              <p:par>
                                <p:cTn id="2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1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>
                            <p:stCondLst>
                              <p:cond delay="240"/>
                            </p:stCondLst>
                            <p:childTnLst>
                              <p:par>
                                <p:cTn id="2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1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250"/>
                            </p:stCondLst>
                            <p:childTnLst>
                              <p:par>
                                <p:cTn id="2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1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260"/>
                            </p:stCondLst>
                            <p:childTnLst>
                              <p:par>
                                <p:cTn id="3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1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270"/>
                            </p:stCondLst>
                            <p:childTnLst>
                              <p:par>
                                <p:cTn id="3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1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280"/>
                            </p:stCondLst>
                            <p:childTnLst>
                              <p:par>
                                <p:cTn id="3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1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>
                            <p:stCondLst>
                              <p:cond delay="290"/>
                            </p:stCondLst>
                            <p:childTnLst>
                              <p:par>
                                <p:cTn id="3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1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300"/>
                            </p:stCondLst>
                            <p:childTnLst>
                              <p:par>
                                <p:cTn id="3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1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1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4" fill="hold">
                            <p:stCondLst>
                              <p:cond delay="10"/>
                            </p:stCondLst>
                            <p:childTnLst>
                              <p:par>
                                <p:cTn id="3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1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20"/>
                            </p:stCondLst>
                            <p:childTnLst>
                              <p:par>
                                <p:cTn id="3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1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2" fill="hold">
                            <p:stCondLst>
                              <p:cond delay="30"/>
                            </p:stCondLst>
                            <p:childTnLst>
                              <p:par>
                                <p:cTn id="3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1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6" fill="hold">
                            <p:stCondLst>
                              <p:cond delay="40"/>
                            </p:stCondLst>
                            <p:childTnLst>
                              <p:par>
                                <p:cTn id="3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1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50"/>
                            </p:stCondLst>
                            <p:childTnLst>
                              <p:par>
                                <p:cTn id="3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1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4" fill="hold">
                            <p:stCondLst>
                              <p:cond delay="60"/>
                            </p:stCondLst>
                            <p:childTnLst>
                              <p:par>
                                <p:cTn id="3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1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8" fill="hold">
                            <p:stCondLst>
                              <p:cond delay="70"/>
                            </p:stCondLst>
                            <p:childTnLst>
                              <p:par>
                                <p:cTn id="3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1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>
                            <p:stCondLst>
                              <p:cond delay="80"/>
                            </p:stCondLst>
                            <p:childTnLst>
                              <p:par>
                                <p:cTn id="3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1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6" fill="hold">
                            <p:stCondLst>
                              <p:cond delay="90"/>
                            </p:stCondLst>
                            <p:childTnLst>
                              <p:par>
                                <p:cTn id="3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9" dur="1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0" fill="hold">
                            <p:stCondLst>
                              <p:cond delay="100"/>
                            </p:stCondLst>
                            <p:childTnLst>
                              <p:par>
                                <p:cTn id="3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1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110"/>
                            </p:stCondLst>
                            <p:childTnLst>
                              <p:par>
                                <p:cTn id="3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1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8" fill="hold">
                            <p:stCondLst>
                              <p:cond delay="120"/>
                            </p:stCondLst>
                            <p:childTnLst>
                              <p:par>
                                <p:cTn id="3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1" dur="1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130"/>
                            </p:stCondLst>
                            <p:childTnLst>
                              <p:par>
                                <p:cTn id="3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1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6" fill="hold">
                            <p:stCondLst>
                              <p:cond delay="140"/>
                            </p:stCondLst>
                            <p:childTnLst>
                              <p:par>
                                <p:cTn id="3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1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0" fill="hold">
                            <p:stCondLst>
                              <p:cond delay="150"/>
                            </p:stCondLst>
                            <p:childTnLst>
                              <p:par>
                                <p:cTn id="3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3" dur="1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4" fill="hold">
                            <p:stCondLst>
                              <p:cond delay="160"/>
                            </p:stCondLst>
                            <p:childTnLst>
                              <p:par>
                                <p:cTn id="3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1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8" fill="hold">
                            <p:stCondLst>
                              <p:cond delay="170"/>
                            </p:stCondLst>
                            <p:childTnLst>
                              <p:par>
                                <p:cTn id="3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1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2" fill="hold">
                            <p:stCondLst>
                              <p:cond delay="180"/>
                            </p:stCondLst>
                            <p:childTnLst>
                              <p:par>
                                <p:cTn id="3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5" dur="1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6" fill="hold">
                            <p:stCondLst>
                              <p:cond delay="190"/>
                            </p:stCondLst>
                            <p:childTnLst>
                              <p:par>
                                <p:cTn id="3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1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0" fill="hold">
                            <p:stCondLst>
                              <p:cond delay="200"/>
                            </p:stCondLst>
                            <p:childTnLst>
                              <p:par>
                                <p:cTn id="4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3" dur="1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4" fill="hold">
                            <p:stCondLst>
                              <p:cond delay="210"/>
                            </p:stCondLst>
                            <p:childTnLst>
                              <p:par>
                                <p:cTn id="4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7" dur="1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>
                      <p:stCondLst>
                        <p:cond delay="indefinite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3" fill="hold">
                            <p:stCondLst>
                              <p:cond delay="500"/>
                            </p:stCondLst>
                            <p:childTnLst>
                              <p:par>
                                <p:cTn id="414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6" dur="250"/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7" fill="hold">
                            <p:stCondLst>
                              <p:cond delay="750"/>
                            </p:stCondLst>
                            <p:childTnLst>
                              <p:par>
                                <p:cTn id="418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0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fill="hold">
                      <p:stCondLst>
                        <p:cond delay="indefinite"/>
                      </p:stCondLst>
                      <p:childTnLst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id="4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6" fill="hold">
                            <p:stCondLst>
                              <p:cond delay="500"/>
                            </p:stCondLst>
                            <p:childTnLst>
                              <p:par>
                                <p:cTn id="427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9" dur="25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0" fill="hold">
                            <p:stCondLst>
                              <p:cond delay="750"/>
                            </p:stCondLst>
                            <p:childTnLst>
                              <p:par>
                                <p:cTn id="431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3" dur="2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fill="hold">
                      <p:stCondLst>
                        <p:cond delay="indefinite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9" fill="hold">
                            <p:stCondLst>
                              <p:cond delay="500"/>
                            </p:stCondLst>
                            <p:childTnLst>
                              <p:par>
                                <p:cTn id="440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2" dur="25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3" fill="hold">
                            <p:stCondLst>
                              <p:cond delay="750"/>
                            </p:stCondLst>
                            <p:childTnLst>
                              <p:par>
                                <p:cTn id="444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6" dur="2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2" fill="hold">
                            <p:stCondLst>
                              <p:cond delay="500"/>
                            </p:stCondLst>
                            <p:childTnLst>
                              <p:par>
                                <p:cTn id="453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5" dur="250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6" fill="hold">
                            <p:stCondLst>
                              <p:cond delay="750"/>
                            </p:stCondLst>
                            <p:childTnLst>
                              <p:par>
                                <p:cTn id="457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9" dur="2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0" fill="hold">
                      <p:stCondLst>
                        <p:cond delay="indefinite"/>
                      </p:stCondLst>
                      <p:childTnLst>
                        <p:par>
                          <p:cTn id="461" fill="hold">
                            <p:stCondLst>
                              <p:cond delay="0"/>
                            </p:stCondLst>
                            <p:childTnLst>
                              <p:par>
                                <p:cTn id="4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fill="hold">
                      <p:stCondLst>
                        <p:cond delay="indefinite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9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0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1" fill="hold">
                            <p:stCondLst>
                              <p:cond delay="500"/>
                            </p:stCondLst>
                            <p:childTnLst>
                              <p:par>
                                <p:cTn id="472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4" dur="2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5" fill="hold">
                            <p:stCondLst>
                              <p:cond delay="750"/>
                            </p:stCondLst>
                            <p:childTnLst>
                              <p:par>
                                <p:cTn id="47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8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9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0" fill="hold">
                            <p:stCondLst>
                              <p:cond delay="1250"/>
                            </p:stCondLst>
                            <p:childTnLst>
                              <p:par>
                                <p:cTn id="481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3" dur="2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4" fill="hold">
                      <p:stCondLst>
                        <p:cond delay="indefinite"/>
                      </p:stCondLst>
                      <p:childTnLst>
                        <p:par>
                          <p:cTn id="485" fill="hold">
                            <p:stCondLst>
                              <p:cond delay="0"/>
                            </p:stCondLst>
                            <p:childTnLst>
                              <p:par>
                                <p:cTn id="4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9" fill="hold">
                      <p:stCondLst>
                        <p:cond delay="indefinite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3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4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5" fill="hold">
                            <p:stCondLst>
                              <p:cond delay="500"/>
                            </p:stCondLst>
                            <p:childTnLst>
                              <p:par>
                                <p:cTn id="496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8" dur="2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9" fill="hold">
                            <p:stCondLst>
                              <p:cond delay="750"/>
                            </p:stCondLst>
                            <p:childTnLst>
                              <p:par>
                                <p:cTn id="50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2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3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4" fill="hold">
                            <p:stCondLst>
                              <p:cond delay="1250"/>
                            </p:stCondLst>
                            <p:childTnLst>
                              <p:par>
                                <p:cTn id="50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7" dur="2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8" fill="hold">
                      <p:stCondLst>
                        <p:cond delay="indefinite"/>
                      </p:stCondLst>
                      <p:childTnLst>
                        <p:par>
                          <p:cTn id="509" fill="hold">
                            <p:stCondLst>
                              <p:cond delay="0"/>
                            </p:stCondLst>
                            <p:childTnLst>
                              <p:par>
                                <p:cTn id="5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2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3" fill="hold">
                      <p:stCondLst>
                        <p:cond delay="indefinite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8" fill="hold">
                      <p:stCondLst>
                        <p:cond delay="indefinite"/>
                      </p:stCondLst>
                      <p:childTnLst>
                        <p:par>
                          <p:cTn id="519" fill="hold">
                            <p:stCondLst>
                              <p:cond delay="0"/>
                            </p:stCondLst>
                            <p:childTnLst>
                              <p:par>
                                <p:cTn id="5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3" fill="hold">
                      <p:stCondLst>
                        <p:cond delay="indefinite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id="5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7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8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9" fill="hold">
                            <p:stCondLst>
                              <p:cond delay="500"/>
                            </p:stCondLst>
                            <p:childTnLst>
                              <p:par>
                                <p:cTn id="530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2" dur="25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3" fill="hold">
                            <p:stCondLst>
                              <p:cond delay="750"/>
                            </p:stCondLst>
                            <p:childTnLst>
                              <p:par>
                                <p:cTn id="53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6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8" fill="hold">
                            <p:stCondLst>
                              <p:cond delay="1250"/>
                            </p:stCondLst>
                            <p:childTnLst>
                              <p:par>
                                <p:cTn id="53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1" dur="25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2" fill="hold">
                      <p:stCondLst>
                        <p:cond delay="indefinite"/>
                      </p:stCondLst>
                      <p:childTnLst>
                        <p:par>
                          <p:cTn id="543" fill="hold">
                            <p:stCondLst>
                              <p:cond delay="0"/>
                            </p:stCondLst>
                            <p:childTnLst>
                              <p:par>
                                <p:cTn id="5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7" fill="hold">
                      <p:stCondLst>
                        <p:cond delay="indefinite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id="5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2" fill="hold">
                      <p:stCondLst>
                        <p:cond delay="indefinite"/>
                      </p:stCondLst>
                      <p:childTnLst>
                        <p:par>
                          <p:cTn id="553" fill="hold">
                            <p:stCondLst>
                              <p:cond delay="0"/>
                            </p:stCondLst>
                            <p:childTnLst>
                              <p:par>
                                <p:cTn id="5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6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7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8" fill="hold">
                            <p:stCondLst>
                              <p:cond delay="500"/>
                            </p:stCondLst>
                            <p:childTnLst>
                              <p:par>
                                <p:cTn id="55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1" dur="25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2" fill="hold">
                            <p:stCondLst>
                              <p:cond delay="750"/>
                            </p:stCondLst>
                            <p:childTnLst>
                              <p:par>
                                <p:cTn id="56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5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6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7" fill="hold">
                            <p:stCondLst>
                              <p:cond delay="1250"/>
                            </p:stCondLst>
                            <p:childTnLst>
                              <p:par>
                                <p:cTn id="568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0" dur="25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1" fill="hold">
                      <p:stCondLst>
                        <p:cond delay="indefinite"/>
                      </p:stCondLst>
                      <p:childTnLst>
                        <p:par>
                          <p:cTn id="572" fill="hold">
                            <p:stCondLst>
                              <p:cond delay="0"/>
                            </p:stCondLst>
                            <p:childTnLst>
                              <p:par>
                                <p:cTn id="5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6" fill="hold">
                      <p:stCondLst>
                        <p:cond delay="indefinite"/>
                      </p:stCondLst>
                      <p:childTnLst>
                        <p:par>
                          <p:cTn id="577" fill="hold">
                            <p:stCondLst>
                              <p:cond delay="0"/>
                            </p:stCondLst>
                            <p:childTnLst>
                              <p:par>
                                <p:cTn id="5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1" fill="hold">
                      <p:stCondLst>
                        <p:cond delay="indefinite"/>
                      </p:stCondLst>
                      <p:childTnLst>
                        <p:par>
                          <p:cTn id="582" fill="hold">
                            <p:stCondLst>
                              <p:cond delay="0"/>
                            </p:stCondLst>
                            <p:childTnLst>
                              <p:par>
                                <p:cTn id="5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5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6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7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/>
      <p:bldP spid="104" grpId="0"/>
      <p:bldP spid="105" grpId="0"/>
      <p:bldP spid="114" grpId="0"/>
      <p:bldP spid="115" grpId="0" animBg="1"/>
      <p:bldP spid="117" grpId="0"/>
      <p:bldP spid="119" grpId="0"/>
      <p:bldP spid="120" grpId="0" animBg="1"/>
      <p:bldP spid="122" grpId="0"/>
      <p:bldP spid="124" grpId="0"/>
      <p:bldP spid="125" grpId="0" animBg="1"/>
      <p:bldP spid="126" grpId="0" animBg="1"/>
      <p:bldP spid="127" grpId="0" animBg="1"/>
      <p:bldP spid="129" grpId="0"/>
      <p:bldP spid="131" grpId="0"/>
      <p:bldP spid="132" grpId="0" animBg="1"/>
      <p:bldP spid="133" grpId="0" animBg="1"/>
      <p:bldP spid="134" grpId="0"/>
      <p:bldP spid="135" grpId="0"/>
      <p:bldP spid="136" grpId="0" animBg="1"/>
      <p:bldP spid="137" grpId="0" animBg="1"/>
      <p:bldP spid="14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 descr="A forest of trees&#10;&#10;Description automatically generated with low confidence">
            <a:extLst>
              <a:ext uri="{FF2B5EF4-FFF2-40B4-BE49-F238E27FC236}">
                <a16:creationId xmlns:a16="http://schemas.microsoft.com/office/drawing/2014/main" id="{3970AEA6-C215-4BD4-8E2C-9E71F15205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035" b="2695"/>
          <a:stretch/>
        </p:blipFill>
        <p:spPr>
          <a:xfrm>
            <a:off x="3" y="-22"/>
            <a:ext cx="12191997" cy="685802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1FE04DD-9807-408C-BA41-F4C7DB5A9868}"/>
              </a:ext>
            </a:extLst>
          </p:cNvPr>
          <p:cNvSpPr txBox="1">
            <a:spLocks/>
          </p:cNvSpPr>
          <p:nvPr/>
        </p:nvSpPr>
        <p:spPr>
          <a:xfrm>
            <a:off x="202101" y="275719"/>
            <a:ext cx="5452529" cy="35692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  <a:br>
              <a:rPr lang="en-US" sz="6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Forest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0E2A492-5104-44A3-913D-040153C0FE4D}"/>
              </a:ext>
            </a:extLst>
          </p:cNvPr>
          <p:cNvSpPr/>
          <p:nvPr/>
        </p:nvSpPr>
        <p:spPr>
          <a:xfrm>
            <a:off x="424873" y="1911927"/>
            <a:ext cx="9319491" cy="467035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7271E2-5F24-4818-B7AF-11E7CAB58BCC}"/>
              </a:ext>
            </a:extLst>
          </p:cNvPr>
          <p:cNvSpPr txBox="1"/>
          <p:nvPr/>
        </p:nvSpPr>
        <p:spPr>
          <a:xfrm>
            <a:off x="692458" y="2317072"/>
            <a:ext cx="7341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Picks a random K datapoints from the training set.</a:t>
            </a: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6EA2D7-32AC-472C-8565-8E0C4C663CB9}"/>
              </a:ext>
            </a:extLst>
          </p:cNvPr>
          <p:cNvSpPr txBox="1"/>
          <p:nvPr/>
        </p:nvSpPr>
        <p:spPr>
          <a:xfrm>
            <a:off x="692458" y="2896350"/>
            <a:ext cx="7341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Build a decision tree associated to these K data points.</a:t>
            </a: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F74FCB-402F-4D97-9C7B-9BE9FD0918AC}"/>
              </a:ext>
            </a:extLst>
          </p:cNvPr>
          <p:cNvSpPr txBox="1"/>
          <p:nvPr/>
        </p:nvSpPr>
        <p:spPr>
          <a:xfrm>
            <a:off x="692458" y="3576884"/>
            <a:ext cx="7341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By choosing the number of trees, the model will repeat step 1 and 2.</a:t>
            </a: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F7031-BBDB-4C5F-931D-86AFDD8234AF}"/>
              </a:ext>
            </a:extLst>
          </p:cNvPr>
          <p:cNvSpPr txBox="1"/>
          <p:nvPr/>
        </p:nvSpPr>
        <p:spPr>
          <a:xfrm>
            <a:off x="692458" y="4257418"/>
            <a:ext cx="76791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For a new data point, makes each one of the trees to predict the class of the data point and assigns the new data point to a class that wins the majority vote.  </a:t>
            </a: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50A302-4A70-4A0C-BFEA-050924605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1990" y="6399717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847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70000" y="7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6" grpId="0"/>
      <p:bldP spid="7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8C1591-489C-45F4-8B0C-665AA03291C5}"/>
              </a:ext>
            </a:extLst>
          </p:cNvPr>
          <p:cNvSpPr txBox="1"/>
          <p:nvPr/>
        </p:nvSpPr>
        <p:spPr>
          <a:xfrm>
            <a:off x="1017270" y="446270"/>
            <a:ext cx="609447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Cross Validation</a:t>
            </a:r>
            <a:endParaRPr lang="en-GB" sz="2600" spc="-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DE48EC-6B36-49B8-A50A-1884516D5010}"/>
              </a:ext>
            </a:extLst>
          </p:cNvPr>
          <p:cNvSpPr/>
          <p:nvPr/>
        </p:nvSpPr>
        <p:spPr>
          <a:xfrm>
            <a:off x="2171815" y="1315501"/>
            <a:ext cx="5829300" cy="492443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Training Set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397339-21D8-4861-BFE1-677A4AD4F990}"/>
              </a:ext>
            </a:extLst>
          </p:cNvPr>
          <p:cNvSpPr/>
          <p:nvPr/>
        </p:nvSpPr>
        <p:spPr>
          <a:xfrm>
            <a:off x="8067409" y="1323632"/>
            <a:ext cx="1389886" cy="49244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Test Set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A494C31-35C9-48BD-B64B-CB2E94ADED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777950"/>
              </p:ext>
            </p:extLst>
          </p:nvPr>
        </p:nvGraphicFramePr>
        <p:xfrm>
          <a:off x="2171815" y="2640780"/>
          <a:ext cx="7292335" cy="435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8467">
                  <a:extLst>
                    <a:ext uri="{9D8B030D-6E8A-4147-A177-3AD203B41FA5}">
                      <a16:colId xmlns:a16="http://schemas.microsoft.com/office/drawing/2014/main" val="1752374027"/>
                    </a:ext>
                  </a:extLst>
                </a:gridCol>
                <a:gridCol w="1458467">
                  <a:extLst>
                    <a:ext uri="{9D8B030D-6E8A-4147-A177-3AD203B41FA5}">
                      <a16:colId xmlns:a16="http://schemas.microsoft.com/office/drawing/2014/main" val="3374479635"/>
                    </a:ext>
                  </a:extLst>
                </a:gridCol>
                <a:gridCol w="1458467">
                  <a:extLst>
                    <a:ext uri="{9D8B030D-6E8A-4147-A177-3AD203B41FA5}">
                      <a16:colId xmlns:a16="http://schemas.microsoft.com/office/drawing/2014/main" val="2824500781"/>
                    </a:ext>
                  </a:extLst>
                </a:gridCol>
                <a:gridCol w="1458467">
                  <a:extLst>
                    <a:ext uri="{9D8B030D-6E8A-4147-A177-3AD203B41FA5}">
                      <a16:colId xmlns:a16="http://schemas.microsoft.com/office/drawing/2014/main" val="9798735"/>
                    </a:ext>
                  </a:extLst>
                </a:gridCol>
                <a:gridCol w="1458467">
                  <a:extLst>
                    <a:ext uri="{9D8B030D-6E8A-4147-A177-3AD203B41FA5}">
                      <a16:colId xmlns:a16="http://schemas.microsoft.com/office/drawing/2014/main" val="1746629159"/>
                    </a:ext>
                  </a:extLst>
                </a:gridCol>
              </a:tblGrid>
              <a:tr h="435695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27714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54C5F1D-BC32-4C9D-83E0-2583C2DF0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628656"/>
              </p:ext>
            </p:extLst>
          </p:nvPr>
        </p:nvGraphicFramePr>
        <p:xfrm>
          <a:off x="2171810" y="3173658"/>
          <a:ext cx="7292340" cy="435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8468">
                  <a:extLst>
                    <a:ext uri="{9D8B030D-6E8A-4147-A177-3AD203B41FA5}">
                      <a16:colId xmlns:a16="http://schemas.microsoft.com/office/drawing/2014/main" val="1752374027"/>
                    </a:ext>
                  </a:extLst>
                </a:gridCol>
                <a:gridCol w="1458468">
                  <a:extLst>
                    <a:ext uri="{9D8B030D-6E8A-4147-A177-3AD203B41FA5}">
                      <a16:colId xmlns:a16="http://schemas.microsoft.com/office/drawing/2014/main" val="3374479635"/>
                    </a:ext>
                  </a:extLst>
                </a:gridCol>
                <a:gridCol w="1458468">
                  <a:extLst>
                    <a:ext uri="{9D8B030D-6E8A-4147-A177-3AD203B41FA5}">
                      <a16:colId xmlns:a16="http://schemas.microsoft.com/office/drawing/2014/main" val="2824500781"/>
                    </a:ext>
                  </a:extLst>
                </a:gridCol>
                <a:gridCol w="1458468">
                  <a:extLst>
                    <a:ext uri="{9D8B030D-6E8A-4147-A177-3AD203B41FA5}">
                      <a16:colId xmlns:a16="http://schemas.microsoft.com/office/drawing/2014/main" val="9798735"/>
                    </a:ext>
                  </a:extLst>
                </a:gridCol>
                <a:gridCol w="1458468">
                  <a:extLst>
                    <a:ext uri="{9D8B030D-6E8A-4147-A177-3AD203B41FA5}">
                      <a16:colId xmlns:a16="http://schemas.microsoft.com/office/drawing/2014/main" val="1746629159"/>
                    </a:ext>
                  </a:extLst>
                </a:gridCol>
              </a:tblGrid>
              <a:tr h="435695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277141"/>
                  </a:ext>
                </a:extLst>
              </a:tr>
            </a:tbl>
          </a:graphicData>
        </a:graphic>
      </p:graphicFrame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B7A62D37-A170-4591-9851-00B3C4D5EA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931755"/>
              </p:ext>
            </p:extLst>
          </p:nvPr>
        </p:nvGraphicFramePr>
        <p:xfrm>
          <a:off x="2171794" y="3706536"/>
          <a:ext cx="7292340" cy="435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8468">
                  <a:extLst>
                    <a:ext uri="{9D8B030D-6E8A-4147-A177-3AD203B41FA5}">
                      <a16:colId xmlns:a16="http://schemas.microsoft.com/office/drawing/2014/main" val="1752374027"/>
                    </a:ext>
                  </a:extLst>
                </a:gridCol>
                <a:gridCol w="1458468">
                  <a:extLst>
                    <a:ext uri="{9D8B030D-6E8A-4147-A177-3AD203B41FA5}">
                      <a16:colId xmlns:a16="http://schemas.microsoft.com/office/drawing/2014/main" val="3374479635"/>
                    </a:ext>
                  </a:extLst>
                </a:gridCol>
                <a:gridCol w="1458468">
                  <a:extLst>
                    <a:ext uri="{9D8B030D-6E8A-4147-A177-3AD203B41FA5}">
                      <a16:colId xmlns:a16="http://schemas.microsoft.com/office/drawing/2014/main" val="2824500781"/>
                    </a:ext>
                  </a:extLst>
                </a:gridCol>
                <a:gridCol w="1458468">
                  <a:extLst>
                    <a:ext uri="{9D8B030D-6E8A-4147-A177-3AD203B41FA5}">
                      <a16:colId xmlns:a16="http://schemas.microsoft.com/office/drawing/2014/main" val="9798735"/>
                    </a:ext>
                  </a:extLst>
                </a:gridCol>
                <a:gridCol w="1458468">
                  <a:extLst>
                    <a:ext uri="{9D8B030D-6E8A-4147-A177-3AD203B41FA5}">
                      <a16:colId xmlns:a16="http://schemas.microsoft.com/office/drawing/2014/main" val="1746629159"/>
                    </a:ext>
                  </a:extLst>
                </a:gridCol>
              </a:tblGrid>
              <a:tr h="435695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277141"/>
                  </a:ext>
                </a:extLst>
              </a:tr>
            </a:tbl>
          </a:graphicData>
        </a:graphic>
      </p:graphicFrame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255888C8-B72E-49E5-BE86-53F412A161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63043"/>
              </p:ext>
            </p:extLst>
          </p:nvPr>
        </p:nvGraphicFramePr>
        <p:xfrm>
          <a:off x="2171778" y="4239414"/>
          <a:ext cx="7292335" cy="435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8467">
                  <a:extLst>
                    <a:ext uri="{9D8B030D-6E8A-4147-A177-3AD203B41FA5}">
                      <a16:colId xmlns:a16="http://schemas.microsoft.com/office/drawing/2014/main" val="1752374027"/>
                    </a:ext>
                  </a:extLst>
                </a:gridCol>
                <a:gridCol w="1458467">
                  <a:extLst>
                    <a:ext uri="{9D8B030D-6E8A-4147-A177-3AD203B41FA5}">
                      <a16:colId xmlns:a16="http://schemas.microsoft.com/office/drawing/2014/main" val="3374479635"/>
                    </a:ext>
                  </a:extLst>
                </a:gridCol>
                <a:gridCol w="1458467">
                  <a:extLst>
                    <a:ext uri="{9D8B030D-6E8A-4147-A177-3AD203B41FA5}">
                      <a16:colId xmlns:a16="http://schemas.microsoft.com/office/drawing/2014/main" val="2824500781"/>
                    </a:ext>
                  </a:extLst>
                </a:gridCol>
                <a:gridCol w="1458467">
                  <a:extLst>
                    <a:ext uri="{9D8B030D-6E8A-4147-A177-3AD203B41FA5}">
                      <a16:colId xmlns:a16="http://schemas.microsoft.com/office/drawing/2014/main" val="9798735"/>
                    </a:ext>
                  </a:extLst>
                </a:gridCol>
                <a:gridCol w="1458467">
                  <a:extLst>
                    <a:ext uri="{9D8B030D-6E8A-4147-A177-3AD203B41FA5}">
                      <a16:colId xmlns:a16="http://schemas.microsoft.com/office/drawing/2014/main" val="1746629159"/>
                    </a:ext>
                  </a:extLst>
                </a:gridCol>
              </a:tblGrid>
              <a:tr h="435695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277141"/>
                  </a:ext>
                </a:extLst>
              </a:tr>
            </a:tbl>
          </a:graphicData>
        </a:graphic>
      </p:graphicFrame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3057AD1C-DFDE-4F69-BA7A-FBCD031779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940262"/>
              </p:ext>
            </p:extLst>
          </p:nvPr>
        </p:nvGraphicFramePr>
        <p:xfrm>
          <a:off x="2190111" y="4772292"/>
          <a:ext cx="7292335" cy="435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8467">
                  <a:extLst>
                    <a:ext uri="{9D8B030D-6E8A-4147-A177-3AD203B41FA5}">
                      <a16:colId xmlns:a16="http://schemas.microsoft.com/office/drawing/2014/main" val="1752374027"/>
                    </a:ext>
                  </a:extLst>
                </a:gridCol>
                <a:gridCol w="1458467">
                  <a:extLst>
                    <a:ext uri="{9D8B030D-6E8A-4147-A177-3AD203B41FA5}">
                      <a16:colId xmlns:a16="http://schemas.microsoft.com/office/drawing/2014/main" val="3374479635"/>
                    </a:ext>
                  </a:extLst>
                </a:gridCol>
                <a:gridCol w="1458467">
                  <a:extLst>
                    <a:ext uri="{9D8B030D-6E8A-4147-A177-3AD203B41FA5}">
                      <a16:colId xmlns:a16="http://schemas.microsoft.com/office/drawing/2014/main" val="2824500781"/>
                    </a:ext>
                  </a:extLst>
                </a:gridCol>
                <a:gridCol w="1458467">
                  <a:extLst>
                    <a:ext uri="{9D8B030D-6E8A-4147-A177-3AD203B41FA5}">
                      <a16:colId xmlns:a16="http://schemas.microsoft.com/office/drawing/2014/main" val="9798735"/>
                    </a:ext>
                  </a:extLst>
                </a:gridCol>
                <a:gridCol w="1458467">
                  <a:extLst>
                    <a:ext uri="{9D8B030D-6E8A-4147-A177-3AD203B41FA5}">
                      <a16:colId xmlns:a16="http://schemas.microsoft.com/office/drawing/2014/main" val="1746629159"/>
                    </a:ext>
                  </a:extLst>
                </a:gridCol>
              </a:tblGrid>
              <a:tr h="435695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277141"/>
                  </a:ext>
                </a:extLst>
              </a:tr>
            </a:tbl>
          </a:graphicData>
        </a:graphic>
      </p:graphicFrame>
      <p:sp>
        <p:nvSpPr>
          <p:cNvPr id="11" name="Arrow: Down 10">
            <a:extLst>
              <a:ext uri="{FF2B5EF4-FFF2-40B4-BE49-F238E27FC236}">
                <a16:creationId xmlns:a16="http://schemas.microsoft.com/office/drawing/2014/main" id="{5F7E17B9-E6EE-4477-A705-936679C4B430}"/>
              </a:ext>
            </a:extLst>
          </p:cNvPr>
          <p:cNvSpPr/>
          <p:nvPr/>
        </p:nvSpPr>
        <p:spPr>
          <a:xfrm>
            <a:off x="5598529" y="2219652"/>
            <a:ext cx="393192" cy="344394"/>
          </a:xfrm>
          <a:prstGeom prst="downArrow">
            <a:avLst/>
          </a:prstGeom>
          <a:noFill/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ln w="38100">
                <a:solidFill>
                  <a:schemeClr val="tx1"/>
                </a:solidFill>
              </a:ln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2866F74-4735-4E43-A1C0-75F5B97BDED2}"/>
              </a:ext>
            </a:extLst>
          </p:cNvPr>
          <p:cNvSpPr/>
          <p:nvPr/>
        </p:nvSpPr>
        <p:spPr>
          <a:xfrm>
            <a:off x="9515929" y="2771957"/>
            <a:ext cx="438912" cy="164592"/>
          </a:xfrm>
          <a:prstGeom prst="rightArrow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58DDE60-5685-4E78-8887-4F5CABCD945F}"/>
              </a:ext>
            </a:extLst>
          </p:cNvPr>
          <p:cNvSpPr/>
          <p:nvPr/>
        </p:nvSpPr>
        <p:spPr>
          <a:xfrm>
            <a:off x="9527409" y="3309209"/>
            <a:ext cx="438912" cy="164592"/>
          </a:xfrm>
          <a:prstGeom prst="rightArrow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4EA34F9-5E26-4679-BA18-AF9C7DC3FAC2}"/>
              </a:ext>
            </a:extLst>
          </p:cNvPr>
          <p:cNvSpPr/>
          <p:nvPr/>
        </p:nvSpPr>
        <p:spPr>
          <a:xfrm>
            <a:off x="9527409" y="3837713"/>
            <a:ext cx="438912" cy="164592"/>
          </a:xfrm>
          <a:prstGeom prst="rightArrow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BA02629C-44F1-4031-84A0-C069C2CC1D7E}"/>
              </a:ext>
            </a:extLst>
          </p:cNvPr>
          <p:cNvSpPr/>
          <p:nvPr/>
        </p:nvSpPr>
        <p:spPr>
          <a:xfrm>
            <a:off x="9527409" y="4374965"/>
            <a:ext cx="438912" cy="164592"/>
          </a:xfrm>
          <a:prstGeom prst="rightArrow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EBD57A68-E934-4958-83EF-BB3CF5A036AC}"/>
              </a:ext>
            </a:extLst>
          </p:cNvPr>
          <p:cNvSpPr/>
          <p:nvPr/>
        </p:nvSpPr>
        <p:spPr>
          <a:xfrm>
            <a:off x="9548745" y="4907843"/>
            <a:ext cx="438912" cy="164592"/>
          </a:xfrm>
          <a:prstGeom prst="rightArrow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8E6538-1930-4B4B-A2A8-3620863E58AB}"/>
              </a:ext>
            </a:extLst>
          </p:cNvPr>
          <p:cNvSpPr txBox="1"/>
          <p:nvPr/>
        </p:nvSpPr>
        <p:spPr>
          <a:xfrm>
            <a:off x="9963948" y="2696738"/>
            <a:ext cx="1216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Accuracy1</a:t>
            </a:r>
            <a:endParaRPr lang="en-GB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4DE8BE-C5F6-4A19-AE0B-18950C5BD09B}"/>
              </a:ext>
            </a:extLst>
          </p:cNvPr>
          <p:cNvSpPr txBox="1"/>
          <p:nvPr/>
        </p:nvSpPr>
        <p:spPr>
          <a:xfrm>
            <a:off x="9954841" y="3218941"/>
            <a:ext cx="1216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Accuracy2</a:t>
            </a:r>
            <a:endParaRPr lang="en-GB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2A1E9C-0B6A-4F1B-B923-9070D705B877}"/>
              </a:ext>
            </a:extLst>
          </p:cNvPr>
          <p:cNvSpPr txBox="1"/>
          <p:nvPr/>
        </p:nvSpPr>
        <p:spPr>
          <a:xfrm>
            <a:off x="9963948" y="3762801"/>
            <a:ext cx="1216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Accuracy3</a:t>
            </a:r>
            <a:endParaRPr lang="en-GB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433E21-8372-4417-B0A2-DE6C13BA0FCB}"/>
              </a:ext>
            </a:extLst>
          </p:cNvPr>
          <p:cNvSpPr txBox="1"/>
          <p:nvPr/>
        </p:nvSpPr>
        <p:spPr>
          <a:xfrm>
            <a:off x="9963948" y="4291304"/>
            <a:ext cx="1216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Accuracy4</a:t>
            </a:r>
            <a:endParaRPr lang="en-GB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041F22-2577-4898-9E71-DE9A34F520A6}"/>
              </a:ext>
            </a:extLst>
          </p:cNvPr>
          <p:cNvSpPr txBox="1"/>
          <p:nvPr/>
        </p:nvSpPr>
        <p:spPr>
          <a:xfrm>
            <a:off x="9954841" y="4828556"/>
            <a:ext cx="1216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Accuracy5</a:t>
            </a:r>
            <a:endParaRPr lang="en-GB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FABD24-CD26-4A49-AA63-F139B16BD8D5}"/>
              </a:ext>
            </a:extLst>
          </p:cNvPr>
          <p:cNvSpPr txBox="1"/>
          <p:nvPr/>
        </p:nvSpPr>
        <p:spPr>
          <a:xfrm>
            <a:off x="5429370" y="1866754"/>
            <a:ext cx="813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5 Fold</a:t>
            </a:r>
            <a:endParaRPr lang="en-GB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24BC43-000E-4C08-A9A1-6BF90832D6C3}"/>
              </a:ext>
            </a:extLst>
          </p:cNvPr>
          <p:cNvSpPr txBox="1"/>
          <p:nvPr/>
        </p:nvSpPr>
        <p:spPr>
          <a:xfrm>
            <a:off x="1417835" y="2656134"/>
            <a:ext cx="10081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Fold 1</a:t>
            </a:r>
            <a:endParaRPr lang="en-GB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A71873-E295-46B4-9360-BEC705B68B9A}"/>
              </a:ext>
            </a:extLst>
          </p:cNvPr>
          <p:cNvSpPr txBox="1"/>
          <p:nvPr/>
        </p:nvSpPr>
        <p:spPr>
          <a:xfrm>
            <a:off x="1418161" y="3218940"/>
            <a:ext cx="10081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Fold 2</a:t>
            </a:r>
            <a:endParaRPr lang="en-GB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D29B2D-0969-4C59-85C9-5071484AD08C}"/>
              </a:ext>
            </a:extLst>
          </p:cNvPr>
          <p:cNvSpPr txBox="1"/>
          <p:nvPr/>
        </p:nvSpPr>
        <p:spPr>
          <a:xfrm>
            <a:off x="1417806" y="3726251"/>
            <a:ext cx="10081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Fold 3</a:t>
            </a:r>
            <a:endParaRPr lang="en-GB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508285-1331-4E1E-9264-1B90D6943E51}"/>
              </a:ext>
            </a:extLst>
          </p:cNvPr>
          <p:cNvSpPr txBox="1"/>
          <p:nvPr/>
        </p:nvSpPr>
        <p:spPr>
          <a:xfrm>
            <a:off x="1417779" y="4287739"/>
            <a:ext cx="10081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Fold 4</a:t>
            </a:r>
            <a:endParaRPr lang="en-GB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BAFCD1-B333-40DF-BE2A-961FA3E09ED5}"/>
              </a:ext>
            </a:extLst>
          </p:cNvPr>
          <p:cNvSpPr txBox="1"/>
          <p:nvPr/>
        </p:nvSpPr>
        <p:spPr>
          <a:xfrm>
            <a:off x="1414558" y="4828555"/>
            <a:ext cx="10081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Fold 5</a:t>
            </a:r>
            <a:endParaRPr lang="en-GB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DBFC1D-196C-4441-96C0-73A7444F6EA3}"/>
              </a:ext>
            </a:extLst>
          </p:cNvPr>
          <p:cNvSpPr txBox="1"/>
          <p:nvPr/>
        </p:nvSpPr>
        <p:spPr>
          <a:xfrm>
            <a:off x="2537937" y="5542499"/>
            <a:ext cx="6907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Cross Validation Score = Average of all computed accuracies. </a:t>
            </a: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61F31E4-ED88-433E-889B-F40007A73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1990" y="6402450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246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B03760-0B5B-4191-B313-637BABC52EF2}"/>
              </a:ext>
            </a:extLst>
          </p:cNvPr>
          <p:cNvSpPr txBox="1"/>
          <p:nvPr/>
        </p:nvSpPr>
        <p:spPr>
          <a:xfrm>
            <a:off x="826577" y="279722"/>
            <a:ext cx="7864662" cy="1016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Basic Template for Classification and Regression</a:t>
            </a:r>
            <a:br>
              <a:rPr lang="en-US" sz="3200" dirty="0"/>
            </a:b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1D6F6-6BC5-4447-9C60-BFD5A2AC1511}"/>
              </a:ext>
            </a:extLst>
          </p:cNvPr>
          <p:cNvSpPr/>
          <p:nvPr/>
        </p:nvSpPr>
        <p:spPr>
          <a:xfrm>
            <a:off x="967666" y="1075172"/>
            <a:ext cx="3861786" cy="868430"/>
          </a:xfrm>
          <a:prstGeom prst="rect">
            <a:avLst/>
          </a:prstGeom>
          <a:solidFill>
            <a:srgbClr val="24150E"/>
          </a:solidFill>
          <a:ln>
            <a:solidFill>
              <a:srgbClr val="24150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Importing the libraries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81A98A-B28D-4026-8D2D-8B890CD66DDA}"/>
              </a:ext>
            </a:extLst>
          </p:cNvPr>
          <p:cNvSpPr/>
          <p:nvPr/>
        </p:nvSpPr>
        <p:spPr>
          <a:xfrm>
            <a:off x="967666" y="2023733"/>
            <a:ext cx="3861786" cy="868430"/>
          </a:xfrm>
          <a:prstGeom prst="rect">
            <a:avLst/>
          </a:prstGeom>
          <a:solidFill>
            <a:srgbClr val="3F2A1D"/>
          </a:solidFill>
          <a:ln>
            <a:solidFill>
              <a:srgbClr val="8C74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Importing the dataset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FFAFE2-E3B7-42E7-85AD-59BC94202A0B}"/>
              </a:ext>
            </a:extLst>
          </p:cNvPr>
          <p:cNvSpPr/>
          <p:nvPr/>
        </p:nvSpPr>
        <p:spPr>
          <a:xfrm>
            <a:off x="967666" y="3965838"/>
            <a:ext cx="3861786" cy="868430"/>
          </a:xfrm>
          <a:prstGeom prst="rect">
            <a:avLst/>
          </a:prstGeom>
          <a:solidFill>
            <a:srgbClr val="8C7462"/>
          </a:solidFill>
          <a:ln>
            <a:solidFill>
              <a:srgbClr val="8C74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Encoding Categorical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897C96-8DC6-4707-9A66-7D72C5100C16}"/>
              </a:ext>
            </a:extLst>
          </p:cNvPr>
          <p:cNvSpPr/>
          <p:nvPr/>
        </p:nvSpPr>
        <p:spPr>
          <a:xfrm>
            <a:off x="967666" y="4959382"/>
            <a:ext cx="3861786" cy="868430"/>
          </a:xfrm>
          <a:prstGeom prst="rect">
            <a:avLst/>
          </a:prstGeom>
          <a:solidFill>
            <a:srgbClr val="F2EBE9"/>
          </a:solidFill>
          <a:ln>
            <a:solidFill>
              <a:srgbClr val="F2EB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Splitting the dataset into the Training set and Test set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ABD1D4-31FC-4823-A710-EA32062C7348}"/>
              </a:ext>
            </a:extLst>
          </p:cNvPr>
          <p:cNvSpPr/>
          <p:nvPr/>
        </p:nvSpPr>
        <p:spPr>
          <a:xfrm>
            <a:off x="967666" y="2972294"/>
            <a:ext cx="3861786" cy="868430"/>
          </a:xfrm>
          <a:prstGeom prst="rect">
            <a:avLst/>
          </a:prstGeom>
          <a:solidFill>
            <a:srgbClr val="8E6248"/>
          </a:solidFill>
          <a:ln>
            <a:solidFill>
              <a:srgbClr val="8E62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Taking Care of Missing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D03781-4756-48D0-8277-37E3C80B5ED0}"/>
              </a:ext>
            </a:extLst>
          </p:cNvPr>
          <p:cNvSpPr/>
          <p:nvPr/>
        </p:nvSpPr>
        <p:spPr>
          <a:xfrm>
            <a:off x="4990160" y="1075172"/>
            <a:ext cx="3861786" cy="868430"/>
          </a:xfrm>
          <a:prstGeom prst="rect">
            <a:avLst/>
          </a:prstGeom>
          <a:solidFill>
            <a:srgbClr val="24150E"/>
          </a:solidFill>
          <a:ln>
            <a:solidFill>
              <a:srgbClr val="24150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Training the model on the Training set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323556-BEAA-48B5-A72E-875F4AB7D2FD}"/>
              </a:ext>
            </a:extLst>
          </p:cNvPr>
          <p:cNvSpPr/>
          <p:nvPr/>
        </p:nvSpPr>
        <p:spPr>
          <a:xfrm>
            <a:off x="4990160" y="2023733"/>
            <a:ext cx="3861786" cy="868430"/>
          </a:xfrm>
          <a:prstGeom prst="rect">
            <a:avLst/>
          </a:prstGeom>
          <a:solidFill>
            <a:srgbClr val="3F2A1D"/>
          </a:solidFill>
          <a:ln>
            <a:solidFill>
              <a:srgbClr val="8C74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Predicting the Test set results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D18DA1-3F89-4FFA-BE51-C3BA4C7E247C}"/>
              </a:ext>
            </a:extLst>
          </p:cNvPr>
          <p:cNvSpPr/>
          <p:nvPr/>
        </p:nvSpPr>
        <p:spPr>
          <a:xfrm>
            <a:off x="4990160" y="2987533"/>
            <a:ext cx="3861786" cy="868430"/>
          </a:xfrm>
          <a:prstGeom prst="rect">
            <a:avLst/>
          </a:prstGeom>
          <a:solidFill>
            <a:srgbClr val="8E6248"/>
          </a:solidFill>
          <a:ln>
            <a:solidFill>
              <a:srgbClr val="8E62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Evaluating the model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835983-35E1-450B-A3B7-8100E52A51E0}"/>
              </a:ext>
            </a:extLst>
          </p:cNvPr>
          <p:cNvSpPr/>
          <p:nvPr/>
        </p:nvSpPr>
        <p:spPr>
          <a:xfrm>
            <a:off x="4990160" y="3965838"/>
            <a:ext cx="3861786" cy="868430"/>
          </a:xfrm>
          <a:prstGeom prst="rect">
            <a:avLst/>
          </a:prstGeom>
          <a:solidFill>
            <a:srgbClr val="8C7462"/>
          </a:solidFill>
          <a:ln>
            <a:solidFill>
              <a:srgbClr val="8C74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Creating confusion matrix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AD09C19-CE64-4CF0-A31E-41B3ED039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1990" y="6411328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72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C58F80-A201-4D39-A714-4B8E0F1331BF}"/>
              </a:ext>
            </a:extLst>
          </p:cNvPr>
          <p:cNvSpPr txBox="1"/>
          <p:nvPr/>
        </p:nvSpPr>
        <p:spPr>
          <a:xfrm>
            <a:off x="963737" y="485333"/>
            <a:ext cx="6094476" cy="1016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Taking Care of Missing Data</a:t>
            </a:r>
            <a:br>
              <a:rPr lang="en-US" sz="3200" dirty="0"/>
            </a:b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369B4B-6ACD-4B5D-9379-20666A9A26B2}"/>
              </a:ext>
            </a:extLst>
          </p:cNvPr>
          <p:cNvSpPr txBox="1"/>
          <p:nvPr/>
        </p:nvSpPr>
        <p:spPr>
          <a:xfrm>
            <a:off x="6096000" y="2332963"/>
            <a:ext cx="4092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Options</a:t>
            </a:r>
            <a:r>
              <a:rPr lang="en-US" b="1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383726-60AF-4E70-9175-3D89C95E4FBF}"/>
              </a:ext>
            </a:extLst>
          </p:cNvPr>
          <p:cNvSpPr txBox="1"/>
          <p:nvPr/>
        </p:nvSpPr>
        <p:spPr>
          <a:xfrm>
            <a:off x="6509864" y="2791970"/>
            <a:ext cx="4092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Average of salaries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5DAFE6-D462-4AF3-908D-4CADC1E668C6}"/>
              </a:ext>
            </a:extLst>
          </p:cNvPr>
          <p:cNvSpPr txBox="1"/>
          <p:nvPr/>
        </p:nvSpPr>
        <p:spPr>
          <a:xfrm>
            <a:off x="6509863" y="3129143"/>
            <a:ext cx="4092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Median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salary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126099-C369-4D1C-B51F-8D983BB93A62}"/>
              </a:ext>
            </a:extLst>
          </p:cNvPr>
          <p:cNvSpPr txBox="1"/>
          <p:nvPr/>
        </p:nvSpPr>
        <p:spPr>
          <a:xfrm>
            <a:off x="6509862" y="3466316"/>
            <a:ext cx="4092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Most frequent salary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072F48F-CEA9-4D65-8CA1-D27FE224E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968243"/>
              </p:ext>
            </p:extLst>
          </p:nvPr>
        </p:nvGraphicFramePr>
        <p:xfrm>
          <a:off x="1045014" y="1708282"/>
          <a:ext cx="3746442" cy="3480354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1248814">
                  <a:extLst>
                    <a:ext uri="{9D8B030D-6E8A-4147-A177-3AD203B41FA5}">
                      <a16:colId xmlns:a16="http://schemas.microsoft.com/office/drawing/2014/main" val="917018135"/>
                    </a:ext>
                  </a:extLst>
                </a:gridCol>
                <a:gridCol w="1248814">
                  <a:extLst>
                    <a:ext uri="{9D8B030D-6E8A-4147-A177-3AD203B41FA5}">
                      <a16:colId xmlns:a16="http://schemas.microsoft.com/office/drawing/2014/main" val="1042680419"/>
                    </a:ext>
                  </a:extLst>
                </a:gridCol>
                <a:gridCol w="1248814">
                  <a:extLst>
                    <a:ext uri="{9D8B030D-6E8A-4147-A177-3AD203B41FA5}">
                      <a16:colId xmlns:a16="http://schemas.microsoft.com/office/drawing/2014/main" val="612276350"/>
                    </a:ext>
                  </a:extLst>
                </a:gridCol>
              </a:tblGrid>
              <a:tr h="58005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Index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2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2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Salary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2A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412781"/>
                  </a:ext>
                </a:extLst>
              </a:tr>
              <a:tr h="58005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3F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3F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22K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3F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955659"/>
                  </a:ext>
                </a:extLst>
              </a:tr>
              <a:tr h="58005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E6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E6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50K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E6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668721"/>
                  </a:ext>
                </a:extLst>
              </a:tr>
              <a:tr h="58005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C74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C74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C74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524108"/>
                  </a:ext>
                </a:extLst>
              </a:tr>
              <a:tr h="58005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EB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EB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EB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760640"/>
                  </a:ext>
                </a:extLst>
              </a:tr>
              <a:tr h="58005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EB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EB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28K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EB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571522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AAB4FECC-B7F3-4FC3-8D32-DF796B237F83}"/>
              </a:ext>
            </a:extLst>
          </p:cNvPr>
          <p:cNvSpPr/>
          <p:nvPr/>
        </p:nvSpPr>
        <p:spPr>
          <a:xfrm>
            <a:off x="3584448" y="3466316"/>
            <a:ext cx="1170432" cy="529612"/>
          </a:xfrm>
          <a:prstGeom prst="rect">
            <a:avLst/>
          </a:prstGeom>
          <a:solidFill>
            <a:srgbClr val="8C7462"/>
          </a:solidFill>
          <a:ln>
            <a:solidFill>
              <a:srgbClr val="8C74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480020-4D42-490A-9BAE-57D2F3C9C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1990" y="6420205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776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100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100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00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3FEEA2-EAB8-4150-85B9-A54CEFB34F8F}"/>
              </a:ext>
            </a:extLst>
          </p:cNvPr>
          <p:cNvSpPr txBox="1"/>
          <p:nvPr/>
        </p:nvSpPr>
        <p:spPr>
          <a:xfrm>
            <a:off x="963737" y="485333"/>
            <a:ext cx="6094476" cy="1016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Taking Care of Missing Data</a:t>
            </a:r>
            <a:br>
              <a:rPr lang="en-US" sz="3200" dirty="0"/>
            </a:b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BD662B-5A30-4804-9CB3-E6AD19932C6C}"/>
              </a:ext>
            </a:extLst>
          </p:cNvPr>
          <p:cNvSpPr/>
          <p:nvPr/>
        </p:nvSpPr>
        <p:spPr>
          <a:xfrm>
            <a:off x="4781824" y="3761165"/>
            <a:ext cx="1157216" cy="3697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18984B5F-B4C8-4EAD-8E40-CA333BF11259}"/>
              </a:ext>
            </a:extLst>
          </p:cNvPr>
          <p:cNvSpPr/>
          <p:nvPr/>
        </p:nvSpPr>
        <p:spPr>
          <a:xfrm>
            <a:off x="5506602" y="3792921"/>
            <a:ext cx="1363966" cy="452230"/>
          </a:xfrm>
          <a:prstGeom prst="rightArrow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5" name="Table 9">
            <a:extLst>
              <a:ext uri="{FF2B5EF4-FFF2-40B4-BE49-F238E27FC236}">
                <a16:creationId xmlns:a16="http://schemas.microsoft.com/office/drawing/2014/main" id="{48D08D59-8579-456E-8D2A-6658C0627A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347730"/>
              </p:ext>
            </p:extLst>
          </p:nvPr>
        </p:nvGraphicFramePr>
        <p:xfrm>
          <a:off x="7179936" y="3080866"/>
          <a:ext cx="2898216" cy="274764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534776">
                  <a:extLst>
                    <a:ext uri="{9D8B030D-6E8A-4147-A177-3AD203B41FA5}">
                      <a16:colId xmlns:a16="http://schemas.microsoft.com/office/drawing/2014/main" val="2958286954"/>
                    </a:ext>
                  </a:extLst>
                </a:gridCol>
                <a:gridCol w="497411">
                  <a:extLst>
                    <a:ext uri="{9D8B030D-6E8A-4147-A177-3AD203B41FA5}">
                      <a16:colId xmlns:a16="http://schemas.microsoft.com/office/drawing/2014/main" val="2105052959"/>
                    </a:ext>
                  </a:extLst>
                </a:gridCol>
                <a:gridCol w="613046">
                  <a:extLst>
                    <a:ext uri="{9D8B030D-6E8A-4147-A177-3AD203B41FA5}">
                      <a16:colId xmlns:a16="http://schemas.microsoft.com/office/drawing/2014/main" val="3489391818"/>
                    </a:ext>
                  </a:extLst>
                </a:gridCol>
                <a:gridCol w="1252983">
                  <a:extLst>
                    <a:ext uri="{9D8B030D-6E8A-4147-A177-3AD203B41FA5}">
                      <a16:colId xmlns:a16="http://schemas.microsoft.com/office/drawing/2014/main" val="1123085171"/>
                    </a:ext>
                  </a:extLst>
                </a:gridCol>
              </a:tblGrid>
              <a:tr h="4579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2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2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2A1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2A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267074"/>
                  </a:ext>
                </a:extLst>
              </a:tr>
              <a:tr h="4579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3F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3F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3F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3F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968811"/>
                  </a:ext>
                </a:extLst>
              </a:tr>
              <a:tr h="4579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6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6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62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6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4565"/>
                  </a:ext>
                </a:extLst>
              </a:tr>
              <a:tr h="4579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74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74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74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74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403678"/>
                  </a:ext>
                </a:extLst>
              </a:tr>
              <a:tr h="4579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564687"/>
                  </a:ext>
                </a:extLst>
              </a:tr>
              <a:tr h="4579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2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2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2A1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2A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929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425D65B-DF43-43F5-AFE0-547B30B3CE3D}"/>
              </a:ext>
            </a:extLst>
          </p:cNvPr>
          <p:cNvSpPr txBox="1"/>
          <p:nvPr/>
        </p:nvSpPr>
        <p:spPr>
          <a:xfrm>
            <a:off x="5157121" y="3423187"/>
            <a:ext cx="2062929" cy="369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Dummy variables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A87693-6BD8-4B02-9EE4-B12ACAFB3AE9}"/>
              </a:ext>
            </a:extLst>
          </p:cNvPr>
          <p:cNvSpPr txBox="1"/>
          <p:nvPr/>
        </p:nvSpPr>
        <p:spPr>
          <a:xfrm>
            <a:off x="1097280" y="1991055"/>
            <a:ext cx="694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Encode the categorical data, we use </a:t>
            </a:r>
            <a:r>
              <a:rPr lang="en-GB" b="1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One-Hot Encoding.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3A66EB1-9D1A-4901-92A6-6CC6C81020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615556"/>
              </p:ext>
            </p:extLst>
          </p:nvPr>
        </p:nvGraphicFramePr>
        <p:xfrm>
          <a:off x="1159546" y="3080867"/>
          <a:ext cx="2664038" cy="274764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1332019">
                  <a:extLst>
                    <a:ext uri="{9D8B030D-6E8A-4147-A177-3AD203B41FA5}">
                      <a16:colId xmlns:a16="http://schemas.microsoft.com/office/drawing/2014/main" val="917018135"/>
                    </a:ext>
                  </a:extLst>
                </a:gridCol>
                <a:gridCol w="1332019">
                  <a:extLst>
                    <a:ext uri="{9D8B030D-6E8A-4147-A177-3AD203B41FA5}">
                      <a16:colId xmlns:a16="http://schemas.microsoft.com/office/drawing/2014/main" val="1042680419"/>
                    </a:ext>
                  </a:extLst>
                </a:gridCol>
              </a:tblGrid>
              <a:tr h="4579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Italy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2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2A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412781"/>
                  </a:ext>
                </a:extLst>
              </a:tr>
              <a:tr h="4579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England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3F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3F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955659"/>
                  </a:ext>
                </a:extLst>
              </a:tr>
              <a:tr h="4579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France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E6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E6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668721"/>
                  </a:ext>
                </a:extLst>
              </a:tr>
              <a:tr h="4579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Italy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C74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C74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524108"/>
                  </a:ext>
                </a:extLst>
              </a:tr>
              <a:tr h="4579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France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EB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EB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760640"/>
                  </a:ext>
                </a:extLst>
              </a:tr>
              <a:tr h="4579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England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2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2A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969732"/>
                  </a:ext>
                </a:extLst>
              </a:tr>
            </a:tbl>
          </a:graphicData>
        </a:graphic>
      </p:graphicFrame>
      <p:graphicFrame>
        <p:nvGraphicFramePr>
          <p:cNvPr id="9" name="Table 15">
            <a:extLst>
              <a:ext uri="{FF2B5EF4-FFF2-40B4-BE49-F238E27FC236}">
                <a16:creationId xmlns:a16="http://schemas.microsoft.com/office/drawing/2014/main" id="{93E51C47-0A2C-4A02-8BE3-2C6C1D1419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377076"/>
              </p:ext>
            </p:extLst>
          </p:nvPr>
        </p:nvGraphicFramePr>
        <p:xfrm>
          <a:off x="3825597" y="3080867"/>
          <a:ext cx="1247157" cy="274764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1247157">
                  <a:extLst>
                    <a:ext uri="{9D8B030D-6E8A-4147-A177-3AD203B41FA5}">
                      <a16:colId xmlns:a16="http://schemas.microsoft.com/office/drawing/2014/main" val="4119583088"/>
                    </a:ext>
                  </a:extLst>
                </a:gridCol>
              </a:tblGrid>
              <a:tr h="4579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2A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337217"/>
                  </a:ext>
                </a:extLst>
              </a:tr>
              <a:tr h="4579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3F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031074"/>
                  </a:ext>
                </a:extLst>
              </a:tr>
              <a:tr h="4579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6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552859"/>
                  </a:ext>
                </a:extLst>
              </a:tr>
              <a:tr h="4579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74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475498"/>
                  </a:ext>
                </a:extLst>
              </a:tr>
              <a:tr h="4579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723386"/>
                  </a:ext>
                </a:extLst>
              </a:tr>
              <a:tr h="4579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2A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692568"/>
                  </a:ext>
                </a:extLst>
              </a:tr>
            </a:tbl>
          </a:graphicData>
        </a:graphic>
      </p:graphicFrame>
      <p:graphicFrame>
        <p:nvGraphicFramePr>
          <p:cNvPr id="10" name="Table 16">
            <a:extLst>
              <a:ext uri="{FF2B5EF4-FFF2-40B4-BE49-F238E27FC236}">
                <a16:creationId xmlns:a16="http://schemas.microsoft.com/office/drawing/2014/main" id="{207BF1A0-50A8-424A-B48B-A799F4897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041294"/>
              </p:ext>
            </p:extLst>
          </p:nvPr>
        </p:nvGraphicFramePr>
        <p:xfrm>
          <a:off x="10062272" y="3080866"/>
          <a:ext cx="1147300" cy="274764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1147300">
                  <a:extLst>
                    <a:ext uri="{9D8B030D-6E8A-4147-A177-3AD203B41FA5}">
                      <a16:colId xmlns:a16="http://schemas.microsoft.com/office/drawing/2014/main" val="2682316690"/>
                    </a:ext>
                  </a:extLst>
                </a:gridCol>
              </a:tblGrid>
              <a:tr h="4579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2A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092161"/>
                  </a:ext>
                </a:extLst>
              </a:tr>
              <a:tr h="4579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3F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327584"/>
                  </a:ext>
                </a:extLst>
              </a:tr>
              <a:tr h="4579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6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977057"/>
                  </a:ext>
                </a:extLst>
              </a:tr>
              <a:tr h="4579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74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941351"/>
                  </a:ext>
                </a:extLst>
              </a:tr>
              <a:tr h="4579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055671"/>
                  </a:ext>
                </a:extLst>
              </a:tr>
              <a:tr h="4579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41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2A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07158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66A0253-D19E-4B87-8171-7649D8760223}"/>
              </a:ext>
            </a:extLst>
          </p:cNvPr>
          <p:cNvSpPr txBox="1"/>
          <p:nvPr/>
        </p:nvSpPr>
        <p:spPr>
          <a:xfrm>
            <a:off x="1097280" y="2429416"/>
            <a:ext cx="694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Encode the categorical label, we use </a:t>
            </a:r>
            <a:r>
              <a:rPr lang="en-GB" b="1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Label Encoder.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E6F4A70-575A-4ABB-A22B-E4CF58D48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1990" y="6402450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539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464750-EE4A-4E81-9468-305443B1E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23450-CDCA-4E01-92AF-C2CE1F2AE603}"/>
              </a:ext>
            </a:extLst>
          </p:cNvPr>
          <p:cNvSpPr txBox="1">
            <a:spLocks/>
          </p:cNvSpPr>
          <p:nvPr/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R Squared:</a:t>
            </a:r>
            <a:endParaRPr lang="en-GB" b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92CE849-0086-4F22-8639-D2C6EE166A7C}"/>
              </a:ext>
            </a:extLst>
          </p:cNvPr>
          <p:cNvCxnSpPr>
            <a:cxnSpLocks/>
          </p:cNvCxnSpPr>
          <p:nvPr/>
        </p:nvCxnSpPr>
        <p:spPr>
          <a:xfrm flipV="1">
            <a:off x="5117518" y="3429000"/>
            <a:ext cx="0" cy="15264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4A71B1A-233A-426B-825D-F2B38E382901}"/>
              </a:ext>
            </a:extLst>
          </p:cNvPr>
          <p:cNvCxnSpPr>
            <a:cxnSpLocks/>
          </p:cNvCxnSpPr>
          <p:nvPr/>
        </p:nvCxnSpPr>
        <p:spPr>
          <a:xfrm>
            <a:off x="5117518" y="4955484"/>
            <a:ext cx="16674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2B8BA70F-9CC3-4CB5-8B4A-5C1C89E091DD}"/>
              </a:ext>
            </a:extLst>
          </p:cNvPr>
          <p:cNvSpPr/>
          <p:nvPr/>
        </p:nvSpPr>
        <p:spPr>
          <a:xfrm>
            <a:off x="5296813" y="4381742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544D8B9D-0FE0-4EEF-AF8C-7400AC00318E}"/>
              </a:ext>
            </a:extLst>
          </p:cNvPr>
          <p:cNvSpPr/>
          <p:nvPr/>
        </p:nvSpPr>
        <p:spPr>
          <a:xfrm>
            <a:off x="5817663" y="4427461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0EE6512-F9A7-443B-931C-641009FCA3D0}"/>
              </a:ext>
            </a:extLst>
          </p:cNvPr>
          <p:cNvSpPr/>
          <p:nvPr/>
        </p:nvSpPr>
        <p:spPr>
          <a:xfrm>
            <a:off x="6139943" y="3532306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841DCE88-FDE7-4B81-A142-BC92377FEF1F}"/>
              </a:ext>
            </a:extLst>
          </p:cNvPr>
          <p:cNvSpPr/>
          <p:nvPr/>
        </p:nvSpPr>
        <p:spPr>
          <a:xfrm>
            <a:off x="6199557" y="4071563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988D3C17-9CB2-499D-AAAC-F55E985902B6}"/>
              </a:ext>
            </a:extLst>
          </p:cNvPr>
          <p:cNvSpPr/>
          <p:nvPr/>
        </p:nvSpPr>
        <p:spPr>
          <a:xfrm>
            <a:off x="5889380" y="3883741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7F9BC868-3083-4CEC-9DFD-6FA5C735127A}"/>
              </a:ext>
            </a:extLst>
          </p:cNvPr>
          <p:cNvSpPr/>
          <p:nvPr/>
        </p:nvSpPr>
        <p:spPr>
          <a:xfrm>
            <a:off x="5741014" y="4170625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8ED49BEF-E01B-47A1-9278-23696A664B91}"/>
              </a:ext>
            </a:extLst>
          </p:cNvPr>
          <p:cNvSpPr/>
          <p:nvPr/>
        </p:nvSpPr>
        <p:spPr>
          <a:xfrm>
            <a:off x="5546930" y="4170625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D43BF05F-9FD1-42AD-8D36-9014A582B804}"/>
              </a:ext>
            </a:extLst>
          </p:cNvPr>
          <p:cNvSpPr/>
          <p:nvPr/>
        </p:nvSpPr>
        <p:spPr>
          <a:xfrm>
            <a:off x="6185662" y="4371881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3668F394-E85F-42B6-BB70-A62BF538FA18}"/>
              </a:ext>
            </a:extLst>
          </p:cNvPr>
          <p:cNvSpPr/>
          <p:nvPr/>
        </p:nvSpPr>
        <p:spPr>
          <a:xfrm>
            <a:off x="6094224" y="3726390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BE1B756-FBE7-455F-B79B-83CEA0EFE8C1}"/>
              </a:ext>
            </a:extLst>
          </p:cNvPr>
          <p:cNvCxnSpPr>
            <a:cxnSpLocks/>
          </p:cNvCxnSpPr>
          <p:nvPr/>
        </p:nvCxnSpPr>
        <p:spPr>
          <a:xfrm flipV="1">
            <a:off x="5117518" y="3660084"/>
            <a:ext cx="1378322" cy="104438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32088018-2A00-48B5-B988-6C7FF0BA9F5A}"/>
              </a:ext>
            </a:extLst>
          </p:cNvPr>
          <p:cNvSpPr/>
          <p:nvPr/>
        </p:nvSpPr>
        <p:spPr>
          <a:xfrm>
            <a:off x="6605660" y="3810793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A95E0ADA-F448-4F82-AF38-D582B879EB52}"/>
              </a:ext>
            </a:extLst>
          </p:cNvPr>
          <p:cNvSpPr/>
          <p:nvPr/>
        </p:nvSpPr>
        <p:spPr>
          <a:xfrm>
            <a:off x="5783819" y="4605636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B901B4C0-B5CF-44D5-A807-D611210AF852}"/>
              </a:ext>
            </a:extLst>
          </p:cNvPr>
          <p:cNvSpPr/>
          <p:nvPr/>
        </p:nvSpPr>
        <p:spPr>
          <a:xfrm>
            <a:off x="5569789" y="4561783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3699CE9-5EAB-4369-865C-24EF8CD9248C}"/>
              </a:ext>
            </a:extLst>
          </p:cNvPr>
          <p:cNvCxnSpPr>
            <a:cxnSpLocks/>
          </p:cNvCxnSpPr>
          <p:nvPr/>
        </p:nvCxnSpPr>
        <p:spPr>
          <a:xfrm flipV="1">
            <a:off x="7718127" y="3447285"/>
            <a:ext cx="0" cy="15264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F850237-0FC0-4C6C-9E71-586F104E06F0}"/>
              </a:ext>
            </a:extLst>
          </p:cNvPr>
          <p:cNvCxnSpPr>
            <a:cxnSpLocks/>
          </p:cNvCxnSpPr>
          <p:nvPr/>
        </p:nvCxnSpPr>
        <p:spPr>
          <a:xfrm>
            <a:off x="7718127" y="4973769"/>
            <a:ext cx="16674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DEBFA67B-700A-48AC-BFE5-CEB23B0C4D80}"/>
              </a:ext>
            </a:extLst>
          </p:cNvPr>
          <p:cNvSpPr/>
          <p:nvPr/>
        </p:nvSpPr>
        <p:spPr>
          <a:xfrm>
            <a:off x="7897422" y="4400027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97A9EB63-EA9B-46AC-9A16-A3EF7E0A08AB}"/>
              </a:ext>
            </a:extLst>
          </p:cNvPr>
          <p:cNvSpPr/>
          <p:nvPr/>
        </p:nvSpPr>
        <p:spPr>
          <a:xfrm>
            <a:off x="8418272" y="4445746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925027B3-84C1-4D7F-9B54-66B3A04D5760}"/>
              </a:ext>
            </a:extLst>
          </p:cNvPr>
          <p:cNvSpPr/>
          <p:nvPr/>
        </p:nvSpPr>
        <p:spPr>
          <a:xfrm>
            <a:off x="8740552" y="3550591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CF7862FC-4DFB-4E31-91A6-098FEDDC037A}"/>
              </a:ext>
            </a:extLst>
          </p:cNvPr>
          <p:cNvSpPr/>
          <p:nvPr/>
        </p:nvSpPr>
        <p:spPr>
          <a:xfrm>
            <a:off x="8800166" y="4089848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815EAEBE-D183-4FB2-94FC-E275570028D4}"/>
              </a:ext>
            </a:extLst>
          </p:cNvPr>
          <p:cNvSpPr/>
          <p:nvPr/>
        </p:nvSpPr>
        <p:spPr>
          <a:xfrm>
            <a:off x="8489989" y="3902026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CA32585B-DD9C-4A7A-BE1D-FD32ED39D3DC}"/>
              </a:ext>
            </a:extLst>
          </p:cNvPr>
          <p:cNvSpPr/>
          <p:nvPr/>
        </p:nvSpPr>
        <p:spPr>
          <a:xfrm>
            <a:off x="8341623" y="4188910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73969F1F-5A58-4EE1-9375-6BE097B3BD07}"/>
              </a:ext>
            </a:extLst>
          </p:cNvPr>
          <p:cNvSpPr/>
          <p:nvPr/>
        </p:nvSpPr>
        <p:spPr>
          <a:xfrm>
            <a:off x="8147539" y="4188910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5786599-5283-4FE6-BC80-FA2B6C6E7C16}"/>
              </a:ext>
            </a:extLst>
          </p:cNvPr>
          <p:cNvSpPr/>
          <p:nvPr/>
        </p:nvSpPr>
        <p:spPr>
          <a:xfrm>
            <a:off x="8786271" y="4390166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423E459D-DACD-4EE0-83E4-486BD1CD871D}"/>
              </a:ext>
            </a:extLst>
          </p:cNvPr>
          <p:cNvSpPr/>
          <p:nvPr/>
        </p:nvSpPr>
        <p:spPr>
          <a:xfrm>
            <a:off x="8694833" y="3744675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813C6619-F714-496D-81C7-1BFC893BBAD2}"/>
              </a:ext>
            </a:extLst>
          </p:cNvPr>
          <p:cNvSpPr/>
          <p:nvPr/>
        </p:nvSpPr>
        <p:spPr>
          <a:xfrm>
            <a:off x="9206269" y="3829078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0C86244A-1869-4828-B23A-D2F7A433B2F1}"/>
              </a:ext>
            </a:extLst>
          </p:cNvPr>
          <p:cNvSpPr/>
          <p:nvPr/>
        </p:nvSpPr>
        <p:spPr>
          <a:xfrm>
            <a:off x="8384428" y="4623921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368A290-43A2-4A08-8ACB-A803F878EFA3}"/>
              </a:ext>
            </a:extLst>
          </p:cNvPr>
          <p:cNvSpPr/>
          <p:nvPr/>
        </p:nvSpPr>
        <p:spPr>
          <a:xfrm>
            <a:off x="8170398" y="4580068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E38C39A-3486-47AC-9810-2F2F315EAC23}"/>
              </a:ext>
            </a:extLst>
          </p:cNvPr>
          <p:cNvCxnSpPr>
            <a:cxnSpLocks/>
          </p:cNvCxnSpPr>
          <p:nvPr/>
        </p:nvCxnSpPr>
        <p:spPr>
          <a:xfrm>
            <a:off x="7718127" y="4188910"/>
            <a:ext cx="1667436" cy="649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CC2B85C-AE14-4562-BB96-AFB6201451BD}"/>
                  </a:ext>
                </a:extLst>
              </p:cNvPr>
              <p:cNvSpPr txBox="1"/>
              <p:nvPr/>
            </p:nvSpPr>
            <p:spPr>
              <a:xfrm>
                <a:off x="7505437" y="5088906"/>
                <a:ext cx="2680896" cy="4116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GB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</m:oMath>
                </a14:m>
                <a:r>
                  <a:rPr lang="en-GB" dirty="0"/>
                  <a:t> =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𝑆𝑢𝑚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𝑎𝑣𝑔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dirty="0">
                    <a:latin typeface="Yu Gothic" panose="020B0400000000000000" pitchFamily="34" charset="-128"/>
                    <a:ea typeface="Yu Gothic" panose="020B0400000000000000" pitchFamily="34" charset="-128"/>
                  </a:rPr>
                  <a:t>²</a:t>
                </a:r>
                <a:endParaRPr lang="en-GB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CC2B85C-AE14-4562-BB96-AFB620145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5437" y="5088906"/>
                <a:ext cx="2680896" cy="411651"/>
              </a:xfrm>
              <a:prstGeom prst="rect">
                <a:avLst/>
              </a:prstGeom>
              <a:blipFill>
                <a:blip r:embed="rId2"/>
                <a:stretch>
                  <a:fillRect t="-4478" b="-208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7CD50A9-3C0C-498E-934C-B93E3028A443}"/>
                  </a:ext>
                </a:extLst>
              </p:cNvPr>
              <p:cNvSpPr txBox="1"/>
              <p:nvPr/>
            </p:nvSpPr>
            <p:spPr>
              <a:xfrm>
                <a:off x="1961253" y="1928401"/>
                <a:ext cx="3569969" cy="792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GB" sz="2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24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400" b="1" i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>
                              <a:latin typeface="Cambria Math" panose="02040503050406030204" pitchFamily="18" charset="0"/>
                            </a:rPr>
                            <m:t>𝒔</m:t>
                          </m:r>
                          <m:sSub>
                            <m:sSubPr>
                              <m:ctrlPr>
                                <a:rPr lang="en-GB" sz="24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𝒓𝒆𝒔</m:t>
                              </m:r>
                            </m:sub>
                          </m:sSub>
                        </m:num>
                        <m:den>
                          <m:r>
                            <a:rPr lang="en-GB" sz="2400" b="1" i="1">
                              <a:latin typeface="Cambria Math" panose="02040503050406030204" pitchFamily="18" charset="0"/>
                            </a:rPr>
                            <m:t>𝒔</m:t>
                          </m:r>
                          <m:sSub>
                            <m:sSubPr>
                              <m:ctrlPr>
                                <a:rPr lang="en-GB" sz="24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𝒕𝒐𝒕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2400" b="1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7CD50A9-3C0C-498E-934C-B93E3028A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1253" y="1928401"/>
                <a:ext cx="3569969" cy="7923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33B3A52-B91D-4A8C-A487-BACF46849EA4}"/>
                  </a:ext>
                </a:extLst>
              </p:cNvPr>
              <p:cNvSpPr txBox="1"/>
              <p:nvPr/>
            </p:nvSpPr>
            <p:spPr>
              <a:xfrm>
                <a:off x="4610788" y="5105369"/>
                <a:ext cx="26808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en-GB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𝑟𝑒𝑠</m:t>
                          </m:r>
                        </m:sub>
                      </m:sSub>
                      <m:r>
                        <a:rPr lang="en-GB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𝑆𝑢𝑚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dirty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i="1" dirty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²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33B3A52-B91D-4A8C-A487-BACF46849E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0788" y="5105369"/>
                <a:ext cx="2680896" cy="369332"/>
              </a:xfrm>
              <a:prstGeom prst="rect">
                <a:avLst/>
              </a:prstGeom>
              <a:blipFill>
                <a:blip r:embed="rId4"/>
                <a:stretch>
                  <a:fillRect t="-4918" b="-81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itle 1">
            <a:extLst>
              <a:ext uri="{FF2B5EF4-FFF2-40B4-BE49-F238E27FC236}">
                <a16:creationId xmlns:a16="http://schemas.microsoft.com/office/drawing/2014/main" id="{5500948D-4C8F-4A07-A451-3EAE07B7F55B}"/>
              </a:ext>
            </a:extLst>
          </p:cNvPr>
          <p:cNvSpPr txBox="1">
            <a:spLocks/>
          </p:cNvSpPr>
          <p:nvPr/>
        </p:nvSpPr>
        <p:spPr>
          <a:xfrm>
            <a:off x="1097280" y="285313"/>
            <a:ext cx="10058400" cy="145075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Evaluating</a:t>
            </a:r>
            <a:r>
              <a:rPr lang="en-US" sz="3800" dirty="0"/>
              <a:t> 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Regression Model</a:t>
            </a:r>
            <a:br>
              <a:rPr lang="en-US" sz="3800" dirty="0"/>
            </a:br>
            <a:endParaRPr lang="en-GB" sz="3800" dirty="0"/>
          </a:p>
        </p:txBody>
      </p:sp>
    </p:spTree>
    <p:extLst>
      <p:ext uri="{BB962C8B-B14F-4D97-AF65-F5344CB8AC3E}">
        <p14:creationId xmlns:p14="http://schemas.microsoft.com/office/powerpoint/2010/main" val="3254990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1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2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6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7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8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9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10"/>
                            </p:stCondLst>
                            <p:childTnLst>
                              <p:par>
                                <p:cTn id="1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/>
      <p:bldP spid="39" grpId="0"/>
    </p:bldLst>
  </p:timing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3932EF5-314F-409E-8020-FEE5FA0795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{8DA8067A-D0C1-408B-8AA0-B127A7FFAE87}tf22712842_win32</Template>
  <TotalTime>0</TotalTime>
  <Words>3899</Words>
  <Application>Microsoft Office PowerPoint</Application>
  <PresentationFormat>Widescreen</PresentationFormat>
  <Paragraphs>890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Yu Gothic</vt:lpstr>
      <vt:lpstr>Arial</vt:lpstr>
      <vt:lpstr>Arial</vt:lpstr>
      <vt:lpstr>Bookman Old Style</vt:lpstr>
      <vt:lpstr>Calibri</vt:lpstr>
      <vt:lpstr>Cambria Math</vt:lpstr>
      <vt:lpstr>Consolas</vt:lpstr>
      <vt:lpstr>Franklin Gothic Book</vt:lpstr>
      <vt:lpstr>1_RetrospectVTI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Working with Data</vt:lpstr>
      <vt:lpstr>Working with Data pandas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dc:creator>Mina Fathi</dc:creator>
  <cp:lastModifiedBy>Mina Fathi</cp:lastModifiedBy>
  <cp:revision>107</cp:revision>
  <dcterms:created xsi:type="dcterms:W3CDTF">2022-02-18T18:22:20Z</dcterms:created>
  <dcterms:modified xsi:type="dcterms:W3CDTF">2022-02-28T10:17:49Z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